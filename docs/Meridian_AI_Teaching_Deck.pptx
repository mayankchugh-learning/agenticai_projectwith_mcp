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(about 2 min)
Welcome the class. This deck teaches two of the most common patterns in applied AI today: Retrieval-Augmented Generation (RAG) and tool-using agents. We learn them from one small codebase, Meridian AI, about 1,500 lines of Python plus a React front end.
Say up front: the company in the examples, Aldermoor Industries, is fictional and so is all the data. This is a learning project, not a compliance product. Students will see exactly where it is honest about that and where a real system would need more.
How to use the deck: every slide has a script in the Notes pane. Timing for a full run is roughly 2.5 to 3 hours with the hands-on exercises, or 90 minutes if you skip exercises and the code walk-through slides.
Ask the room (1 minute, show of hands): who has used a chatbot over their own documents? Who has built an agent that calls tools? Use the answers to decide how long to spend on slides 6 to 10 (RAG) versus 11 to 15 (agents).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(2 min)
Read the three outcomes aloud and tie each to a part of the deck.
1. Explain RAG end to end: ingestion (slides 7-8), retrieval strategies (slide 9), grounded answering (slide 10).
2. Explain an agent as LLM + tools + prompt, and a supervisor that chains agents (slides 11-15).
3. Judge honestly what is demo-grade vs production-grade (slides 16-17). This is the most valuable skill: being able to look at an AI system and say what could go wrong.
Tell students the approach: we always point at real files and line ranges (for example backend/rag/retrieval.py). If they can find the code, they can change the code.
Set expectation: there is a hands-on lab at the end (slide 19) and a quiz (slide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(4 min)
Two jobs, one app.
Job 1, Ask your documents: upload PDFs, ask in plain English. The prompt forces the model to answer only from retrieved passages and to say "I don't know" otherwise. Four fictional PDFs live in sample_docs/: procurement policy, IFRS accounting policy, annual report FY2024, EU tariff excerpt.
Job 2, Check a purchase before paying: paste a purchase request. Three specialist agents (Risk and Compliance, Tax and Treasury, Financial Control) review it, then a CFO step writes one memo with a decision.
Key honesty point from the README that you should read out: the audit "checks" come from the model's general knowledge. Only the exchange-rate check calls a live data source (api.frankfurter.dev), with an AI estimate as fallback. So this shows how such a system is BUILT, it is not a real compliance tool.
Question for students: why is it still a useful teaching example even though the checks are not real? Expected answer: the architecture (tools, prompts, supervisor, structured output) is identical to what you would build with real data sources; swapping a tool body for a real API call is a small change.
Mention what is NOT in the code: user accounts, a database, background jobs, queues, per-user document separation.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Walk left to right and trace one request.
Browser: a React single-page app. Its ONLY backend client is frontend/src/lib/api.ts. Good habit to point out: one file talks to the backend.
FastAPI (backend/api): main.py wires the app, CORS and static serving; endpoints.py holds thin routes; schemas.py holds Pydantic models. Routes validate input, call real logic, return JSON.
Two logic packages: rag/ (llm, embeddings, vector_store, data_ingestion, retrieval) and agent/ (agents, tools, prompts).
Externals on the right: Gemini (via API key), Vertex AI embeddings and Vector Search (via Google Cloud credentials), Cloud Storage (copy of uploads and logs), Frankfurter (live FX rates).
Dependency rule, from the code: api uses rag and agent; agent uses rag.llm; rag and agent use config and logger; logger uses config. Nothing imports upward, so no circular imports. Ask: why does this matter? It keeps each layer testable and replaceable.
Mention that in Docker one server serves both the API and the built web page on port 8080 (main.py lines 60-73, Dockerfile).
Teaching moment: llm.py uses an API key for Gemini while embeddings use Google Cloud credentials. The project deliberately demonstrates both ways to authenticate to Google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Do not read the table; pick the three that students will meet most.
LangChain 1.x provides create_agent, the retrieval chain, and PDF loading. langgraph is the engine behind create_agent, but this repo writes no graph code. Say so explicitly, students often assume they need to learn LangGraph to read this project.
langchain-google-genai gives the Gemini chat model by API key; langchain-google-vertexai gives embeddings and the Vector Search store.
FastAPI and Pydantic validate and serve. structlog gives JSON logs.
Front end: React 18, Vite, TypeScript, Tailwind and shadcn/ui. The scaffold looks Lovable-generated (inferred from package.json), which is fine for a learning UI.
Tests: pytest for backend (9 tests, all external calls faked), Vitest for front end (16 tests).
Versions are pinned in requirements.txt and verified to install together on Python 3.12.10. Point out why pinning matters for AI libraries that change fast.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Core idea: an LLM does not know your private documents, and fine-tuning for every document change is slow and costly. So we RETRIEVE the relevant passages at question time and PASTE them into the prompt.
Top lane, done once per document (ingest): PDF to pages to chunks to embeddings to the vector index.
Bottom lane, done on every question (ask): embed the question, find nearest chunks, build a prompt with those chunks, call Gemini, return the answer.
Analogy: an open-book exam. The model is the student, the vector index is the library, retrieval is the student finding the right pages, and the prompt rule "if it is not in the context, say you don't know" is the exam rule against guessing.
Check for understanding (ask, then reveal): where could this go wrong? Expected: the right chunk is not retrieved (so the model cannot answer); the chunk boundary cuts a fact in half; the model ignores the instruction and guesses; the PDF is scanned so no text was extracted at all.
Link to code: ingestion is rag/data_ingestion.py, asking is rag/retrieval.py.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backend/rag/data_ingestion.py with the class.
ingest_pdf(local_path, source): PyPDFLoader returns one Document per page. We stamp metadata["source"] on each page so an answer can be traced to a file. RecursiveCharacterTextSplitter then splits into chunks of at most 1000 characters with 100 overlap. If any chunks exist they go to get_vector_store().add_documents(chunks), which embeds and indexes them.
Why chunk at all? Embeddings represent one passage's meaning; a whole PDF blurs everything together, and prompts have size limits. Why overlap? So a sentence cut at a boundary still appears whole in the neighbouring chunk.
Trade-off to discuss: small chunks give precise matches but lose context; big chunks keep context but dilute the match. 1000/100 is a sensible starting point, not a law. Ask students how they would pick a better value (answer: build a small question set and measure retrieval quality).
Gotchas the code itself documents:
- A scanned, image-only PDF has no text, so zero chunks. The upload endpoint reports it as "skipped" with a reason.
- The bulk path ingest_data_from_gcs() lists every PDF under the bucket prefix. Nothing checks whether a file was already indexed, so running it twice indexes everything twice (inferred from the code).
- Upload only checks the file extension, not the content, and there is no size limit.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Explain an embedding as coordinates for meaning: text goes in, a list of 768 numbers comes out. Texts with similar meaning land close together, so "payment terms for servo suppliers" lands near a chunk that says "Net-45 for servo motor vendors" even without shared words.
Show rag/embeddings.py: VertexAIEmbeddings with model text-embedding-005. The file's own comment is the key lesson: the index was created with 768 dimensions, so the model must output 768, and the SAME model must be used for indexing and querying. Mixing models silently ruins search quality, no error is raised.
rag/vector_store.py: VectorSearchVectorStore.from_components with index id, endpoint id, bucket, and stream_update=True, matching the index that deploy.yml creates in STREAM_UPDATE mode so new chunks become searchable immediately without a rebuild.
Design pattern: get_vector_store() is wrapped in @lru_cache and connects on first use. Why? So /api/health works before GCP is configured. Students will see this lazy-and-cached pattern again for the LLM and the supervisor.
Cost warning (from DEPLOY.md and README): a deployed Vector Search index/endpoint is billed by the hour even when idle. Make sure students know to shut it down after labs.
Honest unknown to share: where the chunk text itself is stored inside the library is not verified in this repo.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backend/rag/retrieval.py, function build_retriever. The API field retriever_type selects the strategy; anything unknown logs a warning and falls back to similarity.
1. similarity (default): top 3 chunks closest in meaning. Fast, one embedding call, cheapest. Best when the question uses similar wording to the document.
2. multiquery: Gemini rewrites the question several ways, each variant is searched, results are merged. Costs extra LLM calls but helps when users phrase things differently from the document ("what do we owe on late shipments" vs "penalty clause").
3. contextual: fetch 10 chunks, then Gemini trims each to only the relevant part (LLMChainExtractor). Cuts noise in the final prompt but costs one LLM call per chunk, so it is the slowest.
Live demo idea: ask the same question with all three and compare answers and latency. Good question: "What are the standard payment terms for servo motor suppliers?"
Discussion: which would you use for a customer-facing chat with a strict latency target? (similarity, maybe multiquery.) For long, rambling policy documents? (contextual.)
Design note for the more advanced students: the prompt and both chains are rebuilt on every call (only the LLM and vector store are cached). Fine at this scale; a candidate optimisation.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SYSTEM_PROMPT in retrieval.py. {context} is filled with the retrieved chunks by create_stuff_documents_chain ("stuff" means: stuff all chunks into one prompt). create_retrieval_chain runs the retriever first, then that chain. The call is rag_chain.invoke({"input": query}) and only response["answer"] is returned.
The most important line is "If you don't know the answer based on the context, say that you don't know." This is what makes it RAG instead of a chatbot that guesses. With temperature 0 (default LLM_TEMPERATURE=0) answers are as repeatable as possible.
Be candid about limits, they make good discussion:
- The API returns only the answer text. The source passages are NOT returned, so users cannot verify citations. Ask students how they would add sources (return response["context"] and each chunk's metadata source and page).
- The prompt is only a request to the model. It reduces guessing but does not guarantee it. Real systems add evaluation sets.
- The query and the full answer are logged in full (retrieval.py). Logs therefore contain user content. Treat logs as sensitive.
Exercise hook: change the prompt to demand a citation after every claim and compare answers before and after.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Definition used in this codebase (agents.py, create_specialized_agent): an agent = the LLM + a set of tools + a system prompt. The model decides WHICH tool to call, with WHAT arguments, and when to stop. create_agent from LangChain (built on LangGraph, though we write no graph code) runs that loop.
A tool is a normal Python function decorated with @tool. IMPORTANT teaching point: the function's docstring is sent to the model as the tool description, so changing the wording changes what the agent sees. Show one example from tools.py.
Contrast with RAG: RAG always retrieves then answers (a fixed pipeline). An agent chooses its own steps.
Prompt recipe used in prompts.py (tell students to steal this): 1 ROLE, 2 RESPONSIBILITIES, 3 DECISION FRAMEWORK (which tool first, how to read results), 4 OUTPUT FORMAT (exact structure so the next step can rely on it).
Be honest about a subtle point: the prompts say which tool to call first (for example sanctions before credit), but the code does not enforce it. The model is trusted to follow instructions. Ask: when is that acceptable, and when would you enforce order in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Trace POST /api/agent/audit. The route (endpoints.py) calls get_supervisor() which builds a ProcurementSupervisor once (lru_cache) with three agents, then run_audit(request_text).
Run order, one after another, NOT in parallel: Risk and Compliance, Tax and Treasury, Financial Control. Each result is logged in full. Finally ONE plain LLM call (no tools) with SYNTHESIS_PROMPT_TEMPLATE, the "CFO", turns three reports into a memo.
Response has four fields: risk_result, tax_result, control_result, cfo_memo.
Count the model calls: at least 3 agents x (decide tool + final answer) plus tool-internal LLM calls plus the CFO call. The README estimates roughly 11 or more Gemini calls per audit (inferred, not measured). Ask: why does this make audits slow (the UI says allow a minute or more) and what could speed it up? Answer: the three agents are independent, so they could run in parallel; the CFO step must wait for all three.
Sample request for the demo: Purchase of 200 PLC controllers from Takumi Controls Europe B.V. (Netherlands), 480,000 EUR, origin JP, destination DE, FX rate 1 EUR = 163.5 JPY.
Front-end note: the progress ticks on the Audit tab are fake timers, not real progress events. Good honesty moment.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(7 min)
Open backend/agent/tools.py.
Risk agent: check_sanctions_list (is the vendor on OFAC, EU, UN, UK lists) and get_vendor_credit_score (JSON with score, risk level, reasoning).
Tax agent: calculate_cross_border_tax (VAT/GST and duty as JSON) and validate_fx_hedge (compare the quoted rate with a live market rate; variance above 5% means FX ALERT).
Control agent: categorize_expense (CapEx versus OpEx with depreciation and flags).
THE central honesty point: four of five tools ask Gemini from general knowledge. None looks up a real sanctions database, credit bureau or tax engine. Only validate_fx_hedge calls api.frankfurter.dev (10 second timeout) and falls back to a Gemini estimate if that fails.
Patterns to praise: all LLM-backed tools go through one helper, _ask_llm, which returns "LLM_ERROR: ..." instead of raising; each tool then degrades gracefully, for example "Manual review required". Tools do not raise on LLM failure.
Patterns to critique (great discussion):
- If Gemini returns malformed JSON for tax, the code silently uses a hard-coded 15% fallback rate. Plausible but possibly wrong numbers, with only a note field marking it.
- validate_fx_hedge labels the rate "live market" even when it came from the Gemini fallback, and a zero market rate could cause a divide-by-zero.
Ask: what would you change before using this for real money? (Real data sources, fail closed on parse errors, log fallbacks.)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Show SYNTHESIS_PROMPT_TEMPLATE in prompts.py. It receives the three reports via str.format and applies the decision rule:
- ANY report containing "RED ALERT" means the final verdict MUST be REJECTED.
- ANY "FX ALERT" or "HOLD FOR TREASURY AUDIT" means CONDITIONAL HOLD, listing the conditions to resolve.
- ALL reports APPROVED or SUCCESS means APPROVED TO PAY with cost centre and GL posting instructions.
Then a fixed memo format ending with NEXT ACTIONS naming the team and deadline.
Key lesson: those literal strings are matched by the CFO LLM, not by Python code. They originate in the tools and specialist prompts. The file comment warns that renaming one requires renaming everywhere.
Debate question: this is a hard business rule ("any RED ALERT means reject"). Should it live in a prompt or in code? Strong answer: enforce hard rules in deterministic code (a simple string check on the three results), and let the LLM only write the memo. The prompt version can fail silently.
Also note: str.format is used, so any literal curly brace added to the template must be doubled. A classic bug for students who edit prompts. Good exercise material.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Live-read agents.py with the class. Four things to point out:
1. __init__ builds three agents once, each with its own small toolset: risk gets sanctions and credit; tax gets cross-border tax and FX; control gets categorize_expense. Giving each agent only the tools it needs keeps it focused.
2. _invoke_agent sends {"messages": [{"role": "user", "content": request}]} and reads the LAST message's content. extract_text (llm.py) handles Gemini returning a list of content blocks instead of a string.
3. run_audit calls the three agents in sequence and logs each phase, then one plain self.llm.invoke(synthesis_prompt).
4. No try/except here on purpose: exceptions bubble up to the route, which logs and returns HTTP 500 with the error text.
You can run it without the web app: from the backend folder, python -m agent.agents runs a built-in sample audit and prints the memo. Needs only a Gemini key. This is the cheapest way for students to experiment.
Ask: what happens to the earlier agents' work if the CFO call fails? (Lost; nothing is persisted.) What would you store in a real system? (Request, each report, memo, timestamps, model version, for audit trail.)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(6 min)
These are habits that make this small codebase easy to read. Walk the six cards quickly and open one file for each if time allows.
1. Lazy, cached clients: get_llm, get_vector_store, get_embeddings, get_supervisor all use @lru_cache and connect on first use. Benefit: the server starts and /api/health responds even if cloud settings are missing.
2. Thin routes: endpoints validate, call rag/ or agent/, return JSON. Business logic stays testable.
3. One settings object: config.settings.settings, never os.environ directly. Env var names differ from attribute names via validation_alias.
4. Structured JSON logging: structlog, one JSON line per event, flushed to Cloud Storage on shutdown (important because Cloud Run disk is ephemeral). Rule in CLAUDE.md: log sizes and ids, not user content (the code does not fully follow its own rule, a good honest discussion point).
5. Tests with fakes: conftest.py sets fake env values; test_api.py fakes ask_question and the supervisor with monkeypatch. 9 backend tests pass with no network or accounts. Be clear what they do NOT test: Gemini, Vector Search, Cloud Storage, or real ingestion.
6. One front-end client: all calls go through src/lib/api.ts.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This is the critical-thinking slide; give it real time. Everything below is traceable to the repo's own docs (docs/UNDERSTANDING.md, docs/AUDIT.md) and code.
Security and cost: no authentication anywhere. The Cloud Run deploy uses --allow-unauthenticated, so anyone with the URL can spend your Gemini quota and upload files. CORS allows every origin. /api/status discloses infrastructure ids. The deploy workflow is manual-dispatch only and provisions hourly-billed resources, so read DEPLOY.md first.
Correctness: four of five audit tools are LLM recall. Malformed JSON falls back to a silent 15% tax rate. FX "live market" label can be wrong.
Reliability: no retries or backoff, no request size limits, no startup config validation, no timeouts on the browser fetch. Failures return raw error text (str(e)) to the caller. A batch upload that fails midway leaves earlier files indexed but unrecorded.
Privacy: logs contain full queries, answers and audit text. Treat logs as sensitive.
Data: no database; upload history is in memory and lost on restart; no per-user document separation.
Ask students to rank the top three they would fix first and justify it. A typical good answer: auth and cost protection first, then real data sources for the audit tools, then retries and input 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(5 min, then lab time)
Safety first: keep .env out of git, never paste keys on screen, use placeholders. Variable names only: GOOGLE_API_KEY, GCP_PROJECT_ID, GCP_REGION, GCS_BUCKET_NAME, VECTOR_SEARCH_INDEX_ID, VECTOR_SEARCH_INDEX_ENDPOINT_ID.
Tiers of effort, cheapest first:
Tier 0 (free, no accounts): run backend tests, run front-end tests.
Tier 1 (needs only a Gemini API key): the purchase audit, including python -m agent.agents.
Tier 2 (needs Google Cloud with a Vector Search index and endpoint): document Q&amp;A and uploads. This costs money by the hour; do this as a demo from the instructor machine unless students have budget alerts set.
Commands are in README.md; note the README distinguishes commands that were verified (installs, tests, build) from ones not yet run (starting uvicorn, Docker build, any Google call). Teach that distinction: verified versus documented.
Gotchas from the Troubleshooting table: run from repo root and keep --app-dir backend; GCP_PROJECT_ID must be unset for the fake-env test; the default model name gemini-3.8-flash is not verified to exist, so set VERTEX_LLM_MODEL_NAME to a current model; npm run lint currently fails with existing errors, which is known and not caused by the student.
Open http://localhost:8080/docs for the interactive API.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(lab, 45-60 min)
Pair students. Suggested order and what a good outcome looks like.
Beginner:
1. Run the tests (Tier 0) and read test_api.py. Outcome: they can explain why tests need no network (monkeypatch fakes plus conftest fake env).
2. Edit SYSTEM_PROMPT to require a citation after each claim, then compare answers. Outcome: they see prompts change behavior, and that the source passages are still not returned by the API.
Intermediate:
3. Change CHUNK_SIZE to 400 and 2000 and re-ingest a sample PDF. Compare answers to the same five questions. Outcome: an intuition for the chunk-size trade-off. Remind them re-running creates duplicates (no dedupe).
4. Add a unit test that sends a bad retriever_type and checks the fallback to similarity.
Advanced:
5. Make the RED ALERT rule deterministic: after the three agents run, check for the string in Python and short-circuit to REJECTED before the CFO call. Outcome: they move a hard rule out of a prompt.
6. Run the three agents in parallel (ThreadPoolExecutor) and measure the time saved.
7. Return source file and page with each answer (extend QueryResponse).
Debrief 10 minutes: what surprised you? which change was riskiest?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(8 min). Answers below; reveal after discussion.
1. Why do we overlap chunks? Answer: so facts cut at a boundary still appear whole in a neighbouring chunk.
2. What breaks if indexing uses one embedding model and querying uses another? Answer: nothing errors, but similarity results become meaningless; vectors from different models are not comparable (and the index expects 768 dimensions).
3. Which retriever would you pick when users phrase questions very differently from the documents, and what does it cost? Answer: multiquery; extra LLM calls and latency.
4. Which of the five tools uses a live data source? Answer: validate_fx_hedge (Frankfurter), with an LLM fallback.
5. Why is "any RED ALERT means REJECTED" risky inside a prompt? Answer: the LLM, not code, enforces it; it can fail silently. Enforce it in Python.
6. Name two reasons you could not deploy this publicly as-is. Answer: no authentication with a public Cloud Run service (cost and abuse risk), LLM-recalled compliance checks, sensitive logs, no retries or limits.
Optionally turn these into an interactive quiz or a printed handout.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NOTES (3 min)
Close with the three messages and one call to action.
1. RAG = retrieve first, then answer only from what was retrieved. Quality depends on chunking, embeddings, retrieval strategy and the grounding prompt.
2. Agent = LLM + tools + prompt. Give each agent a narrow job, an exact output format, and only the tools it needs.
3. Be honest about what is real. An AI system that sounds confident is not necessarily using real data. Enforce hard rules in code, add auth, retries, limits and evaluation before shipping.
Call to action: pick one exercise from slide 19 and finish it this week. Point students to README.md (quick start), docs/ARCHITECTURE.md and docs/UNDERSTANDING.md (file and line references), CLAUDE.md (conventions), and DEPLOY.md (cost and shutdown steps before any cloud work).
Invite questions. Remind everyone to shut down any Vector Search endpoint they created.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Text 0"/>
          <p:cNvSpPr txBox="1"/>
          <p:nvPr/>
        </p:nvSpPr>
        <p:spPr>
          <a:xfrm>
            <a:off x="731520" y="1737360"/>
            <a:ext cx="10515600" cy="109728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Meridian AI</a:t>
            </a:r>
            <a:endParaRPr lang="en-US" sz="6000" dirty="0"/>
          </a:p>
        </p:txBody>
      </p:sp>
      <p:sp>
        <p:nvSpPr>
          <p:cNvPr id="3" name="Text 1"/>
          <p:cNvSpPr txBox="1"/>
          <p:nvPr/>
        </p:nvSpPr>
        <p:spPr>
          <a:xfrm>
            <a:off x="731520" y="2926080"/>
            <a:ext cx="9601200" cy="822960"/>
          </a:xfrm>
          <a:prstGeom prst="rect">
            <a:avLst/>
          </a:prstGeom>
          <a:noFill/>
          <a:ln/>
        </p:spPr>
        <p:txBody>
          <a:bodyPr wrap="square" lIns="0" tIns="0" rIns="0" bIns="0" rtlCol="0" anchor="ctr"/>
          <a:lstStyle/>
          <a:p>
            <a:pPr indent="0" marL="0">
              <a:buNone/>
            </a:pPr>
            <a:r>
              <a:rPr lang="en-US" sz="2600" dirty="0">
                <a:solidFill>
                  <a:srgbClr val="F2A541"/>
                </a:solidFill>
                <a:latin typeface="Cambria" pitchFamily="34" charset="0"/>
                <a:ea typeface="Cambria" pitchFamily="34" charset="-122"/>
                <a:cs typeface="Cambria" pitchFamily="34" charset="-120"/>
              </a:rPr>
              <a:t>Learn RAG and multi-agent AI by reading one small, real codebase</a:t>
            </a:r>
            <a:endParaRPr lang="en-US" sz="2600" dirty="0"/>
          </a:p>
        </p:txBody>
      </p:sp>
      <p:sp>
        <p:nvSpPr>
          <p:cNvPr id="4" name="Text 2"/>
          <p:cNvSpPr txBox="1"/>
          <p:nvPr/>
        </p:nvSpPr>
        <p:spPr>
          <a:xfrm>
            <a:off x="731520" y="4023360"/>
            <a:ext cx="10515600" cy="457200"/>
          </a:xfrm>
          <a:prstGeom prst="rect">
            <a:avLst/>
          </a:prstGeom>
          <a:noFill/>
          <a:ln/>
        </p:spPr>
        <p:txBody>
          <a:bodyPr wrap="square" lIns="0" tIns="0" rIns="0" bIns="0" rtlCol="0" anchor="ctr"/>
          <a:lstStyle/>
          <a:p>
            <a:pPr indent="0" marL="0">
              <a:buNone/>
            </a:pPr>
            <a:r>
              <a:rPr lang="en-US" sz="1800" dirty="0">
                <a:solidFill>
                  <a:srgbClr val="C9D3E8"/>
                </a:solidFill>
                <a:latin typeface="Calibri" pitchFamily="34" charset="0"/>
                <a:ea typeface="Calibri" pitchFamily="34" charset="-122"/>
                <a:cs typeface="Calibri" pitchFamily="34" charset="-120"/>
              </a:rPr>
              <a:t>Document Q&amp;A (RAG)  ·  Purchase audit with three AI agents  ·  FastAPI + React + Google Cloud</a:t>
            </a:r>
            <a:endParaRPr lang="en-US" sz="1800" dirty="0"/>
          </a:p>
        </p:txBody>
      </p:sp>
      <p:sp>
        <p:nvSpPr>
          <p:cNvPr id="5" name="Text 3"/>
          <p:cNvSpPr txBox="1"/>
          <p:nvPr/>
        </p:nvSpPr>
        <p:spPr>
          <a:xfrm>
            <a:off x="731520" y="5943600"/>
            <a:ext cx="10515600" cy="365760"/>
          </a:xfrm>
          <a:prstGeom prst="rect">
            <a:avLst/>
          </a:prstGeom>
          <a:noFill/>
          <a:ln/>
        </p:spPr>
        <p:txBody>
          <a:bodyPr wrap="square" lIns="0" tIns="0" rIns="0" bIns="0" rtlCol="0" anchor="ctr"/>
          <a:lstStyle/>
          <a:p>
            <a:pPr indent="0" marL="0">
              <a:buNone/>
            </a:pPr>
            <a:r>
              <a:rPr lang="en-US" sz="1400" dirty="0">
                <a:solidFill>
                  <a:srgbClr val="8FA0C2"/>
                </a:solidFill>
                <a:latin typeface="Calibri" pitchFamily="34" charset="0"/>
                <a:ea typeface="Calibri" pitchFamily="34" charset="-122"/>
                <a:cs typeface="Calibri" pitchFamily="34" charset="-120"/>
              </a:rPr>
              <a:t>Teaching deck  ·  Speaker notes contain the full lesson script</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OBJECTIVES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you will be able to do by the end</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a:t>
            </a:r>
            <a:endParaRPr lang="en-US" sz="1000" dirty="0"/>
          </a:p>
        </p:txBody>
      </p:sp>
      <p:sp>
        <p:nvSpPr>
          <p:cNvPr id="6" name="Shape 3"/>
          <p:cNvSpPr/>
          <p:nvPr/>
        </p:nvSpPr>
        <p:spPr>
          <a:xfrm>
            <a:off x="548640"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1  Explain RAG</a:t>
            </a:r>
            <a:endParaRPr lang="en-US" sz="1800" dirty="0"/>
          </a:p>
        </p:txBody>
      </p:sp>
      <p:sp>
        <p:nvSpPr>
          <p:cNvPr id="8" name="Text 5"/>
          <p:cNvSpPr txBox="1"/>
          <p:nvPr/>
        </p:nvSpPr>
        <p:spPr>
          <a:xfrm>
            <a:off x="731520" y="2331720"/>
            <a:ext cx="3200400" cy="2834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Chunk, embed, store, retrieve, and answer only from the retrieved text. Compare three retrieval strategies and know when to pick each.</a:t>
            </a:r>
            <a:endParaRPr lang="en-US" sz="1400" dirty="0"/>
          </a:p>
        </p:txBody>
      </p:sp>
      <p:sp>
        <p:nvSpPr>
          <p:cNvPr id="9" name="Shape 6"/>
          <p:cNvSpPr/>
          <p:nvPr/>
        </p:nvSpPr>
        <p:spPr>
          <a:xfrm>
            <a:off x="4315968"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98848"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2  Explain agents</a:t>
            </a:r>
            <a:endParaRPr lang="en-US" sz="1800" dirty="0"/>
          </a:p>
        </p:txBody>
      </p:sp>
      <p:sp>
        <p:nvSpPr>
          <p:cNvPr id="11" name="Text 8"/>
          <p:cNvSpPr txBox="1"/>
          <p:nvPr/>
        </p:nvSpPr>
        <p:spPr>
          <a:xfrm>
            <a:off x="4498848" y="2331720"/>
            <a:ext cx="3200400" cy="2834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An agent is an LLM plus tools plus a prompt. See how a supervisor runs three specialists and a CFO step combines their reports.</a:t>
            </a:r>
            <a:endParaRPr lang="en-US" sz="1400" dirty="0"/>
          </a:p>
        </p:txBody>
      </p:sp>
      <p:sp>
        <p:nvSpPr>
          <p:cNvPr id="12" name="Shape 9"/>
          <p:cNvSpPr/>
          <p:nvPr/>
        </p:nvSpPr>
        <p:spPr>
          <a:xfrm>
            <a:off x="8083296" y="1737360"/>
            <a:ext cx="3566160" cy="3566160"/>
          </a:xfrm>
          <a:prstGeom prst="roundRect">
            <a:avLst>
              <a:gd name="adj" fmla="val 2051"/>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66176" y="1874520"/>
            <a:ext cx="320040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3  Judge honestly</a:t>
            </a:r>
            <a:endParaRPr lang="en-US" sz="1800" dirty="0"/>
          </a:p>
        </p:txBody>
      </p:sp>
      <p:sp>
        <p:nvSpPr>
          <p:cNvPr id="14" name="Text 11"/>
          <p:cNvSpPr txBox="1"/>
          <p:nvPr/>
        </p:nvSpPr>
        <p:spPr>
          <a:xfrm>
            <a:off x="8266176" y="2331720"/>
            <a:ext cx="3200400" cy="2834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Spot what is a demo shortcut: LLM-recalled facts, no auth, no retries, sensitive logs. Know what to fix first.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OVERVIEW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Meridian AI does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3</a:t>
            </a:r>
            <a:endParaRPr lang="en-US" sz="1000" dirty="0"/>
          </a:p>
        </p:txBody>
      </p:sp>
      <p:sp>
        <p:nvSpPr>
          <p:cNvPr id="6" name="Shape 3"/>
          <p:cNvSpPr/>
          <p:nvPr/>
        </p:nvSpPr>
        <p:spPr>
          <a:xfrm>
            <a:off x="548640"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Ask your documents</a:t>
            </a:r>
            <a:endParaRPr lang="en-US" sz="1800" dirty="0"/>
          </a:p>
        </p:txBody>
      </p:sp>
      <p:sp>
        <p:nvSpPr>
          <p:cNvPr id="8" name="Text 5"/>
          <p:cNvSpPr txBox="1"/>
          <p:nvPr/>
        </p:nvSpPr>
        <p:spPr>
          <a:xfrm>
            <a:off x="731520" y="2240280"/>
            <a:ext cx="5074920" cy="22860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Upload PDFs, ask in plain English.</a:t>
            </a: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The model must answer only from retrieved passages, or say it does not know.</a:t>
            </a:r>
            <a:endParaRPr lang="en-US" sz="1600" dirty="0"/>
          </a:p>
        </p:txBody>
      </p:sp>
      <p:sp>
        <p:nvSpPr>
          <p:cNvPr id="9" name="Shape 6"/>
          <p:cNvSpPr/>
          <p:nvPr/>
        </p:nvSpPr>
        <p:spPr>
          <a:xfrm>
            <a:off x="6199632" y="1645920"/>
            <a:ext cx="5440680" cy="3017520"/>
          </a:xfrm>
          <a:prstGeom prst="roundRect">
            <a:avLst>
              <a:gd name="adj" fmla="val 242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82512" y="178308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Check a purchase before paying</a:t>
            </a:r>
            <a:endParaRPr lang="en-US" sz="1800" dirty="0"/>
          </a:p>
        </p:txBody>
      </p:sp>
      <p:sp>
        <p:nvSpPr>
          <p:cNvPr id="11" name="Text 8"/>
          <p:cNvSpPr txBox="1"/>
          <p:nvPr/>
        </p:nvSpPr>
        <p:spPr>
          <a:xfrm>
            <a:off x="6382512" y="2240280"/>
            <a:ext cx="5074920" cy="228600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Risk, Tax and Control agents each review the request.</a:t>
            </a: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A CFO step writes one memo: approved, conditional hold, or rejected.</a:t>
            </a:r>
            <a:endParaRPr lang="en-US" sz="1600" dirty="0"/>
          </a:p>
        </p:txBody>
      </p:sp>
      <p:sp>
        <p:nvSpPr>
          <p:cNvPr id="12" name="Shape 9"/>
          <p:cNvSpPr/>
          <p:nvPr/>
        </p:nvSpPr>
        <p:spPr>
          <a:xfrm>
            <a:off x="548640" y="4983480"/>
            <a:ext cx="11091672" cy="1097280"/>
          </a:xfrm>
          <a:prstGeom prst="roundRect">
            <a:avLst>
              <a:gd name="adj" fmla="val 6667"/>
            </a:avLst>
          </a:prstGeom>
          <a:solidFill>
            <a:srgbClr val="FFF3DC"/>
          </a:solidFill>
          <a:ln w="12700">
            <a:solidFill>
              <a:srgbClr val="F2A541"/>
            </a:solidFill>
            <a:prstDash val="solid"/>
          </a:ln>
        </p:spPr>
      </p:sp>
      <p:sp>
        <p:nvSpPr>
          <p:cNvPr id="13" name="Text 10"/>
          <p:cNvSpPr txBox="1"/>
          <p:nvPr/>
        </p:nvSpPr>
        <p:spPr>
          <a:xfrm>
            <a:off x="777240" y="5029200"/>
            <a:ext cx="10607040" cy="100584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Be clear about the limits.  </a:t>
            </a:r>
            <a:pPr indent="0" marL="0">
              <a:buNone/>
            </a:pPr>
            <a:r>
              <a:rPr lang="en-US" sz="1600" dirty="0">
                <a:solidFill>
                  <a:srgbClr val="14213D"/>
                </a:solidFill>
                <a:latin typeface="Calibri" pitchFamily="34" charset="0"/>
                <a:ea typeface="Calibri" pitchFamily="34" charset="-122"/>
                <a:cs typeface="Calibri" pitchFamily="34" charset="-120"/>
              </a:rPr>
              <a:t>Aldermoor Industries and all data are fictional. Audit checks are LLM recall, except the live FX rate. This is a demo of how to build such a system, not a compliance tool.</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SYSTEM MAP</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Architecture: one direction of dependency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4</a:t>
            </a:r>
            <a:endParaRPr lang="en-US" sz="1000" dirty="0"/>
          </a:p>
        </p:txBody>
      </p:sp>
      <p:sp>
        <p:nvSpPr>
          <p:cNvPr id="6" name="Shape 3"/>
          <p:cNvSpPr/>
          <p:nvPr/>
        </p:nvSpPr>
        <p:spPr>
          <a:xfrm>
            <a:off x="548640" y="2743200"/>
            <a:ext cx="1828800" cy="1097280"/>
          </a:xfrm>
          <a:prstGeom prst="roundRect">
            <a:avLst>
              <a:gd name="adj" fmla="val 6667"/>
            </a:avLst>
          </a:prstGeom>
          <a:solidFill>
            <a:srgbClr val="14213D"/>
          </a:solidFill>
          <a:ln w="12700">
            <a:solidFill>
              <a:srgbClr val="14213D"/>
            </a:solidFill>
            <a:prstDash val="solid"/>
          </a:ln>
        </p:spPr>
      </p:sp>
      <p:sp>
        <p:nvSpPr>
          <p:cNvPr id="7" name="Text 4"/>
          <p:cNvSpPr txBox="1"/>
          <p:nvPr/>
        </p:nvSpPr>
        <p:spPr>
          <a:xfrm>
            <a:off x="621792" y="2743200"/>
            <a:ext cx="168249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Browser</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React SPA · api.ts</a:t>
            </a:r>
            <a:endParaRPr lang="en-US" sz="1500" dirty="0"/>
          </a:p>
        </p:txBody>
      </p:sp>
      <p:sp>
        <p:nvSpPr>
          <p:cNvPr id="8" name="Shape 5"/>
          <p:cNvSpPr/>
          <p:nvPr/>
        </p:nvSpPr>
        <p:spPr>
          <a:xfrm>
            <a:off x="2926080" y="2743200"/>
            <a:ext cx="2011680" cy="1097280"/>
          </a:xfrm>
          <a:prstGeom prst="roundRect">
            <a:avLst>
              <a:gd name="adj" fmla="val 6667"/>
            </a:avLst>
          </a:prstGeom>
          <a:solidFill>
            <a:srgbClr val="14213D"/>
          </a:solidFill>
          <a:ln w="12700">
            <a:solidFill>
              <a:srgbClr val="14213D"/>
            </a:solidFill>
            <a:prstDash val="solid"/>
          </a:ln>
        </p:spPr>
      </p:sp>
      <p:sp>
        <p:nvSpPr>
          <p:cNvPr id="9" name="Text 6"/>
          <p:cNvSpPr txBox="1"/>
          <p:nvPr/>
        </p:nvSpPr>
        <p:spPr>
          <a:xfrm>
            <a:off x="2999232" y="2743200"/>
            <a:ext cx="1865376" cy="109728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FastAPI</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api/main · endpoints</a:t>
            </a:r>
            <a:endParaRPr lang="en-US" sz="1500" dirty="0"/>
          </a:p>
        </p:txBody>
      </p:sp>
      <p:sp>
        <p:nvSpPr>
          <p:cNvPr id="10" name="Shape 7"/>
          <p:cNvSpPr/>
          <p:nvPr/>
        </p:nvSpPr>
        <p:spPr>
          <a:xfrm>
            <a:off x="5486400" y="1737360"/>
            <a:ext cx="2377440" cy="1188720"/>
          </a:xfrm>
          <a:prstGeom prst="roundRect">
            <a:avLst>
              <a:gd name="adj" fmla="val 6154"/>
            </a:avLst>
          </a:prstGeom>
          <a:solidFill>
            <a:srgbClr val="1F8A83"/>
          </a:solidFill>
          <a:ln w="12700">
            <a:solidFill>
              <a:srgbClr val="1F8A83"/>
            </a:solidFill>
            <a:prstDash val="solid"/>
          </a:ln>
        </p:spPr>
      </p:sp>
      <p:sp>
        <p:nvSpPr>
          <p:cNvPr id="11" name="Text 8"/>
          <p:cNvSpPr txBox="1"/>
          <p:nvPr/>
        </p:nvSpPr>
        <p:spPr>
          <a:xfrm>
            <a:off x="5559552" y="173736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rag/</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ingestion · retrieval · vector store</a:t>
            </a:r>
            <a:endParaRPr lang="en-US" sz="1500" dirty="0"/>
          </a:p>
        </p:txBody>
      </p:sp>
      <p:sp>
        <p:nvSpPr>
          <p:cNvPr id="12" name="Shape 9"/>
          <p:cNvSpPr/>
          <p:nvPr/>
        </p:nvSpPr>
        <p:spPr>
          <a:xfrm>
            <a:off x="5486400" y="3749040"/>
            <a:ext cx="237744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559552" y="3749040"/>
            <a:ext cx="223113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supervisor · tools · prompts</a:t>
            </a:r>
            <a:endParaRPr lang="en-US" sz="1500" dirty="0"/>
          </a:p>
        </p:txBody>
      </p:sp>
      <p:sp>
        <p:nvSpPr>
          <p:cNvPr id="14" name="Shape 11"/>
          <p:cNvSpPr/>
          <p:nvPr/>
        </p:nvSpPr>
        <p:spPr>
          <a:xfrm>
            <a:off x="2377440" y="3291840"/>
            <a:ext cx="548640" cy="0"/>
          </a:xfrm>
          <a:prstGeom prst="line">
            <a:avLst/>
          </a:prstGeom>
          <a:noFill/>
          <a:ln w="25400">
            <a:solidFill>
              <a:srgbClr val="5B6478"/>
            </a:solidFill>
            <a:prstDash val="solid"/>
            <a:tailEnd type="triangle"/>
          </a:ln>
        </p:spPr>
      </p:sp>
      <p:sp>
        <p:nvSpPr>
          <p:cNvPr id="15" name="Shape 12"/>
          <p:cNvSpPr/>
          <p:nvPr/>
        </p:nvSpPr>
        <p:spPr>
          <a:xfrm flipV="1">
            <a:off x="4937760" y="2468880"/>
            <a:ext cx="548640" cy="640080"/>
          </a:xfrm>
          <a:prstGeom prst="line">
            <a:avLst/>
          </a:prstGeom>
          <a:noFill/>
          <a:ln w="25400">
            <a:solidFill>
              <a:srgbClr val="5B6478"/>
            </a:solidFill>
            <a:prstDash val="solid"/>
            <a:tailEnd type="triangle"/>
          </a:ln>
        </p:spPr>
      </p:sp>
      <p:sp>
        <p:nvSpPr>
          <p:cNvPr id="16" name="Shape 13"/>
          <p:cNvSpPr/>
          <p:nvPr/>
        </p:nvSpPr>
        <p:spPr>
          <a:xfrm>
            <a:off x="4937760" y="3474720"/>
            <a:ext cx="548640" cy="822960"/>
          </a:xfrm>
          <a:prstGeom prst="line">
            <a:avLst/>
          </a:prstGeom>
          <a:noFill/>
          <a:ln w="25400">
            <a:solidFill>
              <a:srgbClr val="5B6478"/>
            </a:solidFill>
            <a:prstDash val="solid"/>
            <a:tailEnd type="triangle"/>
          </a:ln>
        </p:spPr>
      </p:sp>
      <p:sp>
        <p:nvSpPr>
          <p:cNvPr id="17" name="Shape 14"/>
          <p:cNvSpPr/>
          <p:nvPr/>
        </p:nvSpPr>
        <p:spPr>
          <a:xfrm>
            <a:off x="8595360" y="1280160"/>
            <a:ext cx="3017520" cy="777240"/>
          </a:xfrm>
          <a:prstGeom prst="roundRect">
            <a:avLst>
              <a:gd name="adj" fmla="val 9412"/>
            </a:avLst>
          </a:prstGeom>
          <a:solidFill>
            <a:srgbClr val="F2A541"/>
          </a:solidFill>
          <a:ln w="12700">
            <a:solidFill>
              <a:srgbClr val="F2A541"/>
            </a:solidFill>
            <a:prstDash val="solid"/>
          </a:ln>
        </p:spPr>
      </p:sp>
      <p:sp>
        <p:nvSpPr>
          <p:cNvPr id="18" name="Text 15"/>
          <p:cNvSpPr txBox="1"/>
          <p:nvPr/>
        </p:nvSpPr>
        <p:spPr>
          <a:xfrm>
            <a:off x="8668512" y="128016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Gemini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chat model · API key</a:t>
            </a:r>
            <a:endParaRPr lang="en-US" sz="1500" dirty="0"/>
          </a:p>
        </p:txBody>
      </p:sp>
      <p:sp>
        <p:nvSpPr>
          <p:cNvPr id="19" name="Shape 16"/>
          <p:cNvSpPr/>
          <p:nvPr/>
        </p:nvSpPr>
        <p:spPr>
          <a:xfrm>
            <a:off x="8595360" y="2286000"/>
            <a:ext cx="3017520" cy="777240"/>
          </a:xfrm>
          <a:prstGeom prst="roundRect">
            <a:avLst>
              <a:gd name="adj" fmla="val 9412"/>
            </a:avLst>
          </a:prstGeom>
          <a:solidFill>
            <a:srgbClr val="F2A541"/>
          </a:solidFill>
          <a:ln w="12700">
            <a:solidFill>
              <a:srgbClr val="F2A541"/>
            </a:solidFill>
            <a:prstDash val="solid"/>
          </a:ln>
        </p:spPr>
      </p:sp>
      <p:sp>
        <p:nvSpPr>
          <p:cNvPr id="20" name="Text 17"/>
          <p:cNvSpPr txBox="1"/>
          <p:nvPr/>
        </p:nvSpPr>
        <p:spPr>
          <a:xfrm>
            <a:off x="8668512" y="228600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Vertex AI Vector Search</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embeddings · 768 dims</a:t>
            </a:r>
            <a:endParaRPr lang="en-US" sz="1500" dirty="0"/>
          </a:p>
        </p:txBody>
      </p:sp>
      <p:sp>
        <p:nvSpPr>
          <p:cNvPr id="21" name="Shape 18"/>
          <p:cNvSpPr/>
          <p:nvPr/>
        </p:nvSpPr>
        <p:spPr>
          <a:xfrm>
            <a:off x="8595360" y="3291840"/>
            <a:ext cx="3017520" cy="777240"/>
          </a:xfrm>
          <a:prstGeom prst="roundRect">
            <a:avLst>
              <a:gd name="adj" fmla="val 9412"/>
            </a:avLst>
          </a:prstGeom>
          <a:solidFill>
            <a:srgbClr val="F2A541"/>
          </a:solidFill>
          <a:ln w="12700">
            <a:solidFill>
              <a:srgbClr val="F2A541"/>
            </a:solidFill>
            <a:prstDash val="solid"/>
          </a:ln>
        </p:spPr>
      </p:sp>
      <p:sp>
        <p:nvSpPr>
          <p:cNvPr id="22" name="Text 19"/>
          <p:cNvSpPr txBox="1"/>
          <p:nvPr/>
        </p:nvSpPr>
        <p:spPr>
          <a:xfrm>
            <a:off x="8668512" y="329184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Cloud Storage</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PDF copies · logs</a:t>
            </a:r>
            <a:endParaRPr lang="en-US" sz="1500" dirty="0"/>
          </a:p>
        </p:txBody>
      </p:sp>
      <p:sp>
        <p:nvSpPr>
          <p:cNvPr id="23" name="Shape 20"/>
          <p:cNvSpPr/>
          <p:nvPr/>
        </p:nvSpPr>
        <p:spPr>
          <a:xfrm>
            <a:off x="8595360" y="4297680"/>
            <a:ext cx="3017520" cy="777240"/>
          </a:xfrm>
          <a:prstGeom prst="roundRect">
            <a:avLst>
              <a:gd name="adj" fmla="val 9412"/>
            </a:avLst>
          </a:prstGeom>
          <a:solidFill>
            <a:srgbClr val="F2A541"/>
          </a:solidFill>
          <a:ln w="12700">
            <a:solidFill>
              <a:srgbClr val="F2A541"/>
            </a:solidFill>
            <a:prstDash val="solid"/>
          </a:ln>
        </p:spPr>
      </p:sp>
      <p:sp>
        <p:nvSpPr>
          <p:cNvPr id="24" name="Text 21"/>
          <p:cNvSpPr txBox="1"/>
          <p:nvPr/>
        </p:nvSpPr>
        <p:spPr>
          <a:xfrm>
            <a:off x="8668512" y="4297680"/>
            <a:ext cx="2871216" cy="77724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Frankfurter API</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live FX rates</a:t>
            </a:r>
            <a:endParaRPr lang="en-US" sz="1500" dirty="0"/>
          </a:p>
        </p:txBody>
      </p:sp>
      <p:sp>
        <p:nvSpPr>
          <p:cNvPr id="25" name="Shape 22"/>
          <p:cNvSpPr/>
          <p:nvPr/>
        </p:nvSpPr>
        <p:spPr>
          <a:xfrm flipV="1">
            <a:off x="7863840" y="1691640"/>
            <a:ext cx="731520" cy="502920"/>
          </a:xfrm>
          <a:prstGeom prst="line">
            <a:avLst/>
          </a:prstGeom>
          <a:noFill/>
          <a:ln w="25400">
            <a:solidFill>
              <a:srgbClr val="5B6478"/>
            </a:solidFill>
            <a:prstDash val="solid"/>
            <a:tailEnd type="triangle"/>
          </a:ln>
        </p:spPr>
      </p:sp>
      <p:sp>
        <p:nvSpPr>
          <p:cNvPr id="26" name="Shape 23"/>
          <p:cNvSpPr/>
          <p:nvPr/>
        </p:nvSpPr>
        <p:spPr>
          <a:xfrm>
            <a:off x="7863840" y="2377440"/>
            <a:ext cx="731520" cy="274320"/>
          </a:xfrm>
          <a:prstGeom prst="line">
            <a:avLst/>
          </a:prstGeom>
          <a:noFill/>
          <a:ln w="25400">
            <a:solidFill>
              <a:srgbClr val="5B6478"/>
            </a:solidFill>
            <a:prstDash val="solid"/>
            <a:tailEnd type="triangle"/>
          </a:ln>
        </p:spPr>
      </p:sp>
      <p:sp>
        <p:nvSpPr>
          <p:cNvPr id="27" name="Shape 24"/>
          <p:cNvSpPr/>
          <p:nvPr/>
        </p:nvSpPr>
        <p:spPr>
          <a:xfrm flipV="1">
            <a:off x="7863840" y="1783080"/>
            <a:ext cx="731520" cy="2331720"/>
          </a:xfrm>
          <a:prstGeom prst="line">
            <a:avLst/>
          </a:prstGeom>
          <a:noFill/>
          <a:ln w="25400">
            <a:solidFill>
              <a:srgbClr val="5B6478"/>
            </a:solidFill>
            <a:prstDash val="solid"/>
            <a:tailEnd type="triangle"/>
          </a:ln>
        </p:spPr>
      </p:sp>
      <p:sp>
        <p:nvSpPr>
          <p:cNvPr id="28" name="Shape 25"/>
          <p:cNvSpPr/>
          <p:nvPr/>
        </p:nvSpPr>
        <p:spPr>
          <a:xfrm>
            <a:off x="7863840" y="4389120"/>
            <a:ext cx="731520" cy="274320"/>
          </a:xfrm>
          <a:prstGeom prst="line">
            <a:avLst/>
          </a:prstGeom>
          <a:noFill/>
          <a:ln w="25400">
            <a:solidFill>
              <a:srgbClr val="5B6478"/>
            </a:solidFill>
            <a:prstDash val="solid"/>
            <a:tailEnd type="triangle"/>
          </a:ln>
        </p:spPr>
      </p:sp>
      <p:sp>
        <p:nvSpPr>
          <p:cNvPr id="29" name="Text 26"/>
          <p:cNvSpPr txBox="1"/>
          <p:nvPr/>
        </p:nvSpPr>
        <p:spPr>
          <a:xfrm>
            <a:off x="548640" y="5486400"/>
            <a:ext cx="1097280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Rule: api → rag / agent → config, logger. Nothing imports upward.</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STACK</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Technology stack</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5</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Backend</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Python 3.12, FastAPI, Pydantic, uvicorn</a:t>
            </a:r>
            <a:endParaRPr lang="en-US" sz="14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AI orchestration</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LangChain 1.x, create_agent (LangGraph inside), LangChain classic chains</a:t>
            </a:r>
            <a:endParaRPr lang="en-US" sz="14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Models</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Gemini chat (API key), Vertex AI text-embedding-005 (768-d)</a:t>
            </a:r>
            <a:endParaRPr lang="en-US" sz="14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Vector store</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Vertex AI Vector Search, STREAM_UPDATE index</a:t>
            </a:r>
            <a:endParaRPr lang="en-US" sz="14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Frontend</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React 18, Vite, TypeScript, Tailwind, shadcn/ui</a:t>
            </a:r>
            <a:endParaRPr lang="en-US" sz="14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Ship and test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Docker, Cloud Run, GitHub Actions, pytest, Vitest</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RAG in one picture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6</a:t>
            </a:r>
            <a:endParaRPr lang="en-US" sz="1000" dirty="0"/>
          </a:p>
        </p:txBody>
      </p:sp>
      <p:sp>
        <p:nvSpPr>
          <p:cNvPr id="6" name="Text 3"/>
          <p:cNvSpPr txBox="1"/>
          <p:nvPr/>
        </p:nvSpPr>
        <p:spPr>
          <a:xfrm>
            <a:off x="548640" y="155448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INGEST (once per document)</a:t>
            </a:r>
            <a:endParaRPr lang="en-US" sz="1300" dirty="0"/>
          </a:p>
        </p:txBody>
      </p:sp>
      <p:sp>
        <p:nvSpPr>
          <p:cNvPr id="7" name="Shape 4"/>
          <p:cNvSpPr/>
          <p:nvPr/>
        </p:nvSpPr>
        <p:spPr>
          <a:xfrm>
            <a:off x="548640" y="1920240"/>
            <a:ext cx="1828800" cy="914400"/>
          </a:xfrm>
          <a:prstGeom prst="roundRect">
            <a:avLst>
              <a:gd name="adj" fmla="val 8000"/>
            </a:avLst>
          </a:prstGeom>
          <a:solidFill>
            <a:srgbClr val="14213D"/>
          </a:solidFill>
          <a:ln w="12700">
            <a:solidFill>
              <a:srgbClr val="14213D"/>
            </a:solidFill>
            <a:prstDash val="solid"/>
          </a:ln>
        </p:spPr>
      </p:sp>
      <p:sp>
        <p:nvSpPr>
          <p:cNvPr id="8" name="Text 5"/>
          <p:cNvSpPr txBox="1"/>
          <p:nvPr/>
        </p:nvSpPr>
        <p:spPr>
          <a:xfrm>
            <a:off x="621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PDF</a:t>
            </a:r>
            <a:endParaRPr lang="en-US" sz="1500" dirty="0"/>
          </a:p>
        </p:txBody>
      </p:sp>
      <p:sp>
        <p:nvSpPr>
          <p:cNvPr id="9" name="Shape 6"/>
          <p:cNvSpPr/>
          <p:nvPr/>
        </p:nvSpPr>
        <p:spPr>
          <a:xfrm>
            <a:off x="2377440" y="2377440"/>
            <a:ext cx="457200" cy="0"/>
          </a:xfrm>
          <a:prstGeom prst="line">
            <a:avLst/>
          </a:prstGeom>
          <a:noFill/>
          <a:ln w="25400">
            <a:solidFill>
              <a:srgbClr val="5B6478"/>
            </a:solidFill>
            <a:prstDash val="solid"/>
            <a:tailEnd type="triangle"/>
          </a:ln>
        </p:spPr>
      </p:sp>
      <p:sp>
        <p:nvSpPr>
          <p:cNvPr id="10" name="Shape 7"/>
          <p:cNvSpPr/>
          <p:nvPr/>
        </p:nvSpPr>
        <p:spPr>
          <a:xfrm>
            <a:off x="2834640" y="1920240"/>
            <a:ext cx="1828800" cy="914400"/>
          </a:xfrm>
          <a:prstGeom prst="roundRect">
            <a:avLst>
              <a:gd name="adj" fmla="val 8000"/>
            </a:avLst>
          </a:prstGeom>
          <a:solidFill>
            <a:srgbClr val="14213D"/>
          </a:solidFill>
          <a:ln w="12700">
            <a:solidFill>
              <a:srgbClr val="14213D"/>
            </a:solidFill>
            <a:prstDash val="solid"/>
          </a:ln>
        </p:spPr>
      </p:sp>
      <p:sp>
        <p:nvSpPr>
          <p:cNvPr id="11" name="Text 8"/>
          <p:cNvSpPr txBox="1"/>
          <p:nvPr/>
        </p:nvSpPr>
        <p:spPr>
          <a:xfrm>
            <a:off x="2907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Pages</a:t>
            </a:r>
            <a:endParaRPr lang="en-US" sz="1500" dirty="0"/>
          </a:p>
        </p:txBody>
      </p:sp>
      <p:sp>
        <p:nvSpPr>
          <p:cNvPr id="12" name="Shape 9"/>
          <p:cNvSpPr/>
          <p:nvPr/>
        </p:nvSpPr>
        <p:spPr>
          <a:xfrm>
            <a:off x="4663440" y="2377440"/>
            <a:ext cx="457200" cy="0"/>
          </a:xfrm>
          <a:prstGeom prst="line">
            <a:avLst/>
          </a:prstGeom>
          <a:noFill/>
          <a:ln w="25400">
            <a:solidFill>
              <a:srgbClr val="5B6478"/>
            </a:solidFill>
            <a:prstDash val="solid"/>
            <a:tailEnd type="triangle"/>
          </a:ln>
        </p:spPr>
      </p:sp>
      <p:sp>
        <p:nvSpPr>
          <p:cNvPr id="13" name="Shape 10"/>
          <p:cNvSpPr/>
          <p:nvPr/>
        </p:nvSpPr>
        <p:spPr>
          <a:xfrm>
            <a:off x="5120640" y="1920240"/>
            <a:ext cx="1828800" cy="914400"/>
          </a:xfrm>
          <a:prstGeom prst="roundRect">
            <a:avLst>
              <a:gd name="adj" fmla="val 8000"/>
            </a:avLst>
          </a:prstGeom>
          <a:solidFill>
            <a:srgbClr val="14213D"/>
          </a:solidFill>
          <a:ln w="12700">
            <a:solidFill>
              <a:srgbClr val="14213D"/>
            </a:solidFill>
            <a:prstDash val="solid"/>
          </a:ln>
        </p:spPr>
      </p:sp>
      <p:sp>
        <p:nvSpPr>
          <p:cNvPr id="14" name="Text 11"/>
          <p:cNvSpPr txBox="1"/>
          <p:nvPr/>
        </p:nvSpPr>
        <p:spPr>
          <a:xfrm>
            <a:off x="5193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Chunks</a:t>
            </a:r>
            <a:endParaRPr lang="en-US" sz="1500" dirty="0"/>
          </a:p>
        </p:txBody>
      </p:sp>
      <p:sp>
        <p:nvSpPr>
          <p:cNvPr id="15" name="Shape 12"/>
          <p:cNvSpPr/>
          <p:nvPr/>
        </p:nvSpPr>
        <p:spPr>
          <a:xfrm>
            <a:off x="6949440" y="2377440"/>
            <a:ext cx="457200" cy="0"/>
          </a:xfrm>
          <a:prstGeom prst="line">
            <a:avLst/>
          </a:prstGeom>
          <a:noFill/>
          <a:ln w="25400">
            <a:solidFill>
              <a:srgbClr val="5B6478"/>
            </a:solidFill>
            <a:prstDash val="solid"/>
            <a:tailEnd type="triangle"/>
          </a:ln>
        </p:spPr>
      </p:sp>
      <p:sp>
        <p:nvSpPr>
          <p:cNvPr id="16" name="Shape 13"/>
          <p:cNvSpPr/>
          <p:nvPr/>
        </p:nvSpPr>
        <p:spPr>
          <a:xfrm>
            <a:off x="7406640" y="1920240"/>
            <a:ext cx="1828800" cy="914400"/>
          </a:xfrm>
          <a:prstGeom prst="roundRect">
            <a:avLst>
              <a:gd name="adj" fmla="val 8000"/>
            </a:avLst>
          </a:prstGeom>
          <a:solidFill>
            <a:srgbClr val="14213D"/>
          </a:solidFill>
          <a:ln w="12700">
            <a:solidFill>
              <a:srgbClr val="14213D"/>
            </a:solidFill>
            <a:prstDash val="solid"/>
          </a:ln>
        </p:spPr>
      </p:sp>
      <p:sp>
        <p:nvSpPr>
          <p:cNvPr id="17" name="Text 14"/>
          <p:cNvSpPr txBox="1"/>
          <p:nvPr/>
        </p:nvSpPr>
        <p:spPr>
          <a:xfrm>
            <a:off x="7479792" y="192024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Embeddings</a:t>
            </a:r>
            <a:endParaRPr lang="en-US" sz="1500" dirty="0"/>
          </a:p>
        </p:txBody>
      </p:sp>
      <p:sp>
        <p:nvSpPr>
          <p:cNvPr id="18" name="Shape 15"/>
          <p:cNvSpPr/>
          <p:nvPr/>
        </p:nvSpPr>
        <p:spPr>
          <a:xfrm>
            <a:off x="9235440" y="2377440"/>
            <a:ext cx="457200" cy="0"/>
          </a:xfrm>
          <a:prstGeom prst="line">
            <a:avLst/>
          </a:prstGeom>
          <a:noFill/>
          <a:ln w="25400">
            <a:solidFill>
              <a:srgbClr val="5B6478"/>
            </a:solidFill>
            <a:prstDash val="solid"/>
            <a:tailEnd type="triangle"/>
          </a:ln>
        </p:spPr>
      </p:sp>
      <p:sp>
        <p:nvSpPr>
          <p:cNvPr id="19" name="Shape 16"/>
          <p:cNvSpPr/>
          <p:nvPr/>
        </p:nvSpPr>
        <p:spPr>
          <a:xfrm>
            <a:off x="9692640" y="1920240"/>
            <a:ext cx="1828800" cy="914400"/>
          </a:xfrm>
          <a:prstGeom prst="roundRect">
            <a:avLst>
              <a:gd name="adj" fmla="val 8000"/>
            </a:avLst>
          </a:prstGeom>
          <a:solidFill>
            <a:srgbClr val="F2A541"/>
          </a:solidFill>
          <a:ln w="12700">
            <a:solidFill>
              <a:srgbClr val="F2A541"/>
            </a:solidFill>
            <a:prstDash val="solid"/>
          </a:ln>
        </p:spPr>
      </p:sp>
      <p:sp>
        <p:nvSpPr>
          <p:cNvPr id="20" name="Text 17"/>
          <p:cNvSpPr txBox="1"/>
          <p:nvPr/>
        </p:nvSpPr>
        <p:spPr>
          <a:xfrm>
            <a:off x="9765792" y="1920240"/>
            <a:ext cx="1682496" cy="91440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Vector index</a:t>
            </a:r>
            <a:endParaRPr lang="en-US" sz="1500" dirty="0"/>
          </a:p>
        </p:txBody>
      </p:sp>
      <p:sp>
        <p:nvSpPr>
          <p:cNvPr id="21" name="Text 18"/>
          <p:cNvSpPr txBox="1"/>
          <p:nvPr/>
        </p:nvSpPr>
        <p:spPr>
          <a:xfrm>
            <a:off x="548640" y="3566160"/>
            <a:ext cx="5486400" cy="320040"/>
          </a:xfrm>
          <a:prstGeom prst="rect">
            <a:avLst/>
          </a:prstGeom>
          <a:noFill/>
          <a:ln/>
        </p:spPr>
        <p:txBody>
          <a:bodyPr wrap="square" lIns="0" tIns="0" rIns="0" bIns="0" rtlCol="0" anchor="ctr"/>
          <a:lstStyle/>
          <a:p>
            <a:pPr indent="0" marL="0">
              <a:buNone/>
            </a:pPr>
            <a:r>
              <a:rPr lang="en-US" sz="1300" b="1" dirty="0">
                <a:solidFill>
                  <a:srgbClr val="1F8A83"/>
                </a:solidFill>
                <a:latin typeface="Calibri" pitchFamily="34" charset="0"/>
                <a:ea typeface="Calibri" pitchFamily="34" charset="-122"/>
                <a:cs typeface="Calibri" pitchFamily="34" charset="-120"/>
              </a:rPr>
              <a:t>ASK (every question)</a:t>
            </a:r>
            <a:endParaRPr lang="en-US" sz="1300" dirty="0"/>
          </a:p>
        </p:txBody>
      </p:sp>
      <p:sp>
        <p:nvSpPr>
          <p:cNvPr id="22" name="Shape 19"/>
          <p:cNvSpPr/>
          <p:nvPr/>
        </p:nvSpPr>
        <p:spPr>
          <a:xfrm>
            <a:off x="548640" y="3931920"/>
            <a:ext cx="1828800" cy="914400"/>
          </a:xfrm>
          <a:prstGeom prst="roundRect">
            <a:avLst>
              <a:gd name="adj" fmla="val 8000"/>
            </a:avLst>
          </a:prstGeom>
          <a:solidFill>
            <a:srgbClr val="1F8A83"/>
          </a:solidFill>
          <a:ln w="12700">
            <a:solidFill>
              <a:srgbClr val="1F8A83"/>
            </a:solidFill>
            <a:prstDash val="solid"/>
          </a:ln>
        </p:spPr>
      </p:sp>
      <p:sp>
        <p:nvSpPr>
          <p:cNvPr id="23" name="Text 20"/>
          <p:cNvSpPr txBox="1"/>
          <p:nvPr/>
        </p:nvSpPr>
        <p:spPr>
          <a:xfrm>
            <a:off x="621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Question</a:t>
            </a:r>
            <a:endParaRPr lang="en-US" sz="1500" dirty="0"/>
          </a:p>
        </p:txBody>
      </p:sp>
      <p:sp>
        <p:nvSpPr>
          <p:cNvPr id="24" name="Shape 21"/>
          <p:cNvSpPr/>
          <p:nvPr/>
        </p:nvSpPr>
        <p:spPr>
          <a:xfrm>
            <a:off x="2377440" y="4389120"/>
            <a:ext cx="457200" cy="0"/>
          </a:xfrm>
          <a:prstGeom prst="line">
            <a:avLst/>
          </a:prstGeom>
          <a:noFill/>
          <a:ln w="25400">
            <a:solidFill>
              <a:srgbClr val="5B6478"/>
            </a:solidFill>
            <a:prstDash val="solid"/>
            <a:tailEnd type="triangle"/>
          </a:ln>
        </p:spPr>
      </p:sp>
      <p:sp>
        <p:nvSpPr>
          <p:cNvPr id="25" name="Shape 22"/>
          <p:cNvSpPr/>
          <p:nvPr/>
        </p:nvSpPr>
        <p:spPr>
          <a:xfrm>
            <a:off x="2834640" y="3931920"/>
            <a:ext cx="1828800" cy="914400"/>
          </a:xfrm>
          <a:prstGeom prst="roundRect">
            <a:avLst>
              <a:gd name="adj" fmla="val 8000"/>
            </a:avLst>
          </a:prstGeom>
          <a:solidFill>
            <a:srgbClr val="1F8A83"/>
          </a:solidFill>
          <a:ln w="12700">
            <a:solidFill>
              <a:srgbClr val="1F8A83"/>
            </a:solidFill>
            <a:prstDash val="solid"/>
          </a:ln>
        </p:spPr>
      </p:sp>
      <p:sp>
        <p:nvSpPr>
          <p:cNvPr id="26" name="Text 23"/>
          <p:cNvSpPr txBox="1"/>
          <p:nvPr/>
        </p:nvSpPr>
        <p:spPr>
          <a:xfrm>
            <a:off x="2907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Retriever</a:t>
            </a:r>
            <a:endParaRPr lang="en-US" sz="1500" dirty="0"/>
          </a:p>
        </p:txBody>
      </p:sp>
      <p:sp>
        <p:nvSpPr>
          <p:cNvPr id="27" name="Shape 24"/>
          <p:cNvSpPr/>
          <p:nvPr/>
        </p:nvSpPr>
        <p:spPr>
          <a:xfrm>
            <a:off x="4663440" y="4389120"/>
            <a:ext cx="457200" cy="0"/>
          </a:xfrm>
          <a:prstGeom prst="line">
            <a:avLst/>
          </a:prstGeom>
          <a:noFill/>
          <a:ln w="25400">
            <a:solidFill>
              <a:srgbClr val="5B6478"/>
            </a:solidFill>
            <a:prstDash val="solid"/>
            <a:tailEnd type="triangle"/>
          </a:ln>
        </p:spPr>
      </p:sp>
      <p:sp>
        <p:nvSpPr>
          <p:cNvPr id="28" name="Shape 25"/>
          <p:cNvSpPr/>
          <p:nvPr/>
        </p:nvSpPr>
        <p:spPr>
          <a:xfrm>
            <a:off x="5120640" y="3931920"/>
            <a:ext cx="1828800" cy="914400"/>
          </a:xfrm>
          <a:prstGeom prst="roundRect">
            <a:avLst>
              <a:gd name="adj" fmla="val 8000"/>
            </a:avLst>
          </a:prstGeom>
          <a:solidFill>
            <a:srgbClr val="1F8A83"/>
          </a:solidFill>
          <a:ln w="12700">
            <a:solidFill>
              <a:srgbClr val="1F8A83"/>
            </a:solidFill>
            <a:prstDash val="solid"/>
          </a:ln>
        </p:spPr>
      </p:sp>
      <p:sp>
        <p:nvSpPr>
          <p:cNvPr id="29" name="Text 26"/>
          <p:cNvSpPr txBox="1"/>
          <p:nvPr/>
        </p:nvSpPr>
        <p:spPr>
          <a:xfrm>
            <a:off x="5193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Prompt + chunks</a:t>
            </a:r>
            <a:endParaRPr lang="en-US" sz="1500" dirty="0"/>
          </a:p>
        </p:txBody>
      </p:sp>
      <p:sp>
        <p:nvSpPr>
          <p:cNvPr id="30" name="Shape 27"/>
          <p:cNvSpPr/>
          <p:nvPr/>
        </p:nvSpPr>
        <p:spPr>
          <a:xfrm>
            <a:off x="6949440" y="4389120"/>
            <a:ext cx="457200" cy="0"/>
          </a:xfrm>
          <a:prstGeom prst="line">
            <a:avLst/>
          </a:prstGeom>
          <a:noFill/>
          <a:ln w="25400">
            <a:solidFill>
              <a:srgbClr val="5B6478"/>
            </a:solidFill>
            <a:prstDash val="solid"/>
            <a:tailEnd type="triangle"/>
          </a:ln>
        </p:spPr>
      </p:sp>
      <p:sp>
        <p:nvSpPr>
          <p:cNvPr id="31" name="Shape 28"/>
          <p:cNvSpPr/>
          <p:nvPr/>
        </p:nvSpPr>
        <p:spPr>
          <a:xfrm>
            <a:off x="7406640" y="3931920"/>
            <a:ext cx="1828800" cy="914400"/>
          </a:xfrm>
          <a:prstGeom prst="roundRect">
            <a:avLst>
              <a:gd name="adj" fmla="val 8000"/>
            </a:avLst>
          </a:prstGeom>
          <a:solidFill>
            <a:srgbClr val="1F8A83"/>
          </a:solidFill>
          <a:ln w="12700">
            <a:solidFill>
              <a:srgbClr val="1F8A83"/>
            </a:solidFill>
            <a:prstDash val="solid"/>
          </a:ln>
        </p:spPr>
      </p:sp>
      <p:sp>
        <p:nvSpPr>
          <p:cNvPr id="32" name="Text 29"/>
          <p:cNvSpPr txBox="1"/>
          <p:nvPr/>
        </p:nvSpPr>
        <p:spPr>
          <a:xfrm>
            <a:off x="7479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Gemini</a:t>
            </a:r>
            <a:endParaRPr lang="en-US" sz="1500" dirty="0"/>
          </a:p>
        </p:txBody>
      </p:sp>
      <p:sp>
        <p:nvSpPr>
          <p:cNvPr id="33" name="Shape 30"/>
          <p:cNvSpPr/>
          <p:nvPr/>
        </p:nvSpPr>
        <p:spPr>
          <a:xfrm>
            <a:off x="9235440" y="4389120"/>
            <a:ext cx="457200" cy="0"/>
          </a:xfrm>
          <a:prstGeom prst="line">
            <a:avLst/>
          </a:prstGeom>
          <a:noFill/>
          <a:ln w="25400">
            <a:solidFill>
              <a:srgbClr val="5B6478"/>
            </a:solidFill>
            <a:prstDash val="solid"/>
            <a:tailEnd type="triangle"/>
          </a:ln>
        </p:spPr>
      </p:sp>
      <p:sp>
        <p:nvSpPr>
          <p:cNvPr id="34" name="Shape 31"/>
          <p:cNvSpPr/>
          <p:nvPr/>
        </p:nvSpPr>
        <p:spPr>
          <a:xfrm>
            <a:off x="9692640" y="3931920"/>
            <a:ext cx="1828800" cy="914400"/>
          </a:xfrm>
          <a:prstGeom prst="roundRect">
            <a:avLst>
              <a:gd name="adj" fmla="val 8000"/>
            </a:avLst>
          </a:prstGeom>
          <a:solidFill>
            <a:srgbClr val="2E7D4F"/>
          </a:solidFill>
          <a:ln w="12700">
            <a:solidFill>
              <a:srgbClr val="2E7D4F"/>
            </a:solidFill>
            <a:prstDash val="solid"/>
          </a:ln>
        </p:spPr>
      </p:sp>
      <p:sp>
        <p:nvSpPr>
          <p:cNvPr id="35" name="Text 32"/>
          <p:cNvSpPr txBox="1"/>
          <p:nvPr/>
        </p:nvSpPr>
        <p:spPr>
          <a:xfrm>
            <a:off x="9765792" y="3931920"/>
            <a:ext cx="1682496" cy="9144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Answer</a:t>
            </a:r>
            <a:endParaRPr lang="en-US" sz="1500" dirty="0"/>
          </a:p>
        </p:txBody>
      </p:sp>
      <p:sp>
        <p:nvSpPr>
          <p:cNvPr id="36" name="Text 33"/>
          <p:cNvSpPr txBox="1"/>
          <p:nvPr/>
        </p:nvSpPr>
        <p:spPr>
          <a:xfrm>
            <a:off x="548640" y="5394960"/>
            <a:ext cx="11064240" cy="548640"/>
          </a:xfrm>
          <a:prstGeom prst="rect">
            <a:avLst/>
          </a:prstGeom>
          <a:noFill/>
          <a:ln/>
        </p:spPr>
        <p:txBody>
          <a:bodyPr wrap="square" lIns="0" tIns="0" rIns="0" bIns="0" rtlCol="0" anchor="ctr"/>
          <a:lstStyle/>
          <a:p>
            <a:pPr indent="0" marL="0">
              <a:buNone/>
            </a:pPr>
            <a:r>
              <a:rPr lang="en-US" sz="1800" i="1" dirty="0">
                <a:solidFill>
                  <a:srgbClr val="14213D"/>
                </a:solidFill>
                <a:latin typeface="Calibri" pitchFamily="34" charset="0"/>
                <a:ea typeface="Calibri" pitchFamily="34" charset="-122"/>
                <a:cs typeface="Calibri" pitchFamily="34" charset="-120"/>
              </a:rPr>
              <a:t>The model answers from retrieved text, not from memory. If the text is not there, it must say so.</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Ingestion: PDF to chunks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7</a:t>
            </a:r>
            <a:endParaRPr lang="en-US" sz="1000" dirty="0"/>
          </a:p>
        </p:txBody>
      </p:sp>
      <p:sp>
        <p:nvSpPr>
          <p:cNvPr id="6" name="Shape 3"/>
          <p:cNvSpPr/>
          <p:nvPr/>
        </p:nvSpPr>
        <p:spPr>
          <a:xfrm>
            <a:off x="548640" y="1645920"/>
            <a:ext cx="6035040" cy="4297680"/>
          </a:xfrm>
          <a:prstGeom prst="roundRect">
            <a:avLst>
              <a:gd name="adj" fmla="val 1277"/>
            </a:avLst>
          </a:prstGeom>
          <a:solidFill>
            <a:srgbClr val="14213D"/>
          </a:solidFill>
          <a:ln w="12700">
            <a:solidFill>
              <a:srgbClr val="14213D"/>
            </a:solidFill>
            <a:prstDash val="solid"/>
          </a:ln>
        </p:spPr>
      </p:sp>
      <p:sp>
        <p:nvSpPr>
          <p:cNvPr id="7" name="Text 4"/>
          <p:cNvSpPr txBox="1"/>
          <p:nvPr/>
        </p:nvSpPr>
        <p:spPr>
          <a:xfrm>
            <a:off x="777240" y="1783080"/>
            <a:ext cx="5577840" cy="4023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CHUNK_SIZE = 1000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CHUNK_OVERLAP = 100</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ingest_pdf(local_path, source):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pages = PyPDFLoader(local_path).load()</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for page in 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page.metadata["source"] = source</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 split_into_chunks(pages)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get_vector_store().add_documents(chunks)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{"pages": len(pages),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"chunks": len(chunks)}</a:t>
            </a:r>
            <a:endParaRPr lang="en-US" sz="1400" dirty="0"/>
          </a:p>
        </p:txBody>
      </p:sp>
      <p:sp>
        <p:nvSpPr>
          <p:cNvPr id="8" name="Shape 5"/>
          <p:cNvSpPr/>
          <p:nvPr/>
        </p:nvSpPr>
        <p:spPr>
          <a:xfrm>
            <a:off x="6858000" y="1645920"/>
            <a:ext cx="478231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040880" y="1783080"/>
            <a:ext cx="441655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Why overlap?</a:t>
            </a:r>
            <a:endParaRPr lang="en-US" sz="1800" dirty="0"/>
          </a:p>
        </p:txBody>
      </p:sp>
      <p:sp>
        <p:nvSpPr>
          <p:cNvPr id="10" name="Text 7"/>
          <p:cNvSpPr txBox="1"/>
          <p:nvPr/>
        </p:nvSpPr>
        <p:spPr>
          <a:xfrm>
            <a:off x="7040880" y="2240280"/>
            <a:ext cx="4416552" cy="64008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A fact cut at a chunk edge still appears whole in the neighbour.</a:t>
            </a:r>
            <a:endParaRPr lang="en-US" sz="1400" dirty="0"/>
          </a:p>
        </p:txBody>
      </p:sp>
      <p:sp>
        <p:nvSpPr>
          <p:cNvPr id="11" name="Shape 8"/>
          <p:cNvSpPr/>
          <p:nvPr/>
        </p:nvSpPr>
        <p:spPr>
          <a:xfrm>
            <a:off x="6858000" y="320040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040880" y="333756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Scanned PDF?</a:t>
            </a:r>
            <a:endParaRPr lang="en-US" sz="1800" dirty="0"/>
          </a:p>
        </p:txBody>
      </p:sp>
      <p:sp>
        <p:nvSpPr>
          <p:cNvPr id="13" name="Text 10"/>
          <p:cNvSpPr txBox="1"/>
          <p:nvPr/>
        </p:nvSpPr>
        <p:spPr>
          <a:xfrm>
            <a:off x="7040880" y="3794760"/>
            <a:ext cx="4416552" cy="548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No text, zero chunks, reported as skipped.</a:t>
            </a:r>
            <a:endParaRPr lang="en-US" sz="1400" dirty="0"/>
          </a:p>
        </p:txBody>
      </p:sp>
      <p:sp>
        <p:nvSpPr>
          <p:cNvPr id="14" name="Shape 11"/>
          <p:cNvSpPr/>
          <p:nvPr/>
        </p:nvSpPr>
        <p:spPr>
          <a:xfrm>
            <a:off x="6858000" y="4663440"/>
            <a:ext cx="478231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040880" y="4800600"/>
            <a:ext cx="441655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Re-running bulk ingest?</a:t>
            </a:r>
            <a:endParaRPr lang="en-US" sz="1800" dirty="0"/>
          </a:p>
        </p:txBody>
      </p:sp>
      <p:sp>
        <p:nvSpPr>
          <p:cNvPr id="16" name="Text 13"/>
          <p:cNvSpPr txBox="1"/>
          <p:nvPr/>
        </p:nvSpPr>
        <p:spPr>
          <a:xfrm>
            <a:off x="7040880" y="5257800"/>
            <a:ext cx="4416552" cy="548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No dedupe: files get indexed twice.</a:t>
            </a:r>
            <a:endParaRPr lang="en-US" sz="1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Embeddings and Vector Search</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8</a:t>
            </a:r>
            <a:endParaRPr lang="en-US" sz="1000" dirty="0"/>
          </a:p>
        </p:txBody>
      </p:sp>
      <p:sp>
        <p:nvSpPr>
          <p:cNvPr id="6" name="Shape 3"/>
          <p:cNvSpPr/>
          <p:nvPr/>
        </p:nvSpPr>
        <p:spPr>
          <a:xfrm>
            <a:off x="548640" y="1645920"/>
            <a:ext cx="3593592" cy="2011680"/>
          </a:xfrm>
          <a:prstGeom prst="roundRect">
            <a:avLst>
              <a:gd name="adj" fmla="val 3636"/>
            </a:avLst>
          </a:prstGeom>
          <a:solidFill>
            <a:srgbClr val="FFFFFF"/>
          </a:solidFill>
          <a:ln w="12700">
            <a:solidFill>
              <a:srgbClr val="E3E8F2"/>
            </a:solidFill>
            <a:prstDash val="solid"/>
          </a:ln>
        </p:spPr>
      </p:sp>
      <p:sp>
        <p:nvSpPr>
          <p:cNvPr id="7" name="Text 4"/>
          <p:cNvSpPr txBox="1"/>
          <p:nvPr/>
        </p:nvSpPr>
        <p:spPr>
          <a:xfrm>
            <a:off x="73152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768</a:t>
            </a:r>
            <a:endParaRPr lang="en-US" sz="5400" dirty="0"/>
          </a:p>
        </p:txBody>
      </p:sp>
      <p:sp>
        <p:nvSpPr>
          <p:cNvPr id="8" name="Text 5"/>
          <p:cNvSpPr txBox="1"/>
          <p:nvPr/>
        </p:nvSpPr>
        <p:spPr>
          <a:xfrm>
            <a:off x="73152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dimensions per vector, set by the index and text-embedding-005</a:t>
            </a:r>
            <a:endParaRPr lang="en-US" sz="1500" dirty="0"/>
          </a:p>
        </p:txBody>
      </p:sp>
      <p:sp>
        <p:nvSpPr>
          <p:cNvPr id="9" name="Shape 6"/>
          <p:cNvSpPr/>
          <p:nvPr/>
        </p:nvSpPr>
        <p:spPr>
          <a:xfrm>
            <a:off x="4297680" y="1645920"/>
            <a:ext cx="3593592" cy="2011680"/>
          </a:xfrm>
          <a:prstGeom prst="roundRect">
            <a:avLst>
              <a:gd name="adj" fmla="val 3636"/>
            </a:avLst>
          </a:prstGeom>
          <a:solidFill>
            <a:srgbClr val="FFFFFF"/>
          </a:solidFill>
          <a:ln w="12700">
            <a:solidFill>
              <a:srgbClr val="E3E8F2"/>
            </a:solidFill>
            <a:prstDash val="solid"/>
          </a:ln>
        </p:spPr>
      </p:sp>
      <p:sp>
        <p:nvSpPr>
          <p:cNvPr id="10" name="Text 7"/>
          <p:cNvSpPr txBox="1"/>
          <p:nvPr/>
        </p:nvSpPr>
        <p:spPr>
          <a:xfrm>
            <a:off x="4480560" y="1737360"/>
            <a:ext cx="3200400" cy="914400"/>
          </a:xfrm>
          <a:prstGeom prst="rect">
            <a:avLst/>
          </a:prstGeom>
          <a:noFill/>
          <a:ln/>
        </p:spPr>
        <p:txBody>
          <a:bodyPr wrap="square" lIns="0" tIns="0" rIns="0" bIns="0" rtlCol="0" anchor="ctr"/>
          <a:lstStyle/>
          <a:p>
            <a:pPr indent="0" marL="0">
              <a:buNone/>
            </a:pPr>
            <a:r>
              <a:rPr lang="en-US" sz="5400" b="1" dirty="0">
                <a:solidFill>
                  <a:srgbClr val="1F8A83"/>
                </a:solidFill>
                <a:latin typeface="Cambria" pitchFamily="34" charset="0"/>
                <a:ea typeface="Cambria" pitchFamily="34" charset="-122"/>
                <a:cs typeface="Cambria" pitchFamily="34" charset="-120"/>
              </a:rPr>
              <a:t>1</a:t>
            </a:r>
            <a:endParaRPr lang="en-US" sz="5400" dirty="0"/>
          </a:p>
        </p:txBody>
      </p:sp>
      <p:sp>
        <p:nvSpPr>
          <p:cNvPr id="11" name="Text 8"/>
          <p:cNvSpPr txBox="1"/>
          <p:nvPr/>
        </p:nvSpPr>
        <p:spPr>
          <a:xfrm>
            <a:off x="448056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embedding model for BOTH indexing and querying</a:t>
            </a:r>
            <a:endParaRPr lang="en-US" sz="1500" dirty="0"/>
          </a:p>
        </p:txBody>
      </p:sp>
      <p:sp>
        <p:nvSpPr>
          <p:cNvPr id="12" name="Shape 9"/>
          <p:cNvSpPr/>
          <p:nvPr/>
        </p:nvSpPr>
        <p:spPr>
          <a:xfrm>
            <a:off x="8046720" y="1645920"/>
            <a:ext cx="3593592" cy="2011680"/>
          </a:xfrm>
          <a:prstGeom prst="roundRect">
            <a:avLst>
              <a:gd name="adj" fmla="val 3636"/>
            </a:avLst>
          </a:prstGeom>
          <a:solidFill>
            <a:srgbClr val="FFF3DC"/>
          </a:solidFill>
          <a:ln w="12700">
            <a:solidFill>
              <a:srgbClr val="F2A541"/>
            </a:solidFill>
            <a:prstDash val="solid"/>
          </a:ln>
        </p:spPr>
      </p:sp>
      <p:sp>
        <p:nvSpPr>
          <p:cNvPr id="13" name="Text 10"/>
          <p:cNvSpPr txBox="1"/>
          <p:nvPr/>
        </p:nvSpPr>
        <p:spPr>
          <a:xfrm>
            <a:off x="8229600" y="1737360"/>
            <a:ext cx="3200400" cy="914400"/>
          </a:xfrm>
          <a:prstGeom prst="rect">
            <a:avLst/>
          </a:prstGeom>
          <a:noFill/>
          <a:ln/>
        </p:spPr>
        <p:txBody>
          <a:bodyPr wrap="square" lIns="0" tIns="0" rIns="0" bIns="0" rtlCol="0" anchor="ctr"/>
          <a:lstStyle/>
          <a:p>
            <a:pPr indent="0" marL="0">
              <a:buNone/>
            </a:pPr>
            <a:r>
              <a:rPr lang="en-US" sz="5400" b="1" dirty="0">
                <a:solidFill>
                  <a:srgbClr val="C8553D"/>
                </a:solidFill>
                <a:latin typeface="Cambria" pitchFamily="34" charset="0"/>
                <a:ea typeface="Cambria" pitchFamily="34" charset="-122"/>
                <a:cs typeface="Cambria" pitchFamily="34" charset="-120"/>
              </a:rPr>
              <a:t>$/hr</a:t>
            </a:r>
            <a:endParaRPr lang="en-US" sz="5400" dirty="0"/>
          </a:p>
        </p:txBody>
      </p:sp>
      <p:sp>
        <p:nvSpPr>
          <p:cNvPr id="14" name="Text 11"/>
          <p:cNvSpPr txBox="1"/>
          <p:nvPr/>
        </p:nvSpPr>
        <p:spPr>
          <a:xfrm>
            <a:off x="8229600" y="2743200"/>
            <a:ext cx="3246120" cy="822960"/>
          </a:xfrm>
          <a:prstGeom prst="rect">
            <a:avLst/>
          </a:prstGeom>
          <a:noFill/>
          <a:ln/>
        </p:spPr>
        <p:txBody>
          <a:bodyPr wrap="square" lIns="0" tIns="0" rIns="0" bIns="0" rtlCol="0" anchor="t"/>
          <a:lstStyle/>
          <a:p>
            <a:pPr indent="0" marL="0">
              <a:buNone/>
            </a:pPr>
            <a:r>
              <a:rPr lang="en-US" sz="1500" dirty="0">
                <a:solidFill>
                  <a:srgbClr val="14213D"/>
                </a:solidFill>
                <a:latin typeface="Calibri" pitchFamily="34" charset="0"/>
                <a:ea typeface="Calibri" pitchFamily="34" charset="-122"/>
                <a:cs typeface="Calibri" pitchFamily="34" charset="-120"/>
              </a:rPr>
              <a:t>index endpoint is billed hourly, even when idle</a:t>
            </a:r>
            <a:endParaRPr lang="en-US" sz="1500" dirty="0"/>
          </a:p>
        </p:txBody>
      </p:sp>
      <p:sp>
        <p:nvSpPr>
          <p:cNvPr id="15" name="Shape 12"/>
          <p:cNvSpPr/>
          <p:nvPr/>
        </p:nvSpPr>
        <p:spPr>
          <a:xfrm>
            <a:off x="548640" y="3931920"/>
            <a:ext cx="11091672" cy="2011680"/>
          </a:xfrm>
          <a:prstGeom prst="roundRect">
            <a:avLst>
              <a:gd name="adj" fmla="val 2727"/>
            </a:avLst>
          </a:prstGeom>
          <a:solidFill>
            <a:srgbClr val="14213D"/>
          </a:solidFill>
          <a:ln w="12700">
            <a:solidFill>
              <a:srgbClr val="14213D"/>
            </a:solidFill>
            <a:prstDash val="solid"/>
          </a:ln>
        </p:spPr>
      </p:sp>
      <p:sp>
        <p:nvSpPr>
          <p:cNvPr id="16" name="Text 13"/>
          <p:cNvSpPr txBox="1"/>
          <p:nvPr/>
        </p:nvSpPr>
        <p:spPr>
          <a:xfrm>
            <a:off x="777240" y="4069080"/>
            <a:ext cx="10634472" cy="173736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@lru_cache(maxsize=1)</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def get_vector_store():          # connects on first use, so /api/health works before GCP is set up</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return VectorSearchVectorStore.from_components(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embedding=get_embeddings(), index_id=..., endpoint_id=..., stream_update=True)</a:t>
            </a:r>
            <a:endParaRPr lang="en-US" sz="14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Three ways to retrieve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9</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similarity</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Top 3 chunks nearest in meaning.</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Fastest and cheapest.</a:t>
            </a: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Default.</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Use when wording matches the documents.</a:t>
            </a:r>
            <a:endParaRPr lang="en-US" sz="16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multiquery</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Gemini rewrites the question several ways, searches each, merges results.</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More LLM calls.</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Use when users phrase things differently from the source.</a:t>
            </a:r>
            <a:endParaRPr lang="en-US" sz="16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1F8A83"/>
                </a:solidFill>
                <a:latin typeface="Cambria" pitchFamily="34" charset="0"/>
                <a:ea typeface="Cambria" pitchFamily="34" charset="-122"/>
                <a:cs typeface="Cambria" pitchFamily="34" charset="-120"/>
              </a:rPr>
              <a:t>contextual</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Fetch 10 chunks, then Gemini trims each to the relevant part.</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Slowest, least noise.</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Use for long, rambling documents.</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1 · RAG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Grounded answering: the prompt is the guardrail</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10</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SYSTEM_PROMPT =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"You are a helpful assistant for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"question-answering tasks.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"Use the following pieces of retrieved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"context to answer the question.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"If you don't know the answer based on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"the context, say that you don't know. "</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"Keep the answer concise and accurate."</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"\n\nContext: {context}"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2E7D4F"/>
                </a:solidFill>
                <a:latin typeface="Cambria" pitchFamily="34" charset="0"/>
                <a:ea typeface="Cambria" pitchFamily="34" charset="-122"/>
                <a:cs typeface="Cambria" pitchFamily="34" charset="-120"/>
              </a:rPr>
              <a:t>Why it works</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Tells the model to use only the context and admit gaps.</a:t>
            </a:r>
            <a:endParaRPr lang="en-US" sz="1400" dirty="0"/>
          </a:p>
        </p:txBody>
      </p:sp>
      <p:sp>
        <p:nvSpPr>
          <p:cNvPr id="11" name="Shape 8"/>
          <p:cNvSpPr/>
          <p:nvPr/>
        </p:nvSpPr>
        <p:spPr>
          <a:xfrm>
            <a:off x="7498080" y="320040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 sources</a:t>
            </a:r>
            <a:endParaRPr lang="en-US" sz="1800" dirty="0"/>
          </a:p>
        </p:txBody>
      </p:sp>
      <p:sp>
        <p:nvSpPr>
          <p:cNvPr id="13" name="Text 10"/>
          <p:cNvSpPr txBox="1"/>
          <p:nvPr/>
        </p:nvSpPr>
        <p:spPr>
          <a:xfrm>
            <a:off x="7680960" y="3794760"/>
            <a:ext cx="3776472" cy="548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Only the answer text is returned.</a:t>
            </a:r>
            <a:endParaRPr lang="en-US" sz="1400" dirty="0"/>
          </a:p>
        </p:txBody>
      </p:sp>
      <p:sp>
        <p:nvSpPr>
          <p:cNvPr id="14" name="Shape 11"/>
          <p:cNvSpPr/>
          <p:nvPr/>
        </p:nvSpPr>
        <p:spPr>
          <a:xfrm>
            <a:off x="7498080" y="466344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0060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Limit: not a guarantee</a:t>
            </a:r>
            <a:endParaRPr lang="en-US" sz="1800" dirty="0"/>
          </a:p>
        </p:txBody>
      </p:sp>
      <p:sp>
        <p:nvSpPr>
          <p:cNvPr id="16" name="Text 13"/>
          <p:cNvSpPr txBox="1"/>
          <p:nvPr/>
        </p:nvSpPr>
        <p:spPr>
          <a:xfrm>
            <a:off x="7680960" y="5257800"/>
            <a:ext cx="3776472" cy="64008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A prompt asks; it does not enforce.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an agent?</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11</a:t>
            </a:r>
            <a:endParaRPr lang="en-US" sz="1000" dirty="0"/>
          </a:p>
        </p:txBody>
      </p:sp>
      <p:sp>
        <p:nvSpPr>
          <p:cNvPr id="6" name="Shape 3"/>
          <p:cNvSpPr/>
          <p:nvPr/>
        </p:nvSpPr>
        <p:spPr>
          <a:xfrm>
            <a:off x="548640" y="2011680"/>
            <a:ext cx="2377440" cy="1280160"/>
          </a:xfrm>
          <a:prstGeom prst="roundRect">
            <a:avLst>
              <a:gd name="adj" fmla="val 5714"/>
            </a:avLst>
          </a:prstGeom>
          <a:solidFill>
            <a:srgbClr val="14213D"/>
          </a:solidFill>
          <a:ln w="12700">
            <a:solidFill>
              <a:srgbClr val="14213D"/>
            </a:solidFill>
            <a:prstDash val="solid"/>
          </a:ln>
        </p:spPr>
      </p:sp>
      <p:sp>
        <p:nvSpPr>
          <p:cNvPr id="7" name="Text 4"/>
          <p:cNvSpPr txBox="1"/>
          <p:nvPr/>
        </p:nvSpPr>
        <p:spPr>
          <a:xfrm>
            <a:off x="62179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LLM</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Gemini</a:t>
            </a:r>
            <a:endParaRPr lang="en-US" sz="1500" dirty="0"/>
          </a:p>
        </p:txBody>
      </p:sp>
      <p:sp>
        <p:nvSpPr>
          <p:cNvPr id="8" name="Text 5"/>
          <p:cNvSpPr txBox="1"/>
          <p:nvPr/>
        </p:nvSpPr>
        <p:spPr>
          <a:xfrm>
            <a:off x="297180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9" name="Shape 6"/>
          <p:cNvSpPr/>
          <p:nvPr/>
        </p:nvSpPr>
        <p:spPr>
          <a:xfrm>
            <a:off x="3566160" y="2011680"/>
            <a:ext cx="2377440" cy="1280160"/>
          </a:xfrm>
          <a:prstGeom prst="roundRect">
            <a:avLst>
              <a:gd name="adj" fmla="val 5714"/>
            </a:avLst>
          </a:prstGeom>
          <a:solidFill>
            <a:srgbClr val="1F8A83"/>
          </a:solidFill>
          <a:ln w="12700">
            <a:solidFill>
              <a:srgbClr val="1F8A83"/>
            </a:solidFill>
            <a:prstDash val="solid"/>
          </a:ln>
        </p:spPr>
      </p:sp>
      <p:sp>
        <p:nvSpPr>
          <p:cNvPr id="10" name="Text 7"/>
          <p:cNvSpPr txBox="1"/>
          <p:nvPr/>
        </p:nvSpPr>
        <p:spPr>
          <a:xfrm>
            <a:off x="3639312" y="2011680"/>
            <a:ext cx="2231136"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Tools</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@tool Python functions</a:t>
            </a:r>
            <a:endParaRPr lang="en-US" sz="1500" dirty="0"/>
          </a:p>
        </p:txBody>
      </p:sp>
      <p:sp>
        <p:nvSpPr>
          <p:cNvPr id="11" name="Text 8"/>
          <p:cNvSpPr txBox="1"/>
          <p:nvPr/>
        </p:nvSpPr>
        <p:spPr>
          <a:xfrm>
            <a:off x="598932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2" name="Shape 9"/>
          <p:cNvSpPr/>
          <p:nvPr/>
        </p:nvSpPr>
        <p:spPr>
          <a:xfrm>
            <a:off x="6583680" y="2011680"/>
            <a:ext cx="2377440" cy="1280160"/>
          </a:xfrm>
          <a:prstGeom prst="roundRect">
            <a:avLst>
              <a:gd name="adj" fmla="val 5714"/>
            </a:avLst>
          </a:prstGeom>
          <a:solidFill>
            <a:srgbClr val="F2A541"/>
          </a:solidFill>
          <a:ln w="12700">
            <a:solidFill>
              <a:srgbClr val="F2A541"/>
            </a:solidFill>
            <a:prstDash val="solid"/>
          </a:ln>
        </p:spPr>
      </p:sp>
      <p:sp>
        <p:nvSpPr>
          <p:cNvPr id="13" name="Text 10"/>
          <p:cNvSpPr txBox="1"/>
          <p:nvPr/>
        </p:nvSpPr>
        <p:spPr>
          <a:xfrm>
            <a:off x="6656832" y="2011680"/>
            <a:ext cx="2231136" cy="1280160"/>
          </a:xfrm>
          <a:prstGeom prst="rect">
            <a:avLst/>
          </a:prstGeom>
          <a:noFill/>
          <a:ln/>
        </p:spPr>
        <p:txBody>
          <a:bodyPr wrap="square" lIns="0" tIns="0" rIns="0" bIns="0" rtlCol="0" anchor="ctr"/>
          <a:lstStyle/>
          <a:p>
            <a:pPr algn="ctr" indent="0" marL="0">
              <a:buNone/>
            </a:pPr>
            <a:r>
              <a:rPr lang="en-US" sz="1500" b="1" dirty="0">
                <a:solidFill>
                  <a:srgbClr val="14213D"/>
                </a:solidFill>
                <a:latin typeface="Calibri" pitchFamily="34" charset="0"/>
                <a:ea typeface="Calibri" pitchFamily="34" charset="-122"/>
                <a:cs typeface="Calibri" pitchFamily="34" charset="-120"/>
              </a:rPr>
              <a:t>System prompt</a:t>
            </a:r>
            <a:endParaRPr lang="en-US" sz="1500" dirty="0"/>
          </a:p>
          <a:p>
            <a:pPr algn="ctr" indent="0" marL="0">
              <a:buNone/>
            </a:pPr>
            <a:r>
              <a:rPr lang="en-US" sz="1100" dirty="0">
                <a:solidFill>
                  <a:srgbClr val="14213D"/>
                </a:solidFill>
                <a:latin typeface="Calibri" pitchFamily="34" charset="0"/>
                <a:ea typeface="Calibri" pitchFamily="34" charset="-122"/>
                <a:cs typeface="Calibri" pitchFamily="34" charset="-120"/>
              </a:rPr>
              <a:t>role + rules + format</a:t>
            </a:r>
            <a:endParaRPr lang="en-US" sz="1500" dirty="0"/>
          </a:p>
        </p:txBody>
      </p:sp>
      <p:sp>
        <p:nvSpPr>
          <p:cNvPr id="14" name="Text 11"/>
          <p:cNvSpPr txBox="1"/>
          <p:nvPr/>
        </p:nvSpPr>
        <p:spPr>
          <a:xfrm>
            <a:off x="9006840" y="2103120"/>
            <a:ext cx="548640" cy="1097280"/>
          </a:xfrm>
          <a:prstGeom prst="rect">
            <a:avLst/>
          </a:prstGeom>
          <a:noFill/>
          <a:ln/>
        </p:spPr>
        <p:txBody>
          <a:bodyPr wrap="square" lIns="0" tIns="0" rIns="0" bIns="0" rtlCol="0" anchor="ctr"/>
          <a:lstStyle/>
          <a:p>
            <a:pPr algn="ctr" indent="0" marL="0">
              <a:buNone/>
            </a:pPr>
            <a:r>
              <a:rPr lang="en-US" sz="4000" b="1" dirty="0">
                <a:solidFill>
                  <a:srgbClr val="5B6478"/>
                </a:solidFill>
                <a:latin typeface="Cambria" pitchFamily="34" charset="0"/>
                <a:ea typeface="Cambria" pitchFamily="34" charset="-122"/>
                <a:cs typeface="Cambria" pitchFamily="34" charset="-120"/>
              </a:rPr>
              <a:t>=</a:t>
            </a:r>
            <a:endParaRPr lang="en-US" sz="4000" dirty="0"/>
          </a:p>
        </p:txBody>
      </p:sp>
      <p:sp>
        <p:nvSpPr>
          <p:cNvPr id="15" name="Shape 12"/>
          <p:cNvSpPr/>
          <p:nvPr/>
        </p:nvSpPr>
        <p:spPr>
          <a:xfrm>
            <a:off x="9601200" y="2011680"/>
            <a:ext cx="2039112" cy="1280160"/>
          </a:xfrm>
          <a:prstGeom prst="roundRect">
            <a:avLst>
              <a:gd name="adj" fmla="val 5714"/>
            </a:avLst>
          </a:prstGeom>
          <a:solidFill>
            <a:srgbClr val="2E7D4F"/>
          </a:solidFill>
          <a:ln w="12700">
            <a:solidFill>
              <a:srgbClr val="2E7D4F"/>
            </a:solidFill>
            <a:prstDash val="solid"/>
          </a:ln>
        </p:spPr>
      </p:sp>
      <p:sp>
        <p:nvSpPr>
          <p:cNvPr id="16" name="Text 13"/>
          <p:cNvSpPr txBox="1"/>
          <p:nvPr/>
        </p:nvSpPr>
        <p:spPr>
          <a:xfrm>
            <a:off x="9674352" y="2011680"/>
            <a:ext cx="1892808" cy="128016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create_agent(...)</a:t>
            </a:r>
            <a:endParaRPr lang="en-US" sz="1500" dirty="0"/>
          </a:p>
        </p:txBody>
      </p:sp>
      <p:sp>
        <p:nvSpPr>
          <p:cNvPr id="17" name="Shape 14"/>
          <p:cNvSpPr/>
          <p:nvPr/>
        </p:nvSpPr>
        <p:spPr>
          <a:xfrm>
            <a:off x="548640" y="3749040"/>
            <a:ext cx="11091672" cy="2194560"/>
          </a:xfrm>
          <a:prstGeom prst="roundRect">
            <a:avLst>
              <a:gd name="adj" fmla="val 3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8" name="Text 15"/>
          <p:cNvSpPr txBox="1"/>
          <p:nvPr/>
        </p:nvSpPr>
        <p:spPr>
          <a:xfrm>
            <a:off x="731520" y="3886200"/>
            <a:ext cx="107259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The four-part prompt recipe in prompts.py</a:t>
            </a:r>
            <a:endParaRPr lang="en-US" sz="1800" dirty="0"/>
          </a:p>
        </p:txBody>
      </p:sp>
      <p:sp>
        <p:nvSpPr>
          <p:cNvPr id="19" name="Text 16"/>
          <p:cNvSpPr txBox="1"/>
          <p:nvPr/>
        </p:nvSpPr>
        <p:spPr>
          <a:xfrm>
            <a:off x="731520" y="4343400"/>
            <a:ext cx="10725912" cy="146304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1  ROLE: who the agent is      2  RESPONSIBILITIES: what it owns</a:t>
            </a: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3  DECISION FRAMEWORK: which tool first, how to read results      4  OUTPUT FORMAT: an exact structure the next step can rely on</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purchase audit flow</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12</a:t>
            </a:r>
            <a:endParaRPr lang="en-US" sz="1000" dirty="0"/>
          </a:p>
        </p:txBody>
      </p:sp>
      <p:sp>
        <p:nvSpPr>
          <p:cNvPr id="6" name="Shape 3"/>
          <p:cNvSpPr/>
          <p:nvPr/>
        </p:nvSpPr>
        <p:spPr>
          <a:xfrm>
            <a:off x="548640" y="2103120"/>
            <a:ext cx="1828800" cy="1188720"/>
          </a:xfrm>
          <a:prstGeom prst="roundRect">
            <a:avLst>
              <a:gd name="adj" fmla="val 6154"/>
            </a:avLst>
          </a:prstGeom>
          <a:solidFill>
            <a:srgbClr val="14213D"/>
          </a:solidFill>
          <a:ln w="12700">
            <a:solidFill>
              <a:srgbClr val="14213D"/>
            </a:solidFill>
            <a:prstDash val="solid"/>
          </a:ln>
        </p:spPr>
      </p:sp>
      <p:sp>
        <p:nvSpPr>
          <p:cNvPr id="7" name="Text 4"/>
          <p:cNvSpPr txBox="1"/>
          <p:nvPr/>
        </p:nvSpPr>
        <p:spPr>
          <a:xfrm>
            <a:off x="621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Purchase request</a:t>
            </a:r>
            <a:endParaRPr lang="en-US" sz="1500" dirty="0"/>
          </a:p>
        </p:txBody>
      </p:sp>
      <p:sp>
        <p:nvSpPr>
          <p:cNvPr id="8" name="Shape 5"/>
          <p:cNvSpPr/>
          <p:nvPr/>
        </p:nvSpPr>
        <p:spPr>
          <a:xfrm>
            <a:off x="2377440" y="2697480"/>
            <a:ext cx="457200" cy="0"/>
          </a:xfrm>
          <a:prstGeom prst="line">
            <a:avLst/>
          </a:prstGeom>
          <a:noFill/>
          <a:ln w="25400">
            <a:solidFill>
              <a:srgbClr val="5B6478"/>
            </a:solidFill>
            <a:prstDash val="solid"/>
            <a:tailEnd type="triangle"/>
          </a:ln>
        </p:spPr>
      </p:sp>
      <p:sp>
        <p:nvSpPr>
          <p:cNvPr id="9" name="Shape 6"/>
          <p:cNvSpPr/>
          <p:nvPr/>
        </p:nvSpPr>
        <p:spPr>
          <a:xfrm>
            <a:off x="2834640" y="2103120"/>
            <a:ext cx="1828800" cy="1188720"/>
          </a:xfrm>
          <a:prstGeom prst="roundRect">
            <a:avLst>
              <a:gd name="adj" fmla="val 6154"/>
            </a:avLst>
          </a:prstGeom>
          <a:solidFill>
            <a:srgbClr val="1F8A83"/>
          </a:solidFill>
          <a:ln w="12700">
            <a:solidFill>
              <a:srgbClr val="1F8A83"/>
            </a:solidFill>
            <a:prstDash val="solid"/>
          </a:ln>
        </p:spPr>
      </p:sp>
      <p:sp>
        <p:nvSpPr>
          <p:cNvPr id="10" name="Text 7"/>
          <p:cNvSpPr txBox="1"/>
          <p:nvPr/>
        </p:nvSpPr>
        <p:spPr>
          <a:xfrm>
            <a:off x="2907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Risk &amp; Compliance</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1</a:t>
            </a:r>
            <a:endParaRPr lang="en-US" sz="1500" dirty="0"/>
          </a:p>
        </p:txBody>
      </p:sp>
      <p:sp>
        <p:nvSpPr>
          <p:cNvPr id="11" name="Shape 8"/>
          <p:cNvSpPr/>
          <p:nvPr/>
        </p:nvSpPr>
        <p:spPr>
          <a:xfrm>
            <a:off x="4663440" y="2697480"/>
            <a:ext cx="457200" cy="0"/>
          </a:xfrm>
          <a:prstGeom prst="line">
            <a:avLst/>
          </a:prstGeom>
          <a:noFill/>
          <a:ln w="25400">
            <a:solidFill>
              <a:srgbClr val="5B6478"/>
            </a:solidFill>
            <a:prstDash val="solid"/>
            <a:tailEnd type="triangle"/>
          </a:ln>
        </p:spPr>
      </p:sp>
      <p:sp>
        <p:nvSpPr>
          <p:cNvPr id="12" name="Shape 9"/>
          <p:cNvSpPr/>
          <p:nvPr/>
        </p:nvSpPr>
        <p:spPr>
          <a:xfrm>
            <a:off x="5120640" y="2103120"/>
            <a:ext cx="1828800" cy="1188720"/>
          </a:xfrm>
          <a:prstGeom prst="roundRect">
            <a:avLst>
              <a:gd name="adj" fmla="val 6154"/>
            </a:avLst>
          </a:prstGeom>
          <a:solidFill>
            <a:srgbClr val="1F8A83"/>
          </a:solidFill>
          <a:ln w="12700">
            <a:solidFill>
              <a:srgbClr val="1F8A83"/>
            </a:solidFill>
            <a:prstDash val="solid"/>
          </a:ln>
        </p:spPr>
      </p:sp>
      <p:sp>
        <p:nvSpPr>
          <p:cNvPr id="13" name="Text 10"/>
          <p:cNvSpPr txBox="1"/>
          <p:nvPr/>
        </p:nvSpPr>
        <p:spPr>
          <a:xfrm>
            <a:off x="5193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Tax &amp; Treasury</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2</a:t>
            </a:r>
            <a:endParaRPr lang="en-US" sz="1500" dirty="0"/>
          </a:p>
        </p:txBody>
      </p:sp>
      <p:sp>
        <p:nvSpPr>
          <p:cNvPr id="14" name="Shape 11"/>
          <p:cNvSpPr/>
          <p:nvPr/>
        </p:nvSpPr>
        <p:spPr>
          <a:xfrm>
            <a:off x="6949440" y="2697480"/>
            <a:ext cx="457200" cy="0"/>
          </a:xfrm>
          <a:prstGeom prst="line">
            <a:avLst/>
          </a:prstGeom>
          <a:noFill/>
          <a:ln w="25400">
            <a:solidFill>
              <a:srgbClr val="5B6478"/>
            </a:solidFill>
            <a:prstDash val="solid"/>
            <a:tailEnd type="triangle"/>
          </a:ln>
        </p:spPr>
      </p:sp>
      <p:sp>
        <p:nvSpPr>
          <p:cNvPr id="15" name="Shape 12"/>
          <p:cNvSpPr/>
          <p:nvPr/>
        </p:nvSpPr>
        <p:spPr>
          <a:xfrm>
            <a:off x="7406640" y="2103120"/>
            <a:ext cx="1828800" cy="1188720"/>
          </a:xfrm>
          <a:prstGeom prst="roundRect">
            <a:avLst>
              <a:gd name="adj" fmla="val 6154"/>
            </a:avLst>
          </a:prstGeom>
          <a:solidFill>
            <a:srgbClr val="1F8A83"/>
          </a:solidFill>
          <a:ln w="12700">
            <a:solidFill>
              <a:srgbClr val="1F8A83"/>
            </a:solidFill>
            <a:prstDash val="solid"/>
          </a:ln>
        </p:spPr>
      </p:sp>
      <p:sp>
        <p:nvSpPr>
          <p:cNvPr id="16" name="Text 13"/>
          <p:cNvSpPr txBox="1"/>
          <p:nvPr/>
        </p:nvSpPr>
        <p:spPr>
          <a:xfrm>
            <a:off x="7479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Financial Control</a:t>
            </a:r>
            <a:endParaRPr lang="en-US" sz="1500" dirty="0"/>
          </a:p>
          <a:p>
            <a:pPr algn="ctr" indent="0" marL="0">
              <a:buNone/>
            </a:pPr>
            <a:r>
              <a:rPr lang="en-US" sz="1100" dirty="0">
                <a:solidFill>
                  <a:srgbClr val="FFFFFF"/>
                </a:solidFill>
                <a:latin typeface="Calibri" pitchFamily="34" charset="0"/>
                <a:ea typeface="Calibri" pitchFamily="34" charset="-122"/>
                <a:cs typeface="Calibri" pitchFamily="34" charset="-120"/>
              </a:rPr>
              <a:t>agent 3</a:t>
            </a:r>
            <a:endParaRPr lang="en-US" sz="1500" dirty="0"/>
          </a:p>
        </p:txBody>
      </p:sp>
      <p:sp>
        <p:nvSpPr>
          <p:cNvPr id="17" name="Shape 14"/>
          <p:cNvSpPr/>
          <p:nvPr/>
        </p:nvSpPr>
        <p:spPr>
          <a:xfrm>
            <a:off x="9235440" y="2697480"/>
            <a:ext cx="457200" cy="0"/>
          </a:xfrm>
          <a:prstGeom prst="line">
            <a:avLst/>
          </a:prstGeom>
          <a:noFill/>
          <a:ln w="25400">
            <a:solidFill>
              <a:srgbClr val="5B6478"/>
            </a:solidFill>
            <a:prstDash val="solid"/>
            <a:tailEnd type="triangle"/>
          </a:ln>
        </p:spPr>
      </p:sp>
      <p:sp>
        <p:nvSpPr>
          <p:cNvPr id="18" name="Shape 15"/>
          <p:cNvSpPr/>
          <p:nvPr/>
        </p:nvSpPr>
        <p:spPr>
          <a:xfrm>
            <a:off x="9692640" y="2103120"/>
            <a:ext cx="1828800" cy="1188720"/>
          </a:xfrm>
          <a:prstGeom prst="roundRect">
            <a:avLst>
              <a:gd name="adj" fmla="val 6154"/>
            </a:avLst>
          </a:prstGeom>
          <a:solidFill>
            <a:srgbClr val="2E7D4F"/>
          </a:solidFill>
          <a:ln w="12700">
            <a:solidFill>
              <a:srgbClr val="2E7D4F"/>
            </a:solidFill>
            <a:prstDash val="solid"/>
          </a:ln>
        </p:spPr>
      </p:sp>
      <p:sp>
        <p:nvSpPr>
          <p:cNvPr id="19" name="Text 16"/>
          <p:cNvSpPr txBox="1"/>
          <p:nvPr/>
        </p:nvSpPr>
        <p:spPr>
          <a:xfrm>
            <a:off x="9765792" y="2103120"/>
            <a:ext cx="1682496" cy="118872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CFO memo</a:t>
            </a:r>
            <a:endParaRPr lang="en-US" sz="1500" dirty="0"/>
          </a:p>
        </p:txBody>
      </p:sp>
      <p:sp>
        <p:nvSpPr>
          <p:cNvPr id="20" name="Shape 17"/>
          <p:cNvSpPr/>
          <p:nvPr/>
        </p:nvSpPr>
        <p:spPr>
          <a:xfrm>
            <a:off x="548640"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1" name="Text 18"/>
          <p:cNvSpPr txBox="1"/>
          <p:nvPr/>
        </p:nvSpPr>
        <p:spPr>
          <a:xfrm>
            <a:off x="731520"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Sequential, not parallel</a:t>
            </a:r>
            <a:endParaRPr lang="en-US" sz="1800" dirty="0"/>
          </a:p>
        </p:txBody>
      </p:sp>
      <p:sp>
        <p:nvSpPr>
          <p:cNvPr id="22" name="Text 19"/>
          <p:cNvSpPr txBox="1"/>
          <p:nvPr/>
        </p:nvSpPr>
        <p:spPr>
          <a:xfrm>
            <a:off x="731520" y="4434840"/>
            <a:ext cx="5074920"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Each agent runs after the previous one. The three are independent, so parallel runs would cut the wait.</a:t>
            </a:r>
            <a:endParaRPr lang="en-US" sz="1400" dirty="0"/>
          </a:p>
        </p:txBody>
      </p:sp>
      <p:sp>
        <p:nvSpPr>
          <p:cNvPr id="23" name="Shape 20"/>
          <p:cNvSpPr/>
          <p:nvPr/>
        </p:nvSpPr>
        <p:spPr>
          <a:xfrm>
            <a:off x="6199632" y="3840480"/>
            <a:ext cx="5440680"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4" name="Text 21"/>
          <p:cNvSpPr txBox="1"/>
          <p:nvPr/>
        </p:nvSpPr>
        <p:spPr>
          <a:xfrm>
            <a:off x="6382512" y="3977640"/>
            <a:ext cx="5074920"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About 11+ model calls</a:t>
            </a:r>
            <a:endParaRPr lang="en-US" sz="1800" dirty="0"/>
          </a:p>
        </p:txBody>
      </p:sp>
      <p:sp>
        <p:nvSpPr>
          <p:cNvPr id="25" name="Text 22"/>
          <p:cNvSpPr txBox="1"/>
          <p:nvPr/>
        </p:nvSpPr>
        <p:spPr>
          <a:xfrm>
            <a:off x="6382512" y="4434840"/>
            <a:ext cx="5074920" cy="137160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Agent reasoning, tool-internal calls and the CFO call add up (README estimate, not measured).</a:t>
            </a:r>
            <a:endParaRPr lang="en-US" sz="1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five tools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13</a:t>
            </a:r>
            <a:endParaRPr lang="en-US" sz="10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914400"/>
        </p:xfrm>
        <a:graphic>
          <a:graphicData uri="http://schemas.openxmlformats.org/drawingml/2006/table">
            <a:tbl>
              <a:tblPr/>
              <a:tblGrid>
                <a:gridCol w="4754880"/>
                <a:gridCol w="1828800"/>
                <a:gridCol w="4507992"/>
              </a:tblGrid>
              <a:tr h="548640">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Tool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Agent</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c>
                  <a:txBody>
                    <a:bodyPr/>
                    <a:lstStyle/>
                    <a:p>
                      <a:pPr indent="0" marL="0">
                        <a:buNone/>
                      </a:pPr>
                      <a:r>
                        <a:rPr lang="en-US" sz="1500" b="1" dirty="0">
                          <a:solidFill>
                            <a:srgbClr val="FFFFFF"/>
                          </a:solidFill>
                          <a:latin typeface="Calibri" pitchFamily="34" charset="0"/>
                          <a:ea typeface="Calibri" pitchFamily="34" charset="-122"/>
                          <a:cs typeface="Calibri" pitchFamily="34" charset="-120"/>
                        </a:rPr>
                        <a:t>Data source</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14213D"/>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check_sanctions_list</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get_vendor_credit_score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Risk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calculate_cross_border_tax</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validate_fx_hedge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Tax</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2E7D4F"/>
                          </a:solidFill>
                          <a:latin typeface="Calibri" pitchFamily="34" charset="0"/>
                          <a:ea typeface="Calibri" pitchFamily="34" charset="-122"/>
                          <a:cs typeface="Calibri" pitchFamily="34" charset="-120"/>
                        </a:rPr>
                        <a:t>Live Frankfurter API, LLM fallback</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r h="548640">
                <a:tc>
                  <a:txBody>
                    <a:bodyPr/>
                    <a:lstStyle/>
                    <a:p>
                      <a:pPr indent="0" marL="0">
                        <a:buNone/>
                      </a:pPr>
                      <a:r>
                        <a:rPr lang="en-US" sz="1400" dirty="0">
                          <a:solidFill>
                            <a:srgbClr val="14213D"/>
                          </a:solidFill>
                          <a:latin typeface="Courier New" pitchFamily="34" charset="0"/>
                          <a:ea typeface="Courier New" pitchFamily="34" charset="-122"/>
                          <a:cs typeface="Courier New" pitchFamily="34" charset="-120"/>
                        </a:rPr>
                        <a:t>categorize_expense</a:t>
                      </a:r>
                      <a:endParaRPr lang="en-US" sz="1400" dirty="0">
                        <a:latin typeface="Courier New" charset="0"/>
                        <a:ea typeface="Courier New" charset="0"/>
                        <a:cs typeface="Courier New"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dirty="0">
                          <a:solidFill>
                            <a:srgbClr val="14213D"/>
                          </a:solidFill>
                          <a:latin typeface="Calibri" pitchFamily="34" charset="0"/>
                          <a:ea typeface="Calibri" pitchFamily="34" charset="-122"/>
                          <a:cs typeface="Calibri" pitchFamily="34" charset="-120"/>
                        </a:rPr>
                        <a:t>Control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c>
                  <a:txBody>
                    <a:bodyPr/>
                    <a:lstStyle/>
                    <a:p>
                      <a:pPr indent="0" marL="0">
                        <a:buNone/>
                      </a:pPr>
                      <a:r>
                        <a:rPr lang="en-US" sz="1500" b="1" dirty="0">
                          <a:solidFill>
                            <a:srgbClr val="C8553D"/>
                          </a:solidFill>
                          <a:latin typeface="Calibri" pitchFamily="34" charset="0"/>
                          <a:ea typeface="Calibri" pitchFamily="34" charset="-122"/>
                          <a:cs typeface="Calibri" pitchFamily="34" charset="-120"/>
                        </a:rPr>
                        <a:t>LLM recall</a:t>
                      </a:r>
                      <a:endParaRPr lang="en-US" sz="1500" dirty="0">
                        <a:latin typeface="Calibri" charset="0"/>
                        <a:ea typeface="Calibri" charset="0"/>
                        <a:cs typeface="Calibri" charset="0"/>
                      </a:endParaRPr>
                    </a:p>
                  </a:txBody>
                  <a:tcPr marL="109728" marR="109728" marT="0" marB="0" anchor="ctr">
                    <a:lnL w="12700" cap="flat" cmpd="sng" algn="ctr">
                      <a:solidFill>
                        <a:srgbClr val="E3E8F2"/>
                      </a:solidFill>
                      <a:prstDash val="solid"/>
                      <a:round/>
                      <a:headEnd type="none" w="med" len="med"/>
                      <a:tailEnd type="none" w="med" len="med"/>
                    </a:lnL>
                    <a:lnR w="12700" cap="flat" cmpd="sng" algn="ctr">
                      <a:solidFill>
                        <a:srgbClr val="E3E8F2"/>
                      </a:solidFill>
                      <a:prstDash val="solid"/>
                      <a:round/>
                      <a:headEnd type="none" w="med" len="med"/>
                      <a:tailEnd type="none" w="med" len="med"/>
                    </a:lnR>
                    <a:lnT w="12700" cap="flat" cmpd="sng" algn="ctr">
                      <a:solidFill>
                        <a:srgbClr val="E3E8F2"/>
                      </a:solidFill>
                      <a:prstDash val="solid"/>
                      <a:round/>
                      <a:headEnd type="none" w="med" len="med"/>
                      <a:tailEnd type="none" w="med" len="med"/>
                    </a:lnT>
                    <a:lnB w="12700" cap="flat" cmpd="sng" algn="ctr">
                      <a:solidFill>
                        <a:srgbClr val="E3E8F2"/>
                      </a:solidFill>
                      <a:prstDash val="solid"/>
                      <a:round/>
                      <a:headEnd type="none" w="med" len="med"/>
                      <a:tailEnd type="none" w="med" len="med"/>
                    </a:lnB>
                    <a:solidFill>
                      <a:srgbClr val="FFFFFF"/>
                    </a:solidFill>
                  </a:tcPr>
                </a:tc>
              </a:tr>
            </a:tbl>
          </a:graphicData>
        </a:graphic>
      </p:graphicFrame>
      <p:sp>
        <p:nvSpPr>
          <p:cNvPr id="7" name="Text 3"/>
          <p:cNvSpPr txBox="1"/>
          <p:nvPr/>
        </p:nvSpPr>
        <p:spPr>
          <a:xfrm>
            <a:off x="548640" y="5486400"/>
            <a:ext cx="11064240" cy="457200"/>
          </a:xfrm>
          <a:prstGeom prst="rect">
            <a:avLst/>
          </a:prstGeom>
          <a:noFill/>
          <a:ln/>
        </p:spPr>
        <p:txBody>
          <a:bodyPr wrap="square" lIns="0" tIns="0" rIns="0" bIns="0" rtlCol="0" anchor="ctr"/>
          <a:lstStyle/>
          <a:p>
            <a:pPr indent="0" marL="0">
              <a:buNone/>
            </a:pPr>
            <a:r>
              <a:rPr lang="en-US" sz="1800" b="1" dirty="0">
                <a:solidFill>
                  <a:srgbClr val="14213D"/>
                </a:solidFill>
                <a:latin typeface="Calibri" pitchFamily="34" charset="0"/>
                <a:ea typeface="Calibri" pitchFamily="34" charset="-122"/>
                <a:cs typeface="Calibri" pitchFamily="34" charset="-120"/>
              </a:rPr>
              <a:t>Docstrings are sent to the model as tool descriptions. Wording changes behavior.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The CFO step: rules in the prompt, not in code</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14</a:t>
            </a:r>
            <a:endParaRPr lang="en-US" sz="1000" dirty="0"/>
          </a:p>
        </p:txBody>
      </p:sp>
      <p:sp>
        <p:nvSpPr>
          <p:cNvPr id="6" name="Shape 3"/>
          <p:cNvSpPr/>
          <p:nvPr/>
        </p:nvSpPr>
        <p:spPr>
          <a:xfrm>
            <a:off x="548640" y="1645920"/>
            <a:ext cx="3593592" cy="3108960"/>
          </a:xfrm>
          <a:prstGeom prst="roundRect">
            <a:avLst>
              <a:gd name="adj" fmla="val 2353"/>
            </a:avLst>
          </a:prstGeom>
          <a:solidFill>
            <a:srgbClr val="FFFFFF"/>
          </a:solidFill>
          <a:ln w="12700">
            <a:solidFill>
              <a:srgbClr val="C8553D"/>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400" b="1" dirty="0">
                <a:solidFill>
                  <a:srgbClr val="C8553D"/>
                </a:solidFill>
                <a:latin typeface="Cambria" pitchFamily="34" charset="0"/>
                <a:ea typeface="Cambria" pitchFamily="34" charset="-122"/>
                <a:cs typeface="Cambria" pitchFamily="34" charset="-120"/>
              </a:rPr>
              <a:t>RED ALERT</a:t>
            </a:r>
            <a:endParaRPr lang="en-US" sz="2400" dirty="0"/>
          </a:p>
        </p:txBody>
      </p:sp>
      <p:sp>
        <p:nvSpPr>
          <p:cNvPr id="8" name="Text 5"/>
          <p:cNvSpPr txBox="1"/>
          <p:nvPr/>
        </p:nvSpPr>
        <p:spPr>
          <a:xfrm>
            <a:off x="73152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it.</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REJECTED.</a:t>
            </a:r>
            <a:endParaRPr lang="en-US" sz="1700" dirty="0"/>
          </a:p>
        </p:txBody>
      </p:sp>
      <p:sp>
        <p:nvSpPr>
          <p:cNvPr id="9" name="Shape 6"/>
          <p:cNvSpPr/>
          <p:nvPr/>
        </p:nvSpPr>
        <p:spPr>
          <a:xfrm>
            <a:off x="4297680" y="1645920"/>
            <a:ext cx="3593592" cy="3108960"/>
          </a:xfrm>
          <a:prstGeom prst="roundRect">
            <a:avLst>
              <a:gd name="adj" fmla="val 2353"/>
            </a:avLst>
          </a:prstGeom>
          <a:solidFill>
            <a:srgbClr val="FFFFFF"/>
          </a:solidFill>
          <a:ln w="12700">
            <a:solidFill>
              <a:srgbClr val="F2A541"/>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400" b="1" dirty="0">
                <a:solidFill>
                  <a:srgbClr val="B7791F"/>
                </a:solidFill>
                <a:latin typeface="Cambria" pitchFamily="34" charset="0"/>
                <a:ea typeface="Cambria" pitchFamily="34" charset="-122"/>
                <a:cs typeface="Cambria" pitchFamily="34" charset="-120"/>
              </a:rPr>
              <a:t>FX ALERT or HOLD</a:t>
            </a:r>
            <a:endParaRPr lang="en-US" sz="2400" dirty="0"/>
          </a:p>
        </p:txBody>
      </p:sp>
      <p:sp>
        <p:nvSpPr>
          <p:cNvPr id="11" name="Text 8"/>
          <p:cNvSpPr txBox="1"/>
          <p:nvPr/>
        </p:nvSpPr>
        <p:spPr>
          <a:xfrm>
            <a:off x="448056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Any report contains either.</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CONDITIONAL HOLD with conditions listed.</a:t>
            </a:r>
            <a:endParaRPr lang="en-US" sz="1700" dirty="0"/>
          </a:p>
        </p:txBody>
      </p:sp>
      <p:sp>
        <p:nvSpPr>
          <p:cNvPr id="12" name="Shape 9"/>
          <p:cNvSpPr/>
          <p:nvPr/>
        </p:nvSpPr>
        <p:spPr>
          <a:xfrm>
            <a:off x="8046720" y="1645920"/>
            <a:ext cx="3593592" cy="3108960"/>
          </a:xfrm>
          <a:prstGeom prst="roundRect">
            <a:avLst>
              <a:gd name="adj" fmla="val 2353"/>
            </a:avLst>
          </a:prstGeom>
          <a:solidFill>
            <a:srgbClr val="FFFFFF"/>
          </a:solidFill>
          <a:ln w="12700">
            <a:solidFill>
              <a:srgbClr val="2E7D4F"/>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400" b="1" dirty="0">
                <a:solidFill>
                  <a:srgbClr val="2E7D4F"/>
                </a:solidFill>
                <a:latin typeface="Cambria" pitchFamily="34" charset="0"/>
                <a:ea typeface="Cambria" pitchFamily="34" charset="-122"/>
                <a:cs typeface="Cambria" pitchFamily="34" charset="-120"/>
              </a:rPr>
              <a:t>All APPROVED</a:t>
            </a:r>
            <a:endParaRPr lang="en-US" sz="2400" dirty="0"/>
          </a:p>
        </p:txBody>
      </p:sp>
      <p:sp>
        <p:nvSpPr>
          <p:cNvPr id="14" name="Text 11"/>
          <p:cNvSpPr txBox="1"/>
          <p:nvPr/>
        </p:nvSpPr>
        <p:spPr>
          <a:xfrm>
            <a:off x="8229600" y="2240280"/>
            <a:ext cx="3227832" cy="2377440"/>
          </a:xfrm>
          <a:prstGeom prst="rect">
            <a:avLst/>
          </a:prstGeom>
          <a:noFill/>
          <a:ln/>
        </p:spPr>
        <p:txBody>
          <a:bodyPr wrap="square" lIns="0" tIns="0" rIns="0" bIns="0" rtlCol="0" anchor="t"/>
          <a:lstStyle/>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Every report approved or successful.</a:t>
            </a:r>
            <a:endParaRPr lang="en-US" sz="1700" dirty="0"/>
          </a:p>
          <a:p>
            <a:pPr indent="0" marL="0">
              <a:spcAft>
                <a:spcPts val="400"/>
              </a:spcAft>
              <a:buNone/>
            </a:pPr>
            <a:endParaRPr lang="en-US" sz="1700" dirty="0"/>
          </a:p>
          <a:p>
            <a:pPr indent="0" marL="0">
              <a:spcAft>
                <a:spcPts val="400"/>
              </a:spcAft>
              <a:buNone/>
            </a:pPr>
            <a:r>
              <a:rPr lang="en-US" sz="1700" dirty="0">
                <a:solidFill>
                  <a:srgbClr val="5B6478"/>
                </a:solidFill>
                <a:latin typeface="Calibri" pitchFamily="34" charset="0"/>
                <a:ea typeface="Calibri" pitchFamily="34" charset="-122"/>
                <a:cs typeface="Calibri" pitchFamily="34" charset="-120"/>
              </a:rPr>
              <a:t>Final verdict: APPROVED TO PAY.</a:t>
            </a:r>
            <a:endParaRPr lang="en-US" sz="1700" dirty="0"/>
          </a:p>
        </p:txBody>
      </p:sp>
      <p:sp>
        <p:nvSpPr>
          <p:cNvPr id="15" name="Shape 12"/>
          <p:cNvSpPr/>
          <p:nvPr/>
        </p:nvSpPr>
        <p:spPr>
          <a:xfrm>
            <a:off x="548640" y="5029200"/>
            <a:ext cx="11091672" cy="960120"/>
          </a:xfrm>
          <a:prstGeom prst="roundRect">
            <a:avLst>
              <a:gd name="adj" fmla="val 7619"/>
            </a:avLst>
          </a:prstGeom>
          <a:solidFill>
            <a:srgbClr val="FFF3DC"/>
          </a:solidFill>
          <a:ln w="12700">
            <a:solidFill>
              <a:srgbClr val="F2A541"/>
            </a:solidFill>
            <a:prstDash val="solid"/>
          </a:ln>
        </p:spPr>
      </p:sp>
      <p:sp>
        <p:nvSpPr>
          <p:cNvPr id="16" name="Text 13"/>
          <p:cNvSpPr txBox="1"/>
          <p:nvPr/>
        </p:nvSpPr>
        <p:spPr>
          <a:xfrm>
            <a:off x="777240" y="5074920"/>
            <a:ext cx="10607040" cy="868680"/>
          </a:xfrm>
          <a:prstGeom prst="rect">
            <a:avLst/>
          </a:prstGeom>
          <a:noFill/>
          <a:ln/>
        </p:spPr>
        <p:txBody>
          <a:bodyPr wrap="square" lIns="0" tIns="0" rIns="0" bIns="0" rtlCol="0" anchor="ctr"/>
          <a:lstStyle/>
          <a:p>
            <a:pPr indent="0" marL="0">
              <a:buNone/>
            </a:pPr>
            <a:r>
              <a:rPr lang="en-US" sz="1700" b="1" dirty="0">
                <a:solidFill>
                  <a:srgbClr val="14213D"/>
                </a:solidFill>
                <a:latin typeface="Calibri" pitchFamily="34" charset="0"/>
                <a:ea typeface="Calibri" pitchFamily="34" charset="-122"/>
                <a:cs typeface="Calibri" pitchFamily="34" charset="-120"/>
              </a:rPr>
              <a:t>Discuss: </a:t>
            </a:r>
            <a:pPr indent="0" marL="0">
              <a:buNone/>
            </a:pPr>
            <a:r>
              <a:rPr lang="en-US" sz="1700" dirty="0">
                <a:solidFill>
                  <a:srgbClr val="14213D"/>
                </a:solidFill>
                <a:latin typeface="Calibri" pitchFamily="34" charset="0"/>
                <a:ea typeface="Calibri" pitchFamily="34" charset="-122"/>
                <a:cs typeface="Calibri" pitchFamily="34" charset="-120"/>
              </a:rPr>
              <a:t>these strings are matched by the CFO model, not by code. Where should a hard business rule live?</a:t>
            </a:r>
            <a:endParaRPr lang="en-US" sz="17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PART 2 · AGENTS</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Code walk-through: ProcurementSupervisor</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15</a:t>
            </a:r>
            <a:endParaRPr lang="en-US" sz="1000" dirty="0"/>
          </a:p>
        </p:txBody>
      </p:sp>
      <p:sp>
        <p:nvSpPr>
          <p:cNvPr id="6" name="Shape 3"/>
          <p:cNvSpPr/>
          <p:nvPr/>
        </p:nvSpPr>
        <p:spPr>
          <a:xfrm>
            <a:off x="548640" y="1645920"/>
            <a:ext cx="704088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583680" cy="4114800"/>
          </a:xfrm>
          <a:prstGeom prst="rect">
            <a:avLst/>
          </a:prstGeom>
          <a:noFill/>
          <a:ln/>
        </p:spPr>
        <p:txBody>
          <a:bodyPr wrap="square" lIns="0" tIns="0" rIns="0" bIns="0" rtlCol="0" anchor="t"/>
          <a:lstStyle/>
          <a:p>
            <a:pPr indent="0" marL="0">
              <a:buNone/>
            </a:pPr>
            <a:r>
              <a:rPr lang="en-US" sz="1300" dirty="0">
                <a:solidFill>
                  <a:srgbClr val="E8ECF5"/>
                </a:solidFill>
                <a:latin typeface="Courier New" pitchFamily="34" charset="0"/>
                <a:ea typeface="Courier New" pitchFamily="34" charset="-122"/>
                <a:cs typeface="Courier New" pitchFamily="34" charset="-120"/>
              </a:rPr>
              <a:t>class ProcurementSupervisor:</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__init__(self):</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self.risk_agent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[check_sanctions_list,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get_vendor_credit_score], RISK_AGENT_PROMPT)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self.tax_agent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[calculate_cross_border_tax,</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validate_fx_hedge], TAX_AGENT_PROMPT)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self.control_agent = create_specialized_agent(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[categorize_expense], CONTROL_AGENT_PROMPT)</a:t>
            </a:r>
            <a:endParaRPr lang="en-US" sz="1300" dirty="0"/>
          </a:p>
          <a:p>
            <a:pPr indent="0" marL="0">
              <a:buNone/>
            </a:pP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def run_audit(self,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risk = self._invoke_agent(self.risk_agent,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tax = self._invoke_agent(self.tax_agent,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ctrl = self._invoke_agent(self.control_agent, request)</a:t>
            </a:r>
            <a:endParaRPr lang="en-US" sz="1300" dirty="0"/>
          </a:p>
          <a:p>
            <a:pPr indent="0" marL="0">
              <a:buNone/>
            </a:pPr>
            <a:r>
              <a:rPr lang="en-US" sz="1300" dirty="0">
                <a:solidFill>
                  <a:srgbClr val="E8ECF5"/>
                </a:solidFill>
                <a:latin typeface="Courier New" pitchFamily="34" charset="0"/>
                <a:ea typeface="Courier New" pitchFamily="34" charset="-122"/>
                <a:cs typeface="Courier New" pitchFamily="34" charset="-120"/>
              </a:rPr>
              <a:t>    return {..., "cfo_memo": cfo_memo}</a:t>
            </a:r>
            <a:endParaRPr lang="en-US" sz="1300" dirty="0"/>
          </a:p>
        </p:txBody>
      </p:sp>
      <p:sp>
        <p:nvSpPr>
          <p:cNvPr id="8" name="Shape 5"/>
          <p:cNvSpPr/>
          <p:nvPr/>
        </p:nvSpPr>
        <p:spPr>
          <a:xfrm>
            <a:off x="7863840" y="164592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8046720" y="178308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Focused toolsets</a:t>
            </a:r>
            <a:endParaRPr lang="en-US" sz="1800" dirty="0"/>
          </a:p>
        </p:txBody>
      </p:sp>
      <p:sp>
        <p:nvSpPr>
          <p:cNvPr id="10" name="Text 7"/>
          <p:cNvSpPr txBox="1"/>
          <p:nvPr/>
        </p:nvSpPr>
        <p:spPr>
          <a:xfrm>
            <a:off x="8046720" y="2240280"/>
            <a:ext cx="3410712" cy="64008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Each agent only gets the tools it needs.</a:t>
            </a:r>
            <a:endParaRPr lang="en-US" sz="1400" dirty="0"/>
          </a:p>
        </p:txBody>
      </p:sp>
      <p:sp>
        <p:nvSpPr>
          <p:cNvPr id="11" name="Shape 8"/>
          <p:cNvSpPr/>
          <p:nvPr/>
        </p:nvSpPr>
        <p:spPr>
          <a:xfrm>
            <a:off x="7863840" y="3200400"/>
            <a:ext cx="377647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8046720" y="333756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Errors bubble up</a:t>
            </a:r>
            <a:endParaRPr lang="en-US" sz="1800" dirty="0"/>
          </a:p>
        </p:txBody>
      </p:sp>
      <p:sp>
        <p:nvSpPr>
          <p:cNvPr id="13" name="Text 10"/>
          <p:cNvSpPr txBox="1"/>
          <p:nvPr/>
        </p:nvSpPr>
        <p:spPr>
          <a:xfrm>
            <a:off x="8046720" y="3794760"/>
            <a:ext cx="3410712" cy="64008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The route turns them into HTTP 500.</a:t>
            </a:r>
            <a:endParaRPr lang="en-US" sz="1400" dirty="0"/>
          </a:p>
        </p:txBody>
      </p:sp>
      <p:sp>
        <p:nvSpPr>
          <p:cNvPr id="14" name="Shape 11"/>
          <p:cNvSpPr/>
          <p:nvPr/>
        </p:nvSpPr>
        <p:spPr>
          <a:xfrm>
            <a:off x="7863840" y="4754880"/>
            <a:ext cx="377647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8046720" y="4892040"/>
            <a:ext cx="341071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Run without the UI</a:t>
            </a:r>
            <a:endParaRPr lang="en-US" sz="1800" dirty="0"/>
          </a:p>
        </p:txBody>
      </p:sp>
      <p:sp>
        <p:nvSpPr>
          <p:cNvPr id="16" name="Text 13"/>
          <p:cNvSpPr txBox="1"/>
          <p:nvPr/>
        </p:nvSpPr>
        <p:spPr>
          <a:xfrm>
            <a:off x="8046720" y="5349240"/>
            <a:ext cx="3410712" cy="548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python -m agent.agents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ENGINEERING</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Engineering patterns worth copying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16</a:t>
            </a:r>
            <a:endParaRPr lang="en-US" sz="1000" dirty="0"/>
          </a:p>
        </p:txBody>
      </p:sp>
      <p:sp>
        <p:nvSpPr>
          <p:cNvPr id="6" name="Shape 3"/>
          <p:cNvSpPr/>
          <p:nvPr/>
        </p:nvSpPr>
        <p:spPr>
          <a:xfrm>
            <a:off x="54864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Lazy + cached clients</a:t>
            </a:r>
            <a:endParaRPr lang="en-US" sz="1800" dirty="0"/>
          </a:p>
        </p:txBody>
      </p:sp>
      <p:sp>
        <p:nvSpPr>
          <p:cNvPr id="8" name="Text 5"/>
          <p:cNvSpPr txBox="1"/>
          <p:nvPr/>
        </p:nvSpPr>
        <p:spPr>
          <a:xfrm>
            <a:off x="731520" y="2240280"/>
            <a:ext cx="3227832" cy="1371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@lru_cache factories; health works before GCP is set up.</a:t>
            </a:r>
            <a:endParaRPr lang="en-US" sz="1500" dirty="0"/>
          </a:p>
        </p:txBody>
      </p:sp>
      <p:sp>
        <p:nvSpPr>
          <p:cNvPr id="9" name="Shape 6"/>
          <p:cNvSpPr/>
          <p:nvPr/>
        </p:nvSpPr>
        <p:spPr>
          <a:xfrm>
            <a:off x="429768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Thin routes</a:t>
            </a:r>
            <a:endParaRPr lang="en-US" sz="1800" dirty="0"/>
          </a:p>
        </p:txBody>
      </p:sp>
      <p:sp>
        <p:nvSpPr>
          <p:cNvPr id="11" name="Text 8"/>
          <p:cNvSpPr txBox="1"/>
          <p:nvPr/>
        </p:nvSpPr>
        <p:spPr>
          <a:xfrm>
            <a:off x="4480560" y="2240280"/>
            <a:ext cx="3227832" cy="1371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Validate, call rag/ or agent/, return JSON.</a:t>
            </a:r>
            <a:endParaRPr lang="en-US" sz="1500" dirty="0"/>
          </a:p>
        </p:txBody>
      </p:sp>
      <p:sp>
        <p:nvSpPr>
          <p:cNvPr id="12" name="Shape 9"/>
          <p:cNvSpPr/>
          <p:nvPr/>
        </p:nvSpPr>
        <p:spPr>
          <a:xfrm>
            <a:off x="8046720" y="164592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settings object</a:t>
            </a:r>
            <a:endParaRPr lang="en-US" sz="1800" dirty="0"/>
          </a:p>
        </p:txBody>
      </p:sp>
      <p:sp>
        <p:nvSpPr>
          <p:cNvPr id="14" name="Text 11"/>
          <p:cNvSpPr txBox="1"/>
          <p:nvPr/>
        </p:nvSpPr>
        <p:spPr>
          <a:xfrm>
            <a:off x="8229600" y="2240280"/>
            <a:ext cx="3227832" cy="1371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config.settings, never os.environ in code.</a:t>
            </a:r>
            <a:endParaRPr lang="en-US" sz="1500" dirty="0"/>
          </a:p>
        </p:txBody>
      </p:sp>
      <p:sp>
        <p:nvSpPr>
          <p:cNvPr id="15" name="Shape 12"/>
          <p:cNvSpPr/>
          <p:nvPr/>
        </p:nvSpPr>
        <p:spPr>
          <a:xfrm>
            <a:off x="54864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73152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Structured logs</a:t>
            </a:r>
            <a:endParaRPr lang="en-US" sz="1800" dirty="0"/>
          </a:p>
        </p:txBody>
      </p:sp>
      <p:sp>
        <p:nvSpPr>
          <p:cNvPr id="17" name="Text 14"/>
          <p:cNvSpPr txBox="1"/>
          <p:nvPr/>
        </p:nvSpPr>
        <p:spPr>
          <a:xfrm>
            <a:off x="731520" y="4617720"/>
            <a:ext cx="3227832" cy="1371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JSON lines, flushed to Cloud Storage on shutdown.</a:t>
            </a:r>
            <a:endParaRPr lang="en-US" sz="1500" dirty="0"/>
          </a:p>
        </p:txBody>
      </p:sp>
      <p:sp>
        <p:nvSpPr>
          <p:cNvPr id="18" name="Shape 15"/>
          <p:cNvSpPr/>
          <p:nvPr/>
        </p:nvSpPr>
        <p:spPr>
          <a:xfrm>
            <a:off x="429768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9" name="Text 16"/>
          <p:cNvSpPr txBox="1"/>
          <p:nvPr/>
        </p:nvSpPr>
        <p:spPr>
          <a:xfrm>
            <a:off x="448056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Tests with fakes</a:t>
            </a:r>
            <a:endParaRPr lang="en-US" sz="1800" dirty="0"/>
          </a:p>
        </p:txBody>
      </p:sp>
      <p:sp>
        <p:nvSpPr>
          <p:cNvPr id="20" name="Text 17"/>
          <p:cNvSpPr txBox="1"/>
          <p:nvPr/>
        </p:nvSpPr>
        <p:spPr>
          <a:xfrm>
            <a:off x="4480560" y="4617720"/>
            <a:ext cx="3227832" cy="1371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9 backend tests, no network or accounts needed.</a:t>
            </a:r>
            <a:endParaRPr lang="en-US" sz="1500" dirty="0"/>
          </a:p>
        </p:txBody>
      </p:sp>
      <p:sp>
        <p:nvSpPr>
          <p:cNvPr id="21" name="Shape 18"/>
          <p:cNvSpPr/>
          <p:nvPr/>
        </p:nvSpPr>
        <p:spPr>
          <a:xfrm>
            <a:off x="8046720" y="4023360"/>
            <a:ext cx="3593592" cy="2103120"/>
          </a:xfrm>
          <a:prstGeom prst="roundRect">
            <a:avLst>
              <a:gd name="adj" fmla="val 3478"/>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22" name="Text 19"/>
          <p:cNvSpPr txBox="1"/>
          <p:nvPr/>
        </p:nvSpPr>
        <p:spPr>
          <a:xfrm>
            <a:off x="8229600" y="4160520"/>
            <a:ext cx="3227832" cy="411480"/>
          </a:xfrm>
          <a:prstGeom prst="rect">
            <a:avLst/>
          </a:prstGeom>
          <a:noFill/>
          <a:ln/>
        </p:spPr>
        <p:txBody>
          <a:bodyPr wrap="square" lIns="0" tIns="0" rIns="0" bIns="0" rtlCol="0" anchor="t"/>
          <a:lstStyle/>
          <a:p>
            <a:pPr indent="0" marL="0">
              <a:buNone/>
            </a:pPr>
            <a:r>
              <a:rPr lang="en-US" sz="1800" b="1" dirty="0">
                <a:solidFill>
                  <a:srgbClr val="1F8A83"/>
                </a:solidFill>
                <a:latin typeface="Cambria" pitchFamily="34" charset="0"/>
                <a:ea typeface="Cambria" pitchFamily="34" charset="-122"/>
                <a:cs typeface="Cambria" pitchFamily="34" charset="-120"/>
              </a:rPr>
              <a:t>One frontend client</a:t>
            </a:r>
            <a:endParaRPr lang="en-US" sz="1800" dirty="0"/>
          </a:p>
        </p:txBody>
      </p:sp>
      <p:sp>
        <p:nvSpPr>
          <p:cNvPr id="23" name="Text 20"/>
          <p:cNvSpPr txBox="1"/>
          <p:nvPr/>
        </p:nvSpPr>
        <p:spPr>
          <a:xfrm>
            <a:off x="8229600" y="4617720"/>
            <a:ext cx="3227832" cy="1371600"/>
          </a:xfrm>
          <a:prstGeom prst="rect">
            <a:avLst/>
          </a:prstGeom>
          <a:noFill/>
          <a:ln/>
        </p:spPr>
        <p:txBody>
          <a:bodyPr wrap="square" lIns="0" tIns="0" rIns="0" bIns="0" rtlCol="0" anchor="t"/>
          <a:lstStyle/>
          <a:p>
            <a:pPr indent="0" marL="0">
              <a:spcAft>
                <a:spcPts val="400"/>
              </a:spcAft>
              <a:buNone/>
            </a:pPr>
            <a:r>
              <a:rPr lang="en-US" sz="1500" dirty="0">
                <a:solidFill>
                  <a:srgbClr val="5B6478"/>
                </a:solidFill>
                <a:latin typeface="Calibri" pitchFamily="34" charset="0"/>
                <a:ea typeface="Calibri" pitchFamily="34" charset="-122"/>
                <a:cs typeface="Calibri" pitchFamily="34" charset="-120"/>
              </a:rPr>
              <a:t>Every backend call goes through api.ts.</a:t>
            </a:r>
            <a:endParaRPr lang="en-US" sz="15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HONEST 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What is not production-ready</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17</a:t>
            </a:r>
            <a:endParaRPr lang="en-US" sz="1000" dirty="0"/>
          </a:p>
        </p:txBody>
      </p:sp>
      <p:sp>
        <p:nvSpPr>
          <p:cNvPr id="6" name="Shape 3"/>
          <p:cNvSpPr/>
          <p:nvPr/>
        </p:nvSpPr>
        <p:spPr>
          <a:xfrm>
            <a:off x="548640"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Security</a:t>
            </a:r>
            <a:endParaRPr lang="en-US" sz="1800" dirty="0"/>
          </a:p>
        </p:txBody>
      </p:sp>
      <p:sp>
        <p:nvSpPr>
          <p:cNvPr id="8" name="Text 5"/>
          <p:cNvSpPr txBox="1"/>
          <p:nvPr/>
        </p:nvSpPr>
        <p:spPr>
          <a:xfrm>
            <a:off x="731520" y="2240280"/>
            <a:ext cx="5084064" cy="1280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No auth, CORS allows everything, public Cloud Run, status route leaks ids.</a:t>
            </a:r>
            <a:endParaRPr lang="en-US" sz="1600" dirty="0"/>
          </a:p>
        </p:txBody>
      </p:sp>
      <p:sp>
        <p:nvSpPr>
          <p:cNvPr id="9" name="Shape 6"/>
          <p:cNvSpPr/>
          <p:nvPr/>
        </p:nvSpPr>
        <p:spPr>
          <a:xfrm>
            <a:off x="6190488" y="164592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6373368" y="178308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Correctness</a:t>
            </a:r>
            <a:endParaRPr lang="en-US" sz="1800" dirty="0"/>
          </a:p>
        </p:txBody>
      </p:sp>
      <p:sp>
        <p:nvSpPr>
          <p:cNvPr id="11" name="Text 8"/>
          <p:cNvSpPr txBox="1"/>
          <p:nvPr/>
        </p:nvSpPr>
        <p:spPr>
          <a:xfrm>
            <a:off x="6373368" y="2240280"/>
            <a:ext cx="5084064" cy="1280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Audit checks are LLM recall; silent 15% tax fallback.</a:t>
            </a:r>
            <a:endParaRPr lang="en-US" sz="1600" dirty="0"/>
          </a:p>
        </p:txBody>
      </p:sp>
      <p:sp>
        <p:nvSpPr>
          <p:cNvPr id="12" name="Shape 9"/>
          <p:cNvSpPr/>
          <p:nvPr/>
        </p:nvSpPr>
        <p:spPr>
          <a:xfrm>
            <a:off x="548640"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731520"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Reliability</a:t>
            </a:r>
            <a:endParaRPr lang="en-US" sz="1800" dirty="0"/>
          </a:p>
        </p:txBody>
      </p:sp>
      <p:sp>
        <p:nvSpPr>
          <p:cNvPr id="14" name="Text 11"/>
          <p:cNvSpPr txBox="1"/>
          <p:nvPr/>
        </p:nvSpPr>
        <p:spPr>
          <a:xfrm>
            <a:off x="731520" y="4480560"/>
            <a:ext cx="5084064" cy="1280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No retries, size limits, or startup validation; raw errors returned.</a:t>
            </a:r>
            <a:endParaRPr lang="en-US" sz="1600" dirty="0"/>
          </a:p>
        </p:txBody>
      </p:sp>
      <p:sp>
        <p:nvSpPr>
          <p:cNvPr id="15" name="Shape 12"/>
          <p:cNvSpPr/>
          <p:nvPr/>
        </p:nvSpPr>
        <p:spPr>
          <a:xfrm>
            <a:off x="6190488" y="3886200"/>
            <a:ext cx="5449824" cy="2011680"/>
          </a:xfrm>
          <a:prstGeom prst="roundRect">
            <a:avLst>
              <a:gd name="adj" fmla="val 36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6" name="Text 13"/>
          <p:cNvSpPr txBox="1"/>
          <p:nvPr/>
        </p:nvSpPr>
        <p:spPr>
          <a:xfrm>
            <a:off x="6373368" y="4023360"/>
            <a:ext cx="5084064"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Privacy and data</a:t>
            </a:r>
            <a:endParaRPr lang="en-US" sz="1800" dirty="0"/>
          </a:p>
        </p:txBody>
      </p:sp>
      <p:sp>
        <p:nvSpPr>
          <p:cNvPr id="17" name="Text 14"/>
          <p:cNvSpPr txBox="1"/>
          <p:nvPr/>
        </p:nvSpPr>
        <p:spPr>
          <a:xfrm>
            <a:off x="6373368" y="4480560"/>
            <a:ext cx="5084064" cy="1280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Logs hold full queries; no database; no per-user separation.</a:t>
            </a:r>
            <a:endParaRPr lang="en-US" sz="1600" dirty="0"/>
          </a:p>
        </p:txBody>
      </p:sp>
      <p:sp>
        <p:nvSpPr>
          <p:cNvPr id="18" name="Text 15"/>
          <p:cNvSpPr txBox="1"/>
          <p:nvPr/>
        </p:nvSpPr>
        <p:spPr>
          <a:xfrm>
            <a:off x="548640" y="5989320"/>
            <a:ext cx="10972800" cy="365760"/>
          </a:xfrm>
          <a:prstGeom prst="rect">
            <a:avLst/>
          </a:prstGeom>
          <a:noFill/>
          <a:ln/>
        </p:spPr>
        <p:txBody>
          <a:bodyPr wrap="square" lIns="0" tIns="0" rIns="0" bIns="0" rtlCol="0" anchor="ctr"/>
          <a:lstStyle/>
          <a:p>
            <a:pPr indent="0" marL="0">
              <a:buNone/>
            </a:pPr>
            <a:r>
              <a:rPr lang="en-US" sz="1600" b="1" dirty="0">
                <a:solidFill>
                  <a:srgbClr val="14213D"/>
                </a:solidFill>
                <a:latin typeface="Calibri" pitchFamily="34" charset="0"/>
                <a:ea typeface="Calibri" pitchFamily="34" charset="-122"/>
                <a:cs typeface="Calibri" pitchFamily="34" charset="-120"/>
              </a:rPr>
              <a:t>Exercise: rank the top three fixes and defend your order.</a:t>
            </a:r>
            <a:endParaRPr lang="en-US" sz="16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Run it yourself</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18</a:t>
            </a:r>
            <a:endParaRPr lang="en-US" sz="1000" dirty="0"/>
          </a:p>
        </p:txBody>
      </p:sp>
      <p:sp>
        <p:nvSpPr>
          <p:cNvPr id="6" name="Shape 3"/>
          <p:cNvSpPr/>
          <p:nvPr/>
        </p:nvSpPr>
        <p:spPr>
          <a:xfrm>
            <a:off x="548640" y="1645920"/>
            <a:ext cx="6675120" cy="4389120"/>
          </a:xfrm>
          <a:prstGeom prst="roundRect">
            <a:avLst>
              <a:gd name="adj" fmla="val 1250"/>
            </a:avLst>
          </a:prstGeom>
          <a:solidFill>
            <a:srgbClr val="14213D"/>
          </a:solidFill>
          <a:ln w="12700">
            <a:solidFill>
              <a:srgbClr val="14213D"/>
            </a:solidFill>
            <a:prstDash val="solid"/>
          </a:ln>
        </p:spPr>
      </p:sp>
      <p:sp>
        <p:nvSpPr>
          <p:cNvPr id="7" name="Text 4"/>
          <p:cNvSpPr txBox="1"/>
          <p:nvPr/>
        </p:nvSpPr>
        <p:spPr>
          <a:xfrm>
            <a:off x="777240" y="1783080"/>
            <a:ext cx="6217920" cy="4114800"/>
          </a:xfrm>
          <a:prstGeom prst="rect">
            <a:avLst/>
          </a:prstGeom>
          <a:noFill/>
          <a:ln/>
        </p:spPr>
        <p:txBody>
          <a:bodyPr wrap="square" lIns="0" tIns="0" rIns="0" bIns="0" rtlCol="0" anchor="t"/>
          <a:lstStyle/>
          <a:p>
            <a:pPr indent="0" marL="0">
              <a:buNone/>
            </a:pPr>
            <a:r>
              <a:rPr lang="en-US" sz="1400" dirty="0">
                <a:solidFill>
                  <a:srgbClr val="E8ECF5"/>
                </a:solidFill>
                <a:latin typeface="Courier New" pitchFamily="34" charset="0"/>
                <a:ea typeface="Courier New" pitchFamily="34" charset="-122"/>
                <a:cs typeface="Courier New" pitchFamily="34" charset="-120"/>
              </a:rPr>
              <a:t># Tier 0 - free, no accounts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venv .venv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pip install -r requirements-dev.txt</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python -m pytest backend/tests -q</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frontend &amp;&amp; npm ci &amp;&amp; npm test</a:t>
            </a:r>
            <a:endParaRPr lang="en-US" sz="1400" dirty="0"/>
          </a:p>
          <a:p>
            <a:pPr indent="0" marL="0">
              <a:buNone/>
            </a:pP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Tier 1 - needs GOOGLE_API_KEY in .env</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uvicorn api.main:app --app-dir backend --port 8080</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 open http://localhost:8080/docs</a:t>
            </a:r>
            <a:endParaRPr lang="en-US" sz="1400" dirty="0"/>
          </a:p>
          <a:p>
            <a:pPr indent="0" marL="0">
              <a:buNone/>
            </a:pPr>
            <a:r>
              <a:rPr lang="en-US" sz="1400" dirty="0">
                <a:solidFill>
                  <a:srgbClr val="E8ECF5"/>
                </a:solidFill>
                <a:latin typeface="Courier New" pitchFamily="34" charset="0"/>
                <a:ea typeface="Courier New" pitchFamily="34" charset="-122"/>
                <a:cs typeface="Courier New" pitchFamily="34" charset="-120"/>
              </a:rPr>
              <a:t>cd backend &amp;&amp; python -m agent.agents</a:t>
            </a:r>
            <a:endParaRPr lang="en-US" sz="1400" dirty="0"/>
          </a:p>
        </p:txBody>
      </p:sp>
      <p:sp>
        <p:nvSpPr>
          <p:cNvPr id="8" name="Shape 5"/>
          <p:cNvSpPr/>
          <p:nvPr/>
        </p:nvSpPr>
        <p:spPr>
          <a:xfrm>
            <a:off x="7498080" y="164592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9" name="Text 6"/>
          <p:cNvSpPr txBox="1"/>
          <p:nvPr/>
        </p:nvSpPr>
        <p:spPr>
          <a:xfrm>
            <a:off x="7680960" y="178308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Tier 2 costs money</a:t>
            </a:r>
            <a:endParaRPr lang="en-US" sz="1800" dirty="0"/>
          </a:p>
        </p:txBody>
      </p:sp>
      <p:sp>
        <p:nvSpPr>
          <p:cNvPr id="10" name="Text 7"/>
          <p:cNvSpPr txBox="1"/>
          <p:nvPr/>
        </p:nvSpPr>
        <p:spPr>
          <a:xfrm>
            <a:off x="7680960" y="2240280"/>
            <a:ext cx="3776472" cy="64008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Vector Search is billed hourly. Set budget alerts.</a:t>
            </a:r>
            <a:endParaRPr lang="en-US" sz="1400" dirty="0"/>
          </a:p>
        </p:txBody>
      </p:sp>
      <p:sp>
        <p:nvSpPr>
          <p:cNvPr id="11" name="Shape 8"/>
          <p:cNvSpPr/>
          <p:nvPr/>
        </p:nvSpPr>
        <p:spPr>
          <a:xfrm>
            <a:off x="7498080" y="3200400"/>
            <a:ext cx="4142232" cy="1371600"/>
          </a:xfrm>
          <a:prstGeom prst="roundRect">
            <a:avLst>
              <a:gd name="adj" fmla="val 5333"/>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2" name="Text 9"/>
          <p:cNvSpPr txBox="1"/>
          <p:nvPr/>
        </p:nvSpPr>
        <p:spPr>
          <a:xfrm>
            <a:off x="7680960" y="3337560"/>
            <a:ext cx="3776472" cy="411480"/>
          </a:xfrm>
          <a:prstGeom prst="rect">
            <a:avLst/>
          </a:prstGeom>
          <a:noFill/>
          <a:ln/>
        </p:spPr>
        <p:txBody>
          <a:bodyPr wrap="square" lIns="0" tIns="0" rIns="0" bIns="0" rtlCol="0" anchor="t"/>
          <a:lstStyle/>
          <a:p>
            <a:pPr indent="0" marL="0">
              <a:buNone/>
            </a:pPr>
            <a:r>
              <a:rPr lang="en-US" sz="1800" b="1" dirty="0">
                <a:solidFill>
                  <a:srgbClr val="C8553D"/>
                </a:solidFill>
                <a:latin typeface="Cambria" pitchFamily="34" charset="0"/>
                <a:ea typeface="Cambria" pitchFamily="34" charset="-122"/>
                <a:cs typeface="Cambria" pitchFamily="34" charset="-120"/>
              </a:rPr>
              <a:t>Protect secrets</a:t>
            </a:r>
            <a:endParaRPr lang="en-US" sz="1800" dirty="0"/>
          </a:p>
        </p:txBody>
      </p:sp>
      <p:sp>
        <p:nvSpPr>
          <p:cNvPr id="13" name="Text 10"/>
          <p:cNvSpPr txBox="1"/>
          <p:nvPr/>
        </p:nvSpPr>
        <p:spPr>
          <a:xfrm>
            <a:off x="7680960" y="3794760"/>
            <a:ext cx="3776472" cy="64008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Never commit .env or show keys on screen.</a:t>
            </a:r>
            <a:endParaRPr lang="en-US" sz="1400" dirty="0"/>
          </a:p>
        </p:txBody>
      </p:sp>
      <p:sp>
        <p:nvSpPr>
          <p:cNvPr id="14" name="Shape 11"/>
          <p:cNvSpPr/>
          <p:nvPr/>
        </p:nvSpPr>
        <p:spPr>
          <a:xfrm>
            <a:off x="7498080" y="4754880"/>
            <a:ext cx="4142232" cy="1280160"/>
          </a:xfrm>
          <a:prstGeom prst="roundRect">
            <a:avLst>
              <a:gd name="adj" fmla="val 5714"/>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5" name="Text 12"/>
          <p:cNvSpPr txBox="1"/>
          <p:nvPr/>
        </p:nvSpPr>
        <p:spPr>
          <a:xfrm>
            <a:off x="7680960" y="4892040"/>
            <a:ext cx="3776472" cy="411480"/>
          </a:xfrm>
          <a:prstGeom prst="rect">
            <a:avLst/>
          </a:prstGeom>
          <a:noFill/>
          <a:ln/>
        </p:spPr>
        <p:txBody>
          <a:bodyPr wrap="square" lIns="0" tIns="0" rIns="0" bIns="0" rtlCol="0" anchor="t"/>
          <a:lstStyle/>
          <a:p>
            <a:pPr indent="0" marL="0">
              <a:buNone/>
            </a:pPr>
            <a:r>
              <a:rPr lang="en-US" sz="1800" b="1" dirty="0">
                <a:solidFill>
                  <a:srgbClr val="B7791F"/>
                </a:solidFill>
                <a:latin typeface="Cambria" pitchFamily="34" charset="0"/>
                <a:ea typeface="Cambria" pitchFamily="34" charset="-122"/>
                <a:cs typeface="Cambria" pitchFamily="34" charset="-120"/>
              </a:rPr>
              <a:t>Set a real model name</a:t>
            </a:r>
            <a:endParaRPr lang="en-US" sz="1800" dirty="0"/>
          </a:p>
        </p:txBody>
      </p:sp>
      <p:sp>
        <p:nvSpPr>
          <p:cNvPr id="16" name="Text 13"/>
          <p:cNvSpPr txBox="1"/>
          <p:nvPr/>
        </p:nvSpPr>
        <p:spPr>
          <a:xfrm>
            <a:off x="7680960" y="5349240"/>
            <a:ext cx="3776472" cy="548640"/>
          </a:xfrm>
          <a:prstGeom prst="rect">
            <a:avLst/>
          </a:prstGeom>
          <a:noFill/>
          <a:ln/>
        </p:spPr>
        <p:txBody>
          <a:bodyPr wrap="square" lIns="0" tIns="0" rIns="0" bIns="0" rtlCol="0" anchor="t"/>
          <a:lstStyle/>
          <a:p>
            <a:pPr indent="0" marL="0">
              <a:spcAft>
                <a:spcPts val="400"/>
              </a:spcAft>
              <a:buNone/>
            </a:pPr>
            <a:r>
              <a:rPr lang="en-US" sz="1400" dirty="0">
                <a:solidFill>
                  <a:srgbClr val="5B6478"/>
                </a:solidFill>
                <a:latin typeface="Calibri" pitchFamily="34" charset="0"/>
                <a:ea typeface="Calibri" pitchFamily="34" charset="-122"/>
                <a:cs typeface="Calibri" pitchFamily="34" charset="-120"/>
              </a:rPr>
              <a:t>Default gemini-3.8-flash is not verified.</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HANDS-ON</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Hands-on exercises</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19</a:t>
            </a:r>
            <a:endParaRPr lang="en-US" sz="1000" dirty="0"/>
          </a:p>
        </p:txBody>
      </p:sp>
      <p:sp>
        <p:nvSpPr>
          <p:cNvPr id="6" name="Shape 3"/>
          <p:cNvSpPr/>
          <p:nvPr/>
        </p:nvSpPr>
        <p:spPr>
          <a:xfrm>
            <a:off x="54864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7" name="Text 4"/>
          <p:cNvSpPr txBox="1"/>
          <p:nvPr/>
        </p:nvSpPr>
        <p:spPr>
          <a:xfrm>
            <a:off x="731520" y="1783080"/>
            <a:ext cx="3227832" cy="411480"/>
          </a:xfrm>
          <a:prstGeom prst="rect">
            <a:avLst/>
          </a:prstGeom>
          <a:noFill/>
          <a:ln/>
        </p:spPr>
        <p:txBody>
          <a:bodyPr wrap="square" lIns="0" tIns="0" rIns="0" bIns="0" rtlCol="0" anchor="t"/>
          <a:lstStyle/>
          <a:p>
            <a:pPr indent="0" marL="0">
              <a:buNone/>
            </a:pPr>
            <a:r>
              <a:rPr lang="en-US" sz="2200" b="1" dirty="0">
                <a:solidFill>
                  <a:srgbClr val="2E7D4F"/>
                </a:solidFill>
                <a:latin typeface="Cambria" pitchFamily="34" charset="0"/>
                <a:ea typeface="Cambria" pitchFamily="34" charset="-122"/>
                <a:cs typeface="Cambria" pitchFamily="34" charset="-120"/>
              </a:rPr>
              <a:t>Beginner</a:t>
            </a:r>
            <a:endParaRPr lang="en-US" sz="2200" dirty="0"/>
          </a:p>
        </p:txBody>
      </p:sp>
      <p:sp>
        <p:nvSpPr>
          <p:cNvPr id="8" name="Text 5"/>
          <p:cNvSpPr txBox="1"/>
          <p:nvPr/>
        </p:nvSpPr>
        <p:spPr>
          <a:xfrm>
            <a:off x="731520" y="2240280"/>
            <a:ext cx="3227832" cy="3566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Run the backend and frontend tests.</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Rewrite the RAG prompt to demand a citation after each claim; compare answers.</a:t>
            </a:r>
            <a:endParaRPr lang="en-US" sz="1600" dirty="0"/>
          </a:p>
        </p:txBody>
      </p:sp>
      <p:sp>
        <p:nvSpPr>
          <p:cNvPr id="9" name="Shape 6"/>
          <p:cNvSpPr/>
          <p:nvPr/>
        </p:nvSpPr>
        <p:spPr>
          <a:xfrm>
            <a:off x="429768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0" name="Text 7"/>
          <p:cNvSpPr txBox="1"/>
          <p:nvPr/>
        </p:nvSpPr>
        <p:spPr>
          <a:xfrm>
            <a:off x="4480560" y="1783080"/>
            <a:ext cx="3227832" cy="411480"/>
          </a:xfrm>
          <a:prstGeom prst="rect">
            <a:avLst/>
          </a:prstGeom>
          <a:noFill/>
          <a:ln/>
        </p:spPr>
        <p:txBody>
          <a:bodyPr wrap="square" lIns="0" tIns="0" rIns="0" bIns="0" rtlCol="0" anchor="t"/>
          <a:lstStyle/>
          <a:p>
            <a:pPr indent="0" marL="0">
              <a:buNone/>
            </a:pPr>
            <a:r>
              <a:rPr lang="en-US" sz="2200" b="1" dirty="0">
                <a:solidFill>
                  <a:srgbClr val="B7791F"/>
                </a:solidFill>
                <a:latin typeface="Cambria" pitchFamily="34" charset="0"/>
                <a:ea typeface="Cambria" pitchFamily="34" charset="-122"/>
                <a:cs typeface="Cambria" pitchFamily="34" charset="-120"/>
              </a:rPr>
              <a:t>Intermediate</a:t>
            </a:r>
            <a:endParaRPr lang="en-US" sz="2200" dirty="0"/>
          </a:p>
        </p:txBody>
      </p:sp>
      <p:sp>
        <p:nvSpPr>
          <p:cNvPr id="11" name="Text 8"/>
          <p:cNvSpPr txBox="1"/>
          <p:nvPr/>
        </p:nvSpPr>
        <p:spPr>
          <a:xfrm>
            <a:off x="4480560" y="2240280"/>
            <a:ext cx="3227832" cy="3566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Change CHUNK_SIZE to 400 and 2000; compare answers to the same questions.</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Add a test for an unknown retriever_type.</a:t>
            </a:r>
            <a:endParaRPr lang="en-US" sz="1600" dirty="0"/>
          </a:p>
        </p:txBody>
      </p:sp>
      <p:sp>
        <p:nvSpPr>
          <p:cNvPr id="12" name="Shape 9"/>
          <p:cNvSpPr/>
          <p:nvPr/>
        </p:nvSpPr>
        <p:spPr>
          <a:xfrm>
            <a:off x="8046720" y="1645920"/>
            <a:ext cx="3593592" cy="4297680"/>
          </a:xfrm>
          <a:prstGeom prst="roundRect">
            <a:avLst>
              <a:gd name="adj" fmla="val 2036"/>
            </a:avLst>
          </a:prstGeom>
          <a:solidFill>
            <a:srgbClr val="FFFFFF"/>
          </a:solidFill>
          <a:ln w="12700">
            <a:solidFill>
              <a:srgbClr val="E3E8F2"/>
            </a:solidFill>
            <a:prstDash val="solid"/>
          </a:ln>
          <a:effectLst>
            <a:outerShdw sx="100000" sy="100000" kx="0" ky="0" algn="bl" rotWithShape="0" blurRad="76200" dist="25400" dir="5400000">
              <a:srgbClr val="000000">
                <a:alpha val="8000"/>
              </a:srgbClr>
            </a:outerShdw>
          </a:effectLst>
        </p:spPr>
      </p:sp>
      <p:sp>
        <p:nvSpPr>
          <p:cNvPr id="13" name="Text 10"/>
          <p:cNvSpPr txBox="1"/>
          <p:nvPr/>
        </p:nvSpPr>
        <p:spPr>
          <a:xfrm>
            <a:off x="8229600" y="1783080"/>
            <a:ext cx="3227832" cy="411480"/>
          </a:xfrm>
          <a:prstGeom prst="rect">
            <a:avLst/>
          </a:prstGeom>
          <a:noFill/>
          <a:ln/>
        </p:spPr>
        <p:txBody>
          <a:bodyPr wrap="square" lIns="0" tIns="0" rIns="0" bIns="0" rtlCol="0" anchor="t"/>
          <a:lstStyle/>
          <a:p>
            <a:pPr indent="0" marL="0">
              <a:buNone/>
            </a:pPr>
            <a:r>
              <a:rPr lang="en-US" sz="2200" b="1" dirty="0">
                <a:solidFill>
                  <a:srgbClr val="C8553D"/>
                </a:solidFill>
                <a:latin typeface="Cambria" pitchFamily="34" charset="0"/>
                <a:ea typeface="Cambria" pitchFamily="34" charset="-122"/>
                <a:cs typeface="Cambria" pitchFamily="34" charset="-120"/>
              </a:rPr>
              <a:t>Advanced</a:t>
            </a:r>
            <a:endParaRPr lang="en-US" sz="2200" dirty="0"/>
          </a:p>
        </p:txBody>
      </p:sp>
      <p:sp>
        <p:nvSpPr>
          <p:cNvPr id="14" name="Text 11"/>
          <p:cNvSpPr txBox="1"/>
          <p:nvPr/>
        </p:nvSpPr>
        <p:spPr>
          <a:xfrm>
            <a:off x="8229600" y="2240280"/>
            <a:ext cx="3227832" cy="3566160"/>
          </a:xfrm>
          <a:prstGeom prst="rect">
            <a:avLst/>
          </a:prstGeom>
          <a:noFill/>
          <a:ln/>
        </p:spPr>
        <p:txBody>
          <a:bodyPr wrap="square" lIns="0" tIns="0" rIns="0" bIns="0" rtlCol="0" anchor="t"/>
          <a:lstStyle/>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Make the RED ALERT rule deterministic in Python.</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Run the three agents in parallel.</a:t>
            </a:r>
            <a:endParaRPr lang="en-US" sz="1600" dirty="0"/>
          </a:p>
          <a:p>
            <a:pPr indent="0" marL="0">
              <a:spcAft>
                <a:spcPts val="400"/>
              </a:spcAft>
              <a:buNone/>
            </a:pPr>
            <a:endParaRPr lang="en-US" sz="1600" dirty="0"/>
          </a:p>
          <a:p>
            <a:pPr indent="0" marL="0">
              <a:spcAft>
                <a:spcPts val="400"/>
              </a:spcAft>
              <a:buNone/>
            </a:pPr>
            <a:r>
              <a:rPr lang="en-US" sz="1600" dirty="0">
                <a:solidFill>
                  <a:srgbClr val="5B6478"/>
                </a:solidFill>
                <a:latin typeface="Calibri" pitchFamily="34" charset="0"/>
                <a:ea typeface="Calibri" pitchFamily="34" charset="-122"/>
                <a:cs typeface="Calibri" pitchFamily="34" charset="-120"/>
              </a:rPr>
              <a:t>Return source and page with each answer.</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548640" y="274320"/>
            <a:ext cx="7315200" cy="274320"/>
          </a:xfrm>
          <a:prstGeom prst="rect">
            <a:avLst/>
          </a:prstGeom>
          <a:noFill/>
          <a:ln/>
        </p:spPr>
        <p:txBody>
          <a:bodyPr wrap="square" lIns="0" tIns="0" rIns="0" bIns="0" rtlCol="0" anchor="ctr"/>
          <a:lstStyle/>
          <a:p>
            <a:pPr indent="0" marL="0">
              <a:buNone/>
            </a:pPr>
            <a:r>
              <a:rPr lang="en-US" sz="1200" b="1" spc="300" kern="0" dirty="0">
                <a:solidFill>
                  <a:srgbClr val="1F8A83"/>
                </a:solidFill>
                <a:latin typeface="Calibri" pitchFamily="34" charset="0"/>
                <a:ea typeface="Calibri" pitchFamily="34" charset="-122"/>
                <a:cs typeface="Calibri" pitchFamily="34" charset="-120"/>
              </a:rPr>
              <a:t>REVIEW</a:t>
            </a:r>
            <a:endParaRPr lang="en-US" sz="1200" dirty="0"/>
          </a:p>
        </p:txBody>
      </p:sp>
      <p:sp>
        <p:nvSpPr>
          <p:cNvPr id="3" name="Text 1"/>
          <p:cNvSpPr txBox="1"/>
          <p:nvPr/>
        </p:nvSpPr>
        <p:spPr>
          <a:xfrm>
            <a:off x="548640" y="548640"/>
            <a:ext cx="11064240" cy="731520"/>
          </a:xfrm>
          <a:prstGeom prst="rect">
            <a:avLst/>
          </a:prstGeom>
          <a:noFill/>
          <a:ln/>
        </p:spPr>
        <p:txBody>
          <a:bodyPr wrap="square" lIns="0" tIns="0" rIns="0" bIns="0" rtlCol="0" anchor="ctr"/>
          <a:lstStyle/>
          <a:p>
            <a:pPr indent="0" marL="0">
              <a:buNone/>
            </a:pPr>
            <a:r>
              <a:rPr lang="en-US" sz="3200" b="1" dirty="0">
                <a:solidFill>
                  <a:srgbClr val="14213D"/>
                </a:solidFill>
                <a:latin typeface="Cambria" pitchFamily="34" charset="0"/>
                <a:ea typeface="Cambria" pitchFamily="34" charset="-122"/>
                <a:cs typeface="Cambria" pitchFamily="34" charset="-120"/>
              </a:rPr>
              <a:t>Check your understanding</a:t>
            </a:r>
            <a:endParaRPr lang="en-US" sz="3200" dirty="0"/>
          </a:p>
        </p:txBody>
      </p:sp>
      <p:sp>
        <p:nvSpPr>
          <p:cNvPr id="4" name="Text 2"/>
          <p:cNvSpPr txBox="1"/>
          <p:nvPr/>
        </p:nvSpPr>
        <p:spPr>
          <a:xfrm>
            <a:off x="8869680" y="6446520"/>
            <a:ext cx="2770632" cy="274320"/>
          </a:xfrm>
          <a:prstGeom prst="rect">
            <a:avLst/>
          </a:prstGeom>
          <a:noFill/>
          <a:ln/>
        </p:spPr>
        <p:txBody>
          <a:bodyPr wrap="square" lIns="0" tIns="0" rIns="0" bIns="0" rtlCol="0" anchor="ctr"/>
          <a:lstStyle/>
          <a:p>
            <a:pPr algn="r" indent="0" marL="0">
              <a:buNone/>
            </a:pPr>
            <a:r>
              <a:rPr lang="en-US" sz="1000" dirty="0">
                <a:solidFill>
                  <a:srgbClr val="5B6478"/>
                </a:solidFill>
                <a:latin typeface="Calibri" pitchFamily="34" charset="0"/>
                <a:ea typeface="Calibri" pitchFamily="34" charset="-122"/>
                <a:cs typeface="Calibri" pitchFamily="34" charset="-120"/>
              </a:rPr>
              <a:t>Meridian AI  ·  20</a:t>
            </a:r>
            <a:endParaRPr lang="en-US" sz="1000" dirty="0"/>
          </a:p>
        </p:txBody>
      </p:sp>
      <p:sp>
        <p:nvSpPr>
          <p:cNvPr id="6" name="Text 3"/>
          <p:cNvSpPr txBox="1"/>
          <p:nvPr/>
        </p:nvSpPr>
        <p:spPr>
          <a:xfrm>
            <a:off x="548640" y="1645920"/>
            <a:ext cx="11064240" cy="4389120"/>
          </a:xfrm>
          <a:prstGeom prst="rect">
            <a:avLst/>
          </a:prstGeom>
          <a:noFill/>
          <a:ln/>
        </p:spPr>
        <p:txBody>
          <a:bodyPr wrap="square" lIns="0" tIns="0" rIns="0" bIns="0" rtlCol="0" anchor="t"/>
          <a:lstStyle/>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Why do we overlap chunks?</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What goes wrong if indexing and querying use different embedding models?</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Which retriever helps when users phrase things differently from the documents, and what does it cost?</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Which of the five tools uses a live data source?</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Why is the RED ALERT rule risky inside a prompt?</a:t>
            </a:r>
            <a:endParaRPr lang="en-US" sz="2000" dirty="0"/>
          </a:p>
          <a:p>
            <a:pPr marL="342900" indent="-342900">
              <a:spcAft>
                <a:spcPts val="1400"/>
              </a:spcAft>
              <a:buSzPct val="100000"/>
              <a:buFont typeface="+mj-lt"/>
              <a:buAutoNum type="arabicPeriod" startAt="1"/>
            </a:pPr>
            <a:r>
              <a:rPr lang="en-US" sz="2000" dirty="0">
                <a:solidFill>
                  <a:srgbClr val="14213D"/>
                </a:solidFill>
                <a:latin typeface="Calibri" pitchFamily="34" charset="0"/>
                <a:ea typeface="Calibri" pitchFamily="34" charset="-122"/>
                <a:cs typeface="Calibri" pitchFamily="34" charset="-120"/>
              </a:rPr>
              <a:t>Give two reasons this cannot be deployed publicly as-is.</a:t>
            </a:r>
            <a:endParaRPr lang="en-US" sz="2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14213D"/>
        </a:solidFill>
      </p:bgPr>
    </p:bg>
    <p:spTree>
      <p:nvGrpSpPr>
        <p:cNvPr id="1" name=""/>
        <p:cNvGrpSpPr/>
        <p:nvPr/>
      </p:nvGrpSpPr>
      <p:grpSpPr>
        <a:xfrm>
          <a:off x="0" y="0"/>
          <a:ext cx="0" cy="0"/>
          <a:chOff x="0" y="0"/>
          <a:chExt cx="0" cy="0"/>
        </a:xfrm>
      </p:grpSpPr>
      <p:sp>
        <p:nvSpPr>
          <p:cNvPr id="3" name="Text 0"/>
          <p:cNvSpPr txBox="1"/>
          <p:nvPr/>
        </p:nvSpPr>
        <p:spPr>
          <a:xfrm>
            <a:off x="731520" y="640080"/>
            <a:ext cx="10515600" cy="822960"/>
          </a:xfrm>
          <a:prstGeom prst="rect">
            <a:avLst/>
          </a:prstGeom>
          <a:noFill/>
          <a:ln/>
        </p:spPr>
        <p:txBody>
          <a:bodyPr wrap="square" lIns="0" tIns="0" rIns="0" bIns="0"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Three things to remember</a:t>
            </a:r>
            <a:endParaRPr lang="en-US" sz="3800" dirty="0"/>
          </a:p>
        </p:txBody>
      </p:sp>
      <p:sp>
        <p:nvSpPr>
          <p:cNvPr id="4" name="Shape 1"/>
          <p:cNvSpPr/>
          <p:nvPr/>
        </p:nvSpPr>
        <p:spPr>
          <a:xfrm>
            <a:off x="731520" y="1828800"/>
            <a:ext cx="10698480" cy="1143000"/>
          </a:xfrm>
          <a:prstGeom prst="roundRect">
            <a:avLst>
              <a:gd name="adj" fmla="val 6400"/>
            </a:avLst>
          </a:prstGeom>
          <a:solidFill>
            <a:srgbClr val="1E2F55"/>
          </a:solidFill>
          <a:ln w="12700">
            <a:solidFill>
              <a:srgbClr val="2C4175"/>
            </a:solidFill>
            <a:prstDash val="solid"/>
          </a:ln>
        </p:spPr>
      </p:sp>
      <p:sp>
        <p:nvSpPr>
          <p:cNvPr id="5" name="Text 2"/>
          <p:cNvSpPr txBox="1"/>
          <p:nvPr/>
        </p:nvSpPr>
        <p:spPr>
          <a:xfrm>
            <a:off x="1005840" y="18288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RAG</a:t>
            </a:r>
            <a:endParaRPr lang="en-US" sz="2800" dirty="0"/>
          </a:p>
        </p:txBody>
      </p:sp>
      <p:sp>
        <p:nvSpPr>
          <p:cNvPr id="6" name="Text 3"/>
          <p:cNvSpPr txBox="1"/>
          <p:nvPr/>
        </p:nvSpPr>
        <p:spPr>
          <a:xfrm>
            <a:off x="3474720" y="18288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Retrieve first, then answer only from what was retrieved.</a:t>
            </a:r>
            <a:endParaRPr lang="en-US" sz="2000" dirty="0"/>
          </a:p>
        </p:txBody>
      </p:sp>
      <p:sp>
        <p:nvSpPr>
          <p:cNvPr id="7" name="Shape 4"/>
          <p:cNvSpPr/>
          <p:nvPr/>
        </p:nvSpPr>
        <p:spPr>
          <a:xfrm>
            <a:off x="731520" y="3200400"/>
            <a:ext cx="10698480" cy="1143000"/>
          </a:xfrm>
          <a:prstGeom prst="roundRect">
            <a:avLst>
              <a:gd name="adj" fmla="val 6400"/>
            </a:avLst>
          </a:prstGeom>
          <a:solidFill>
            <a:srgbClr val="1E2F55"/>
          </a:solidFill>
          <a:ln w="12700">
            <a:solidFill>
              <a:srgbClr val="2C4175"/>
            </a:solidFill>
            <a:prstDash val="solid"/>
          </a:ln>
        </p:spPr>
      </p:sp>
      <p:sp>
        <p:nvSpPr>
          <p:cNvPr id="8" name="Text 5"/>
          <p:cNvSpPr txBox="1"/>
          <p:nvPr/>
        </p:nvSpPr>
        <p:spPr>
          <a:xfrm>
            <a:off x="1005840" y="32004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Agents</a:t>
            </a:r>
            <a:endParaRPr lang="en-US" sz="2800" dirty="0"/>
          </a:p>
        </p:txBody>
      </p:sp>
      <p:sp>
        <p:nvSpPr>
          <p:cNvPr id="9" name="Text 6"/>
          <p:cNvSpPr txBox="1"/>
          <p:nvPr/>
        </p:nvSpPr>
        <p:spPr>
          <a:xfrm>
            <a:off x="3474720" y="32004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LLM + tools + prompt. Narrow jobs, exact output formats.</a:t>
            </a:r>
            <a:endParaRPr lang="en-US" sz="2000" dirty="0"/>
          </a:p>
        </p:txBody>
      </p:sp>
      <p:sp>
        <p:nvSpPr>
          <p:cNvPr id="10" name="Shape 7"/>
          <p:cNvSpPr/>
          <p:nvPr/>
        </p:nvSpPr>
        <p:spPr>
          <a:xfrm>
            <a:off x="731520" y="4572000"/>
            <a:ext cx="10698480" cy="1143000"/>
          </a:xfrm>
          <a:prstGeom prst="roundRect">
            <a:avLst>
              <a:gd name="adj" fmla="val 6400"/>
            </a:avLst>
          </a:prstGeom>
          <a:solidFill>
            <a:srgbClr val="1E2F55"/>
          </a:solidFill>
          <a:ln w="12700">
            <a:solidFill>
              <a:srgbClr val="2C4175"/>
            </a:solidFill>
            <a:prstDash val="solid"/>
          </a:ln>
        </p:spPr>
      </p:sp>
      <p:sp>
        <p:nvSpPr>
          <p:cNvPr id="11" name="Text 8"/>
          <p:cNvSpPr txBox="1"/>
          <p:nvPr/>
        </p:nvSpPr>
        <p:spPr>
          <a:xfrm>
            <a:off x="1005840" y="4572000"/>
            <a:ext cx="2377440" cy="1143000"/>
          </a:xfrm>
          <a:prstGeom prst="rect">
            <a:avLst/>
          </a:prstGeom>
          <a:noFill/>
          <a:ln/>
        </p:spPr>
        <p:txBody>
          <a:bodyPr wrap="square" lIns="0" tIns="0" rIns="0" bIns="0" rtlCol="0" anchor="ctr"/>
          <a:lstStyle/>
          <a:p>
            <a:pPr indent="0" marL="0">
              <a:buNone/>
            </a:pPr>
            <a:r>
              <a:rPr lang="en-US" sz="2800" b="1" dirty="0">
                <a:solidFill>
                  <a:srgbClr val="F2A541"/>
                </a:solidFill>
                <a:latin typeface="Cambria" pitchFamily="34" charset="0"/>
                <a:ea typeface="Cambria" pitchFamily="34" charset="-122"/>
                <a:cs typeface="Cambria" pitchFamily="34" charset="-120"/>
              </a:rPr>
              <a:t>Honesty</a:t>
            </a:r>
            <a:endParaRPr lang="en-US" sz="2800" dirty="0"/>
          </a:p>
        </p:txBody>
      </p:sp>
      <p:sp>
        <p:nvSpPr>
          <p:cNvPr id="12" name="Text 9"/>
          <p:cNvSpPr txBox="1"/>
          <p:nvPr/>
        </p:nvSpPr>
        <p:spPr>
          <a:xfrm>
            <a:off x="3474720" y="4572000"/>
            <a:ext cx="7772400" cy="1143000"/>
          </a:xfrm>
          <a:prstGeom prst="rect">
            <a:avLst/>
          </a:prstGeom>
          <a:noFill/>
          <a:ln/>
        </p:spPr>
        <p:txBody>
          <a:bodyPr wrap="square" lIns="0" tIns="0" rIns="0" bIns="0" rtlCol="0" anchor="ctr"/>
          <a:lstStyle/>
          <a:p>
            <a:pPr indent="0" marL="0">
              <a:buNone/>
            </a:pPr>
            <a:r>
              <a:rPr lang="en-US" sz="2000" dirty="0">
                <a:solidFill>
                  <a:srgbClr val="FFFFFF"/>
                </a:solidFill>
                <a:latin typeface="Calibri" pitchFamily="34" charset="0"/>
                <a:ea typeface="Calibri" pitchFamily="34" charset="-122"/>
                <a:cs typeface="Calibri" pitchFamily="34" charset="-120"/>
              </a:rPr>
              <a:t>Enforce hard rules in code. Add auth, retries and tests before shipping.</a:t>
            </a:r>
            <a:endParaRPr lang="en-US" sz="2000" dirty="0"/>
          </a:p>
        </p:txBody>
      </p:sp>
      <p:sp>
        <p:nvSpPr>
          <p:cNvPr id="13" name="Text 10"/>
          <p:cNvSpPr txBox="1"/>
          <p:nvPr/>
        </p:nvSpPr>
        <p:spPr>
          <a:xfrm>
            <a:off x="731520" y="6035040"/>
            <a:ext cx="10515600" cy="365760"/>
          </a:xfrm>
          <a:prstGeom prst="rect">
            <a:avLst/>
          </a:prstGeom>
          <a:noFill/>
          <a:ln/>
        </p:spPr>
        <p:txBody>
          <a:bodyPr wrap="square" lIns="0" tIns="0" rIns="0" bIns="0" rtlCol="0" anchor="ctr"/>
          <a:lstStyle/>
          <a:p>
            <a:pPr indent="0" marL="0">
              <a:buNone/>
            </a:pPr>
            <a:r>
              <a:rPr lang="en-US" sz="1500" dirty="0">
                <a:solidFill>
                  <a:srgbClr val="A9B6D3"/>
                </a:solidFill>
                <a:latin typeface="Calibri" pitchFamily="34" charset="0"/>
                <a:ea typeface="Calibri" pitchFamily="34" charset="-122"/>
                <a:cs typeface="Calibri" pitchFamily="34" charset="-120"/>
              </a:rPr>
              <a:t>Next: README.md quick start, then pick one exercise from slide 19.</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Meridian AI - Teaching Deck</dc:title>
  <dc:subject>PptxGenJS Presentation</dc:subject>
  <dc:creator>Mayank Chugh</dc:creator>
  <cp:lastModifiedBy>Mayank Chugh</cp:lastModifiedBy>
  <cp:revision>1</cp:revision>
  <dcterms:created xsi:type="dcterms:W3CDTF">2026-10-09T19:09:02Z</dcterms:created>
  <dcterms:modified xsi:type="dcterms:W3CDTF">2026-10-09T19:09:02Z</dcterms:modified>
</cp:coreProperties>
</file>