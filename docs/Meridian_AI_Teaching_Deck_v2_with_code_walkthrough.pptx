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(about 2 min)
Welcome the class. This deck teaches two of the most common patterns in applied AI today: Retrieval-Augmented Generation (RAG) and tool-using agents. We learn them from one small codebase, Meridian AI, about 1,500 lines of Python plus a React front end.
Say up front: the company in the examples, Aldermoor Industries, is fictional and so is all the data. This is a learning project, not a compliance product. Students will see exactly where it is honest about that and where a real system would need more.
How to use the deck: every slide has a script in the Notes pane. Timing for a full run is roughly 2.5 to 3 hours with the hands-on exercises, or 90 minutes if you skip exercises and the code walk-through slides.
Ask the room (1 minute, show of hands): who has used a chatbot over their own documents? Who has built an agent that calls tools? Use the answers to decide how long to spend on slides 6 to 10 (RAG) versus 11 to 15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Read the three outcomes aloud and tie each to a part of the deck.
1. Explain RAG end to end: ingestion (slides 7-8), retrieval strategies (slide 9), grounded answering (slide 10).
2. Explain an agent as LLM + tools + prompt, and a supervisor that chains agents (slides 11-14 and 26).
3. Judge honestly what is demo-grade vs production-grade (slides 30-31). This is the most valuable skill: being able to look at an AI system and say what could go wrong.
Tell students the approach: we always point at real files and line ranges (for example backend/rag/retrieval.py). If they can find the code, they can change the code.
Set expectation: there is a hands-on lab at the end (slide 33) and a quiz (slide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Two jobs, one app.
Job 1, Ask your documents: upload PDFs, ask in plain English. The prompt forces the model to answer only from retrieved passages and to say "I don't know" otherwise. Four fictional PDFs live in sample_docs/: procurement policy, IFRS accounting policy, annual report FY2024, EU tariff excerpt.
Job 2, Check a purchase before paying: paste a purchase request. Three specialist agents (Risk and Compliance, Tax and Treasury, Financial Control) review it, then a CFO step writes one memo with a decision.
Key honesty point from the README that you should read out: the audit "checks" come from the model's general knowledge. Only the exchange-rate check calls a live data source (api.frankfurter.dev), with an AI estimate as fallback. So this shows how such a system is BUILT, it is not a real compliance tool.
Question for students: why is it still a useful teaching example even though the checks are not real? Expected answer: the architecture (tools, prompts, supervisor, structured output) is identical to what you would build with real data sources; swapping a tool body for a real API call is a small change.
Mention what is NOT in the code: user accounts, a database, background jobs, queues, per-user document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Walk left to right and trace one request.
Browser: a React single-page app. Its ONLY backend client is frontend/src/lib/api.ts. Good habit to point out: one file talks to the backend.
FastAPI (backend/api): main.py wires the app, CORS and static serving; endpoints.py holds thin routes; schemas.py holds Pydantic models. Routes validate input, call real logic, return JSON.
Two logic packages: rag/ (llm, embeddings, vector_store, data_ingestion, retrieval) and agent/ (agents, tools, prompts).
Externals on the right: Gemini (via API key), Vertex AI embeddings and Vector Search (via Google Cloud credentials), Cloud Storage (copy of uploads and logs), Frankfurter (live FX rates).
Dependency rule, from the code: api uses rag and agent; agent uses rag.llm; rag and agent use config and logger; logger uses config. Nothing imports upward, so no circular imports. Ask: why does this matter? It keeps each layer testable and replaceable.
Mention that in Docker one server serves both the API and the built web page on port 8080 (main.py lines 60-73, Dockerfile).
Teaching moment: llm.py uses an API key for Gemini while embeddings use Google Cloud credentials. The project deliberately demonstrates both ways to authenticate to Google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Do not read the table; pick the three that students will meet most.
LangChain 1.x provides create_agent, the retrieval chain, and PDF loading. langgraph is the engine behind create_agent, but this repo writes no graph code. Say so explicitly, students often assume they need to learn LangGraph to read this project.
langchain-google-genai gives the Gemini chat model by API key; langchain-google-vertexai gives embeddings and the Vector Search store.
FastAPI and Pydantic validate and serve. structlog gives JSON logs.
Front end: React 18, Vite, TypeScript, Tailwind and shadcn/ui. The scaffold looks Lovable-generated (inferred from package.json), which is fine for a learning UI.
Tests: pytest for backend (9 tests, all external calls faked), Vitest for front end (16 tests).
Versions are pinned in requirements.txt and verified to install together on Python 3.12.10. Point out why pinning matters for AI libraries that change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Core idea: an LLM does not know your private documents, and fine-tuning for every document change is slow and costly. So we RETRIEVE the relevant passages at question time and PASTE them into the prompt.
Top lane, done once per document (ingest): PDF to pages to chunks to embeddings to the vector index.
Bottom lane, done on every question (ask): embed the question, find nearest chunks, build a prompt with those chunks, call Gemini, return the answer.
Analogy: an open-book exam. The model is the student, the vector index is the library, retrieval is the student finding the right pages, and the prompt rule "if it is not in the context, say you don't know" is the exam rule against guessing.
Check for understanding (ask, then reveal): where could this go wrong? Expected: the right chunk is not retrieved (so the model cannot answer); the chunk boundary cuts a fact in half; the model ignores the instruction and guesses; the PDF is scanned so no text was extracted at all.
Link to code: ingestion is rag/data_ingestion.py, asking is rag/retrieval.py.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backend/rag/data_ingestion.py with the class.
ingest_pdf(local_path, source): PyPDFLoader returns one Document per page. We stamp metadata["source"] on each page so an answer can be traced to a file. RecursiveCharacterTextSplitter then splits into chunks of at most 1000 characters with 100 overlap. If any chunks exist they go to get_vector_store().add_documents(chunks), which embeds and indexes them.
Why chunk at all? Embeddings represent one passage's meaning; a whole PDF blurs everything together, and prompts have size limits. Why overlap? So a sentence cut at a boundary still appears whole in the neighbouring chunk.
Trade-off to discuss: small chunks give precise matches but lose context; big chunks keep context but dilute the match. 1000/100 is a sensible starting point, not a law. Ask students how they would pick a better value (answer: build a small question set and measure retrieval quality).
Gotchas the code itself documents:
- A scanned, image-only PDF has no text, so zero chunks. The upload endpoint reports it as "skipped" with a reason.
- The bulk path ingest_data_from_gcs() lists every PDF under the bucket prefix. Nothing checks whether a file was already indexed, so running it twice indexes everything twice (inferred from the code).
- Upload only checks the file extension, not the content, and there is no size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Explain an embedding as coordinates for meaning: text goes in, a list of 768 numbers comes out. Texts with similar meaning land close together, so "payment terms for servo suppliers" lands near a chunk that says "Net-45 for servo motor vendors" even without shared words.
Show rag/embeddings.py: VertexAIEmbeddings with model text-embedding-005. The file's own comment is the key lesson: the index was created with 768 dimensions, so the model must output 768, and the SAME model must be used for indexing and querying. Mixing models silently ruins search quality, no error is raised.
rag/vector_store.py: VectorSearchVectorStore.from_components with index id, endpoint id, bucket, and stream_update=True, matching the index that deploy.yml creates in STREAM_UPDATE mode so new chunks become searchable immediately without a rebuild.
Design pattern: get_vector_store() is wrapped in @lru_cache and connects on first use. Why? So /api/health works before GCP is configured. Students will see this lazy-and-cached pattern again for the LLM and the supervisor.
Cost warning (from DEPLOY.md and README): a deployed Vector Search index/endpoint is billed by the hour even when idle. Make sure students know to shut it down after labs.
Honest unknown to share: where the chunk text itself is stored inside the library is not verified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backend/rag/retrieval.py, function build_retriever. The API field retriever_type selects the strategy; anything unknown logs a warning and falls back to similarity.
1. similarity (default): top 3 chunks closest in meaning. Fast, one embedding call, cheapest. Best when the question uses similar wording to the document.
2. multiquery: Gemini rewrites the question several ways, each variant is searched, results are merged. Costs extra LLM calls but helps when users phrase things differently from the document ("what do we owe on late shipments" vs "penalty clause").
3. contextual: fetch 10 chunks, then Gemini trims each to only the relevant part (LLMChainExtractor). Cuts noise in the final prompt but costs one LLM call per chunk, so it is the slowest.
Live demo idea: ask the same question with all three and compare answers and latency. Good question: "What are the standard payment terms for servo motor suppliers?"
Discussion: which would you use for a customer-facing chat with a strict latency target? (similarity, maybe multiquery.) For long, rambling policy documents? (contextual.)
Design note for the more advanced students: the prompt and both chains are rebuilt on every call (only the LLM and vector store are cached). Fine at this scale; a candidate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SYSTEM_PROMPT in retrieval.py. {context} is filled with the retrieved chunks by create_stuff_documents_chain ("stuff" means: stuff all chunks into one prompt). create_retrieval_chain runs the retriever first, then that chain. The call is rag_chain.invoke({"input": query}) and only response["answer"] is returned.
The most important line is "If you don't know the answer based on the context, say that you don't know." This is what makes it RAG instead of a chatbot that guesses. With temperature 0 (default LLM_TEMPERATURE=0) answers are as repeatable as possible.
Be candid about limits, they make good discussion:
- The API returns only the answer text. The source passages are NOT returned, so users cannot verify citations. Ask students how they would add sources (return response["context"] and each chunk's metadata source and page).
- The prompt is only a request to the model. It reduces guessing but does not guarantee it. Real systems add evaluation sets.
- The query and the full answer are logged in full (retrieval.py). Logs therefore contain user content. Treat logs as sensitive.
Exercise hook: change the prompt to demand a citation after every claim and compare answers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Definition used in this codebase (agents.py, create_specialized_agent): an agent = the LLM + a set of tools + a system prompt. The model decides WHICH tool to call, with WHAT arguments, and when to stop. create_agent from LangChain (built on LangGraph, though we write no graph code) runs that loop.
A tool is a normal Python function decorated with @tool. IMPORTANT teaching point: the function's docstring is sent to the model as the tool description, so changing the wording changes what the agent sees. Show one example from tools.py.
Contrast with RAG: RAG always retrieves then answers (a fixed pipeline). An agent chooses its own steps.
Prompt recipe used in prompts.py (tell students to steal this): 1 ROLE, 2 RESPONSIBILITIES, 3 DECISION FRAMEWORK (which tool first, how to read results), 4 OUTPUT FORMAT (exact structure so the next step can rely on it).
Be honest about a subtle point: the prompts say which tool to call first (for example sanctions before credit), but the code does not enforce it. The model is trusted to follow instructions. Ask: when is that acceptable, and when would you enforce order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Trace POST /api/agent/audit. The route (endpoints.py) calls get_supervisor() which builds a ProcurementSupervisor once (lru_cache) with three agents, then run_audit(request_text).
Run order, one after another, NOT in parallel: Risk and Compliance, Tax and Treasury, Financial Control. Each result is logged in full. Finally ONE plain LLM call (no tools) with SYNTHESIS_PROMPT_TEMPLATE, the "CFO", turns three reports into a memo.
Response has four fields: risk_result, tax_result, control_result, cfo_memo.
Count the model calls: at least 3 agents x (decide tool + final answer) plus tool-internal LLM calls plus the CFO call. The README estimates roughly 11 or more Gemini calls per audit (inferred, not measured). Ask: why does this make audits slow (the UI says allow a minute or more) and what could speed it up? Answer: the three agents are independent, so they could run in parallel; the CFO step must wait for all three.
Sample request for the demo: Purchase of 200 PLC controllers from Takumi Controls Europe B.V. (Netherlands), 480,000 EUR, origin JP, destination DE, FX rate 1 EUR = 163.5 JPY.
Front-end note: the progress ticks on the Audit tab are fake timers, not real progress events. Good honesty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backend/agent/tools.py.
Risk agent: check_sanctions_list (is the vendor on OFAC, EU, UN, UK lists) and get_vendor_credit_score (JSON with score, risk level, reasoning).
Tax agent: calculate_cross_border_tax (VAT/GST and duty as JSON) and validate_fx_hedge (compare the quoted rate with a live market rate; variance above 5% means FX ALERT).
Control agent: categorize_expense (CapEx versus OpEx with depreciation and flags).
THE central honesty point: four of five tools ask Gemini from general knowledge. None looks up a real sanctions database, credit bureau or tax engine. Only validate_fx_hedge calls api.frankfurter.dev (10 second timeout) and falls back to a Gemini estimate if that fails.
Patterns to praise: all LLM-backed tools go through one helper, _ask_llm, which returns "LLM_ERROR: ..." instead of raising; each tool then degrades gracefully, for example "Manual review required". Tools do not raise on LLM failure.
Patterns to critique (great discussion):
- If Gemini returns malformed JSON for tax, the code silently uses a hard-coded 15% fallback rate. Plausible but possibly wrong numbers, with only a note field marking it.
- validate_fx_hedge labels the rate "live market" even when it came from the Gemini fallback, and a zero market rate could cause a divide-by-zero.
Ask: what would you change before using this for real money? (Real data sources, fail closed on parse errors, log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SYNTHESIS_PROMPT_TEMPLATE in prompts.py. It receives the three reports via str.format and applies the decision rule:
- ANY report containing "RED ALERT" means the final verdict MUST be REJECTED.
- ANY "FX ALERT" or "HOLD FOR TREASURY AUDIT" means CONDITIONAL HOLD, listing the conditions to resolve.
- ALL reports APPROVED or SUCCESS means APPROVED TO PAY with cost centre and GL posting instructions.
Then a fixed memo format ending with NEXT ACTIONS naming the team and deadline.
Key lesson: those literal strings are matched by the CFO LLM, not by Python code. They originate in the tools and specialist prompts. The file comment warns that renaming one requires renaming everywhere.
Debate question: this is a hard business rule ("any RED ALERT means reject"). Should it live in a prompt or in code? Strong answer: enforce hard rules in deterministic code (a simple string check on the three results), and let the LLM only write the memo. The prompt version can fail silently.
Also note: str.format is used, so any literal curly brace added to the template must be doubled. A classic bug for students who edit prompts. Good exercise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 how to run this section
This section is a guided read of the real code, in the order a request travels. Each slide shows an excerpt on the left and four numbered callouts on the right. Excerpts are trimmed for the screen; the file path above each excerpt tells students where to open the full file.
Suggested teaching method: open the repository in an editor on a second screen. For every slide, (1) read the excerpt aloud, (2) walk the four numbers, (3) ask the "check yourself" question in the notes, (4) open the file and show the surrounding lines.
Order: browser client (16), configuration (17), server wiring (18), thin routes (19), upload (20), the model client (21), RAG chain (22), prompts (23), tools (24-25), supervisor (26), logging (27), tests (28), and a recap trace (29).
Time: about 5 minutes per slide, so roughly 65-75 minutes. If short on time, teach 16, 19, 22, 24, 26 and 29 only.
Tell students the standing rule used by this repo's own docs: only trust what you can point to in the code. Where this deck says "inferred" or "not verified", that is the repo's own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frontend/src/lib/api.ts. The whole file is 80 lines and is the ONLY place the front end talks to the backend. That is a design rule written in CLAUDE.md: "call the backend only through src/lib/api.ts".
Line by line:
1. BASE_URL (line 5). import.meta.env is Vite's way to read build-time variables. In dev the page runs on port 3000 and the API on 8080, so it needs an absolute URL. In the Docker image both are served from one port, so an empty string gives same-origin requests. Students who see "Failed to fetch" usually have the backend off or VITE_API_URL wrong (README troubleshooting).
2. request&lt;T&gt; (lines 7-14) is a tiny wrapper: fetch, check res.ok, parse JSON, throw Error(body.detail). The backend returns HTTPException(500, detail=str(e)), so the user sees the raw server error text. Good for debugging, risky for security. Raise it again on the limitations slide.
3. askQuestion (lines 36-42) shows the pattern all other functions follow: method, JSON header, JSON.stringify of the body.
4. Note retriever_type in snake_case while the TypeScript variable is camelCase retrieverType. The key must match QueryRequest.retriever_type in api/schemas.py.
Then show RagQATab.tsx lines 25-41 (handleAsk): it adds a history entry, awaits askQuestion, and on error stores err.message.
Check yourself: what happens in the browser if the backend takes 3 minutes? (fetch has no timeout, so it waits; the UI stays in loading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backend/config/settings.py. pydantic-settings reads environment variables first, then the .env file, then falls back to the defaults (precedence is inferred from library defaults in UNDERSTANDING.md).
Points to make:
1. Alias versus attribute. The attribute is what Python code uses (settings.GCP_PROJECT); validation_alias is what the operator sets (GCP_PROJECT_ID). This is why grep for an env var name does not always find the code that uses it. Show .env.example next to it (names only; never open .env on screen).
2. No startup validation. The comment says so. Consequence: /api/health returns ok with no configuration at all, and the first real call to Gemini or Vector Search fails with a raw error. Compare with "fail fast" designs and ask students which they prefer for a demo versus production.
3. env_file=".env" is relative to the current directory, which is why the README says to run commands from the repo root. A very common student error.
4. The module creates the singleton at the bottom (line 54). Lines 58-70 then set GOOGLE_APPLICATION_CREDENTIALS if a service account path exists; if the file is missing it is silently ignored.
Two honest details: ENVIRONMENT and debug are read but no code uses app_env or debug (settings.py comments say so); and the logger import in this file is commented out because logger imports settings, which would create a circular import. That is a nice real example of why the dependency rule on slide 4 matters.
Check yourself: you set GCP_PROJECT=my-proj in .env and nothing changes. Why? (The alias is GCP_PROJECT_ID.)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backend/api/main.py.
1. Lifespan (lines 22-28). FastAPI's modern replacement for startup/shutdown events. Everything before yield is startup (empty here); everything after is shutdown. Connect to slide 27: the logger also registers an atexit hook, so logs are flushed either way and the flag _gcs_flushed prevents a double upload.
2. CORS (lines 42-48). allow_origins=["*"] with allow_credentials=True is permissive. In the Docker setup the browser and API share one origin, so CORS is not even needed there; it matters for dev where the page is on 3000 and API on 8080. Ask: what would you set in production? (The exact web origin.)
3. Router order. FastAPI matches routes in registration order. The catch-all "/{catchall:path}" would swallow everything, so it is registered last. It also only exists if frontend/dist exists, i.e. after npm run build or inside Docker; otherwise the backend is API-only.
4. The catch-all is a small security lesson. os.path.realpath resolves ../ tricks, and the startswith check ensures the final path is inside the dist folder. Ask students to describe the attack it blocks: GET /../../.env returning a secret file. The "api/" check makes mistyped API calls return a real 404 instead of HTML, which makes front-end debugging much clearer.
Check yourself: if you moved include_router calls below the catch-all, what would happen? (Every API URL would return 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backend/api/endpoints.py lines 97-119 and backend/api/schemas.py.
1. Schemas. AuditRequest has one free-text field with no length limit; QueryRequest has query plus retriever_type with a default. The responses are AuditResponse (four strings) and QueryResponse (answer only). A comment in schemas.py explains a tiny design choice: comments are used instead of docstrings on models because a model docstring would leak into the generated OpenAPI docs.
2. Thin routes. Open /docs (FastAPI generates it) and show students the same shapes there. The route body is intentionally short so that logic stays in rag/ and agent/ where it is testable without HTTP.
3. The error pattern. try/except Exception, log.error, raise HTTPException(500, detail=str(e)). Pros: simple, consistent, front end shows a message. Cons: leaks internal text (could include paths or provider messages), and every failure is a 500 even if it was the client's fault. Ask: how would you improve it? (Map known errors to 4xx, return a generic message, include a request id.)
4. get_supervisor (lines 40-43) uses lru_cache so building the three agents happens once per process, on the first request. Side effect: the first audit is a little slower.
These are plain def routes, not async def. FastAPI runs plain def routes in a worker thread, so a slow audit does not block other requests.
Check yourself: a user posts {"request_text": 123}. What happens? (Pydantic returns a 422 validation error before the function body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This is the longest route; read it as a small pipeline.
1. Validation. Skipped files are reported per file with a reason ("Only PDF files are supported"). Note what is missing: no content sniffing, no size cap (line 144 reads everything), and no limit on the number of files. Ask what a hostile user could do (upload huge files to exhaust memory).
2. Temp storage. mkdtemp creates a private folder; os.path.basename means a filename like ../../x.pdf becomes x.pdf. The finally block removes the folder even on error (a mkdtemp call outside try is a small gap the audit notes mention).
3. Dual write. The original PDF is copied to GCS under GCS_PREFIX + filename; this is wrapped in its own try/except, so failure only logs a warning. Consequence: partial state is possible, indexed but not stored. Also a same-name upload overwrites the earlier object.
4. async versus blocking. The route is async def because it awaits upload.read(). ingest_pdf does slow, blocking work (PDF parse, embedding calls), so it is pushed to a thread with run_in_threadpool. This is an important async lesson: never run blocking work directly inside async def.
Then it checks summary["chunks"] == 0 and reports a scanned PDF as skipped, otherwise "ingested" with pages and chunks.
Honest limitation worth stating: results are appended to the in-memory _upload_history only after ALL files succeed. If file 3 raises, files 1-2 may already be indexed but are not recorded, and the whole request returns 500.
Check yourself: why is the source stored as "upload://filename" rather than a real URL? (It is just a label saved in each chunk's metadata so answers can be traced to a file; the bulk GCS path uses gs://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Open backend/rag/llm.py (35 lines).
1. Lazy singleton. The same get_llm() is used by retrieval.py, tools.py (through _ask_llm) and agents.py. One shared client; created on first use so the app starts without a key.
2. Authentication note from the file's header comment: Gemini here uses an API key, while embeddings use Google Cloud credentials. Two different ways to reach Google models inside one app.
3. Missing production settings: no timeout, no retries, no rate limiting. A student should be able to name at least one failure that would result (a hung request holding a worker; a transient 429 turning into a user-visible 500).
4. extract_text. Newer Gemini models can return the message content as a list of blocks rather than a plain string. This helper keeps all callers simple. Edge case: a list with no text block returns an empty string, and non-text blocks are dropped silently.
Check yourself: where is extract_text used? (agents.py for each agent's final message and the CFO call; tools.py inside _ask_llm.)
Exercise hook: add max_retries or timeout to ChatGoogleGenerativeAI and note that you must verify the parameter name for your installed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This is the heart of the RAG feature. Open backend/rag/retrieval.py.
1. build_retriever. Walk each branch and tie it to slide 9. Show that k is hard-coded (3 or 10). Contextual adds an LLM call per chunk, multiquery adds LLM calls for query rewriting.
2. ask_question. The data flow in one sentence: {"input": query} goes into the retrieval chain; the retriever returns documents; the stuff chain fills {context} in the system prompt and calls Gemini; the output dict contains "input", "context" (the documents) and "answer".
3. Say clearly: the function returns only response["answer"]. The "context" key holds the retrieved chunks with their metadata (source, page). Returning them is a ten-line change and would give users citations. That is exercise 7 on the exercises slide.
4. Performance and design: building prompt and chains on every call is cheap compared to the network calls, so it is fine; but the log lines include the full query and the full answer (lines 53 and 66), so logs may hold sensitive text.
Live demo option: run python -c in the backend folder only if Google Cloud is configured; otherwise show the fake used in tests/test_api.py (slide 28) to explain how the route can be tested without any of this.
Check yourself: with retriever_type="contextual", how many LLM calls does one question cost at minimum? (About 10 extractor calls for the chunks plus 1 for the final answer; the extractor behaviour is inside the library, so treat this as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backend/agent/prompts.py. The file header explains the four-part recipe; make students label the four parts on this slide (the four callouts).
1. ROLE. The persona carries domain context: Aldermoor, fictional German manufacturer, 40+ subsidiaries, goods it buys.
2. RESPONSIBILITIES. A short list; compare with the tax and control prompts, each has a different list, which is what makes them specialists.
3. DECISION FRAMEWORK. Tool names appear in backticks and are numbered. Thresholds (75 and 50) are written into the prompt text. IMPORTANT: this is guidance, not code. Nothing in agents.py forces check_sanctions_list to run first. If you need guaranteed order, call the tool in Python and pass the result in.
4. OUTPUT FORMAT. A fixed template means downstream code or prompts can rely on it. The literals RED ALERT, FX ALERT and HOLD FOR TREASURY AUDIT must match across tools.py, the specialist prompts and the CFO prompt; the file comment warns to rename them everywhere.
Technique notes: be specific, give thresholds, ask for a decisive verdict, forbid hedging. Mention str.format: the CFO template is filled with .format(), so any literal curly brace must be doubled.
Exercise hook: change the credit threshold from 75 to 85 in the prompt and rerun the sample audit; notice the model follows the prompt text, not a code constant.
Check yourself: if you rename "RED ALERT" to "BLOCKED" in tools.py only, what breaks? (The CFO prompt no longer sees the literal string, so the REJECTED rule may silently stop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13-58.
1. _ask_llm. A tiny wrapper that converts exceptions into a string starting with LLM_ERROR. This is the repo's convention: tools do not raise on LLM failure. Pros: the agent can continue and a human sees "manual review required". Cons: errors become ordinary text; nothing is logged at tool level (the failure matrix in UNDERSTANDING.md says so).
2. The @tool decorator and docstring. LangChain builds a tool schema from the function name, type hints and the docstring. The model reads that schema to decide when to call it, so wording like "Checks if a vendor is on global restricted/sanctioned entities lists." is effectively part of the prompt.
3. The prompt inside the tool. It asks for a one-paragraph answer starting with RED ALERT: or CLEARED:. This is the string contract the Risk prompt and CFO prompt rely on. It also says "do not fabricate matches", but a model can still be wrong, so this is NOT a real compliance check.
4. Fail-safe behaviour. If the LLM errors, the tool returns a warning telling humans to review manually, instead of returning CLEARED. Ask students why that default is the safe one (fail closed beats fail open for a sanctions check).
Contrast with the next slide: the FX tool is the only one that touches live data.
Check yourself: the model returns "Cleared - no matches". Does the Risk agent's downstream logic still work? (The string does not start with the exact "CLEARED:" token; the CFO looks for RED ALERT, so it would not trigger rejection, but formatting contracts are fragile. A good case for structured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179-223. Condensed on the slide; the real code also builds the LLM prompt and returns a WARNING when neither source works.
1. Parsing. Accepts EUR_JPY, EUR/JPY, EUR-JPY. If the pair cannot be parsed into two parts, base and quote stay None and the code goes straight to the LLM fallback.
2. Live data. Frankfurter is a free exchange-rate API. A 10 second timeout is set, and the whole block is wrapped in try/except with pass, so any failure silently falls through. Note this swallows errors without logging.
3. Fallback. The model is asked for a single number; float() parsing may fail, in which case the tool returns an FX WARNING telling treasury to review manually.
4. Variance and the 5% hedge band (hard-coded at line 215, documented in the Tax prompt as the approved band).
Worked example for the board, clearly marked illustrative since real rates change: sample request quotes 1 EUR = 163.5 JPY. If the live rate were 160.0, variance = 3.5/160 = 2.19%, so FX SUCCESS. If the supplier quoted 175, variance = 15/160 = 9.38%, so FX ALERT, and the CFO prompt turns that into CONDITIONAL HOLD.
Flaws to discuss (all stated in the repo's own comments): "live market" label is decided by whether the pair parsed, not by where the number came from; market_rate of 0 would raise ZeroDivisionError; failures are silent.
Check yourself: how would you make the source label honest? (Set source = "live" only when the API returned the rate, "estimated"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Live-read agents.py with the class. Four things to point out:
1. __init__ builds three agents once, each with its own small toolset: risk gets sanctions and credit; tax gets cross-border tax and FX; control gets categorize_expense. Giving each agent only the tools it needs keeps it focused.
2. _invoke_agent sends {"messages": [{"role": "user", "content": request}]} and reads the LAST message's content. extract_text (llm.py) handles Gemini returning a list of content blocks instead of a string.
3. run_audit calls the three agents in sequence and logs each phase, then one plain self.llm.invoke(synthesis_prompt).
4. No try/except here on purpose: exceptions bubble up to the route, which logs and returns HTTP 500 with the error text.
You can run it without the web app: from the backend folder, python -m agent.agents runs a built-in sample audit and prints the memo. Needs only a Gemini key. This is the cheapest way for students to experiment.
Ask: what happens to the earlier agents' work if the CFO call fails? (Lost; nothing is persisted.) What would you store in a real system? (Request, each report, memo, timestamps, model version, for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backend/logger/custom_logger.py.
1. Why JSON logs? Machines can filter and chart them; Cloud Run collects stdout and Cloud Logging understands JSON. Each call like log.info("Phase complete", phase="Tax &amp; Treasury") becomes one JSON line with extra fields.
2. The processor chain (lines 71-81). structlog processors are a pipeline of small functions: add timestamp, add level, add_severity (our own function, tested in test_api.py), rename the default message key to event, then render JSON. Ask students to predict what breaks if JSONRenderer were first (nothing to render yet / wrong order).
3. add_severity (lines 14-24). Copies level to severity in upper case; if there is no level, it adds nothing.
4. Lifecycle. CustomLogger creates the logs folder at construction, one file per process named by timestamp. atexit registers flush_to_gcs; main.py's lifespan calls it too; the _gcs_flushed flag makes it safe to call twice. If no bucket is configured it prints a skip message. Failures to upload are only printed.
Honest points: this is configured as a global side effect (logging.basicConfig and structlog.configure) called once from logger/__init__.py; the logs directory is created at import time with no error handling; and CLAUDE.md says "log sizes and ids, not user content" while retrieval.py and agents.py log full queries and answers. Make students notice that gap between the stated rule and the code.
Check yourself: Cloud Run instances can restart at any time. What log data could you lose? (Anything since the last flush, as upload happens only at shutdown.)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backend/tests/conftest.py and test_api.py. The suite has 9 tests: health, status, unknown route 404, ask, audit, non-PDF upload, chunking, sample PDFs, and the severity field.
1. conftest.py runs before tests are collected. It sets env vars with setdefault so a developer's real values are not overwritten, except GCS_BUCKET_NAME which is forced empty on purpose so the logger skips its upload at exit. It also inserts the backend folder in sys.path so imports like import api work when pytest runs from the repo root.
2. Faking at the seam. monkeypatch.setattr(endpoints, "ask_question", ...) replaces the name the route actually calls (it was imported into endpoints, so patch endpoints, not rag.retrieval). This is a classic gotcha: patch where it is used. Same idea for get_supervisor with a FakeSupervisor class in test_audit_returns_all_four_sections.
3. Real logic tests where possible. split_into_chunks is pure, so it is tested for real: more than one chunk, source metadata preserved, chunk size at most 1000. test_sample_pdfs_load_and_chunk reads the four sample PDFs and requires non-empty chunks.
4. Be candid about coverage: these are smoke tests. test_status checks project_id equals test-project, which is why the README says to run them in a shell without GCP_PROJECT_ID set. No test covers prompts, tools, retrieval strategies or the vector store.
Front end: Vitest has 16 tests (a placeholder plus 15 characterization tests for RagQATab and AuditTab with the API client mocked).
Check yourself: write one more test, for retriever_type="bogus" through the route. What do you patch? (ask_question in endpoints; or test build_retriever's fallback with fakes for get_llm and get_vector_store.)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Use this slide to close the walkthrough. Have students name each step before revealing the file column. Then repeat for the audit path: browser calls /api/agent/audit; the route calls get_supervisor().run_audit; three agents run in sequence using tools and prompts; the CFO call synthesises; the route returns four fields; the browser renders them.
Key idea to leave them with: every hop is a small, named function in a small file. When something fails, you can bisect: is it the browser (api.ts), validation (schemas), config (settings), retrieval (vector store), model (llm), or the prompt?
Debugging drill (3 minutes, in pairs): "Q&amp;A returns HTTP 500 with a vague message." Where do you look first? (Logs: logs/&lt;timestamp&gt;.log; then config values in /api/status; then Vector Search index and endpoint ids; the DEPLOY.md troubleshooting table.) Remember that /api/status makes no GCP calls, so it only proves the settings are present, not that they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habits that make this small codebase easy to read. Walk the six cards quickly and open one file for each if time allows.
1. Lazy, cached clients: get_llm, get_vector_store, get_embeddings, get_supervisor all use @lru_cache and connect on first use. Benefit: the server starts and /api/health responds even if cloud settings are missing.
2. Thin routes: endpoints validate, call rag/ or agent/, return JSON. Business logic stays testable.
3. One settings object: config.settings.settings, never os.environ directly. Env var names differ from attribute names via validation_alias.
4. Structured JSON logging: structlog, one JSON line per event, flushed to Cloud Storage on shutdown (important because Cloud Run disk is ephemeral). Rule in CLAUDE.md: log sizes and ids, not user content (the code does not fully follow its own rule, a good honest discussion point).
5. Tests with fakes: conftest.py sets fake env values; test_api.py fakes ask_question and the supervisor with monkeypatch. 9 backend tests pass with no network or accounts. Be clear what they do NOT test: Gemini, Vector Search, Cloud Storage, or real ingestion.
6. One front-end client: all calls go through src/lib/api.ts.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This is the critical-thinking slide; give it real time. Everything below is traceable to the repo's own docs (docs/UNDERSTANDING.md, docs/AUDIT.md) and code.
Security and cost: no authentication anywhere. The Cloud Run deploy uses --allow-unauthenticated, so anyone with the URL can spend your Gemini quota and upload files. CORS allows every origin. /api/status discloses infrastructure ids. The deploy workflow is manual-dispatch only and provisions hourly-billed resources, so read DEPLOY.md first.
Correctness: four of five audit tools are LLM recall. Malformed JSON falls back to a silent 15% tax rate. FX "live market" label can be wrong.
Reliability: no retries or backoff, no request size limits, no startup config validation, no timeouts on the browser fetch. Failures return raw error text (str(e)) to the caller. A batch upload that fails midway leaves earlier files indexed but unrecorded.
Privacy: logs contain full queries, answers and audit text. Treat logs as sensitive.
Data: no database; upload history is in memory and lost on restart; no per-user document separation.
Ask students to rank the top three they would fix first and justify it. A typical good answer: auth and cost protection first, then real data sources for the audit tools, then retries and input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then lab time)
Safety first: keep .env out of git, never paste keys on screen, use placeholders. Variable names only: GOOGLE_API_KEY, GCP_PROJECT_ID, GCP_REGION, GCS_BUCKET_NAME, VECTOR_SEARCH_INDEX_ID, VECTOR_SEARCH_INDEX_ENDPOINT_ID.
Tiers of effort, cheapest first:
Tier 0 (free, no accounts): run backend tests, run front-end tests.
Tier 1 (needs only a Gemini API key): the purchase audit, including python -m agent.agents.
Tier 2 (needs Google Cloud with a Vector Search index and endpoint): document Q&amp;A and uploads. This costs money by the hour; do this as a demo from the instructor machine unless students have budget alerts set.
Commands are in README.md; note the README distinguishes commands that were verified (installs, tests, build) from ones not yet run (starting uvicorn, Docker build, any Google call). Teach that distinction: verified versus documented.
Gotchas from the Troubleshooting table: run from repo root and keep --app-dir backend; GCP_PROJECT_ID must be unset for the fake-env test; the default model name gemini-3.8-flash is not verified to exist, so set VERTEX_LLM_MODEL_NAME to a current model; npm run lint currently fails with existing errors, which is known and not caused by the student.
Open http://localhost:8080/docs for the interactive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(lab, 45-60 min)
Pair students. Suggested order and what a good outcome looks like.
Beginner:
1. Run the tests (Tier 0) and read test_api.py. Outcome: they can explain why tests need no network (monkeypatch fakes plus conftest fake env).
2. Edit SYSTEM_PROMPT to require a citation after each claim, then compare answers. Outcome: they see prompts change behavior, and that the source passages are still not returned by the API.
Intermediate:
3. Change CHUNK_SIZE to 400 and 2000 and re-ingest a sample PDF. Compare answers to the same five questions. Outcome: an intuition for the chunk-size trade-off. Remind them re-running creates duplicates (no dedupe).
4. Add a unit test that sends a bad retriever_type and checks the fallback to similarity.
Advanced:
5. Make the RED ALERT rule deterministic: after the three agents run, check for the string in Python and short-circuit to REJECTED before the CFO call. Outcome: they move a hard rule out of a prompt.
6. Run the three agents in parallel (ThreadPoolExecutor) and measure the time saved.
7. Return source file and page with each answer (extend QueryResponse).
Debrief 10 minutes: what surprised you? which change was riskiest?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Answers below; reveal after discussion.
1. Why do we overlap chunks? Answer: so facts cut at a boundary still appear whole in a neighbouring chunk.
2. What breaks if indexing uses one embedding model and querying uses another? Answer: nothing errors, but similarity results become meaningless; vectors from different models are not comparable (and the index expects 768 dimensions).
3. Which retriever would you pick when users phrase questions very differently from the documents, and what does it cost? Answer: multiquery; extra LLM calls and latency.
4. Which of the five tools uses a live data source? Answer: validate_fx_hedge (Frankfurter), with an LLM fallback.
5. Why is "any RED ALERT means REJECTED" risky inside a prompt? Answer: the LLM, not code, enforces it; it can fail silently. Enforce it in Python.
6. Name two reasons you could not deploy this publicly as-is. Answer: no authentication with a public Cloud Run service (cost and abuse risk), LLM-recalled compliance checks, sensitive logs, no retries or limits.
Optionally turn these into an interactive quiz or a printed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Close with the three messages and one call to action.
1. RAG = retrieve first, then answer only from what was retrieved. Quality depends on chunking, embeddings, retrieval strategy and the grounding prompt.
2. Agent = LLM + tools + prompt. Give each agent a narrow job, an exact output format, and only the tools it needs.
3. Be honest about what is real. An AI system that sounds confident is not necessarily using real data. Enforce hard rules in code, add auth, retries, limits and evaluation before shipping.
Call to action: pick one exercise from slide 33 and finish it this week. Point students to README.md (quick start), docs/ARCHITECTURE.md and docs/UNDERSTANDING.md (file and line references), CLAUDE.md (conventions), and DEPLOY.md (cost and shutdown steps before any cloud work).
Invite questions. Remind everyone to shut down any Vector Search endpoint they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Meridian AI</a:t>
            </a:r>
            <a:endParaRPr lang="en-US" sz="6000" dirty="0"/>
          </a:p>
        </p:txBody>
      </p:sp>
      <p:sp>
        <p:nvSpPr>
          <p:cNvPr id="3" name="Text 1"/>
          <p:cNvSpPr txBox="1"/>
          <p:nvPr/>
        </p:nvSpPr>
        <p:spPr>
          <a:xfrm>
            <a:off x="731520" y="2926080"/>
            <a:ext cx="9601200" cy="822960"/>
          </a:xfrm>
          <a:prstGeom prst="rect">
            <a:avLst/>
          </a:prstGeom>
          <a:noFill/>
          <a:ln/>
        </p:spPr>
        <p:txBody>
          <a:bodyPr wrap="square" lIns="0" tIns="0" rIns="0" bIns="0" rtlCol="0" anchor="ctr"/>
          <a:lstStyle/>
          <a:p>
            <a:pPr indent="0" marL="0">
              <a:buNone/>
            </a:pPr>
            <a:r>
              <a:rPr lang="en-US" sz="2600" dirty="0">
                <a:solidFill>
                  <a:srgbClr val="F2A541"/>
                </a:solidFill>
                <a:latin typeface="Cambria" pitchFamily="34" charset="0"/>
                <a:ea typeface="Cambria" pitchFamily="34" charset="-122"/>
                <a:cs typeface="Cambria" pitchFamily="34" charset="-120"/>
              </a:rPr>
              <a:t>Learn RAG and multi-agent AI by reading one small, real codebase</a:t>
            </a:r>
            <a:endParaRPr lang="en-US" sz="2600" dirty="0"/>
          </a:p>
        </p:txBody>
      </p:sp>
      <p:sp>
        <p:nvSpPr>
          <p:cNvPr id="4" name="Text 2"/>
          <p:cNvSpPr txBox="1"/>
          <p:nvPr/>
        </p:nvSpPr>
        <p:spPr>
          <a:xfrm>
            <a:off x="731520" y="4023360"/>
            <a:ext cx="10515600" cy="457200"/>
          </a:xfrm>
          <a:prstGeom prst="rect">
            <a:avLst/>
          </a:prstGeom>
          <a:noFill/>
          <a:ln/>
        </p:spPr>
        <p:txBody>
          <a:bodyPr wrap="square" lIns="0" tIns="0" rIns="0" bIns="0" rtlCol="0" anchor="ctr"/>
          <a:lstStyle/>
          <a:p>
            <a:pPr indent="0" marL="0">
              <a:buNone/>
            </a:pPr>
            <a:r>
              <a:rPr lang="en-US" sz="1800" dirty="0">
                <a:solidFill>
                  <a:srgbClr val="C9D3E8"/>
                </a:solidFill>
                <a:latin typeface="Calibri" pitchFamily="34" charset="0"/>
                <a:ea typeface="Calibri" pitchFamily="34" charset="-122"/>
                <a:cs typeface="Calibri" pitchFamily="34" charset="-120"/>
              </a:rPr>
              <a:t>Document Q&amp;A (RAG)  ·  Purchase audit with three AI agents  ·  FastAPI + React + Google Cloud</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8FA0C2"/>
                </a:solidFill>
                <a:latin typeface="Calibri" pitchFamily="34" charset="0"/>
                <a:ea typeface="Calibri" pitchFamily="34" charset="-122"/>
                <a:cs typeface="Calibri" pitchFamily="34" charset="-120"/>
              </a:rPr>
              <a:t>Teaching deck  ·  Speaker notes contain the full lesson script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you will be able to do by the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a:t>
            </a:r>
            <a:endParaRPr lang="en-US" sz="1000" dirty="0"/>
          </a:p>
        </p:txBody>
      </p:sp>
      <p:sp>
        <p:nvSpPr>
          <p:cNvPr id="6" name="Shape 3"/>
          <p:cNvSpPr/>
          <p:nvPr/>
        </p:nvSpPr>
        <p:spPr>
          <a:xfrm>
            <a:off x="548640"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Explain RAG</a:t>
            </a:r>
            <a:endParaRPr lang="en-US" sz="1800" dirty="0"/>
          </a:p>
        </p:txBody>
      </p:sp>
      <p:sp>
        <p:nvSpPr>
          <p:cNvPr id="8" name="Text 5"/>
          <p:cNvSpPr txBox="1"/>
          <p:nvPr/>
        </p:nvSpPr>
        <p:spPr>
          <a:xfrm>
            <a:off x="731520"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Chunk, embed, store, retrieve, and answer only from the retrieved text. Compare three retrieval strategies and know when to pick each.</a:t>
            </a:r>
            <a:endParaRPr lang="en-US" sz="1700" dirty="0"/>
          </a:p>
        </p:txBody>
      </p:sp>
      <p:sp>
        <p:nvSpPr>
          <p:cNvPr id="9" name="Shape 6"/>
          <p:cNvSpPr/>
          <p:nvPr/>
        </p:nvSpPr>
        <p:spPr>
          <a:xfrm>
            <a:off x="4315968"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98848"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Explain agents</a:t>
            </a:r>
            <a:endParaRPr lang="en-US" sz="1800" dirty="0"/>
          </a:p>
        </p:txBody>
      </p:sp>
      <p:sp>
        <p:nvSpPr>
          <p:cNvPr id="11" name="Text 8"/>
          <p:cNvSpPr txBox="1"/>
          <p:nvPr/>
        </p:nvSpPr>
        <p:spPr>
          <a:xfrm>
            <a:off x="4498848"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 agent is an LLM plus tools plus a prompt. See how a supervisor runs three specialists and a CFO step combines their reports.</a:t>
            </a:r>
            <a:endParaRPr lang="en-US" sz="1700" dirty="0"/>
          </a:p>
        </p:txBody>
      </p:sp>
      <p:sp>
        <p:nvSpPr>
          <p:cNvPr id="12" name="Shape 9"/>
          <p:cNvSpPr/>
          <p:nvPr/>
        </p:nvSpPr>
        <p:spPr>
          <a:xfrm>
            <a:off x="8083296"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66176"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Judge honestly</a:t>
            </a:r>
            <a:endParaRPr lang="en-US" sz="1800" dirty="0"/>
          </a:p>
        </p:txBody>
      </p:sp>
      <p:sp>
        <p:nvSpPr>
          <p:cNvPr id="14" name="Text 11"/>
          <p:cNvSpPr txBox="1"/>
          <p:nvPr/>
        </p:nvSpPr>
        <p:spPr>
          <a:xfrm>
            <a:off x="8266176"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Spot what is a demo shortcut: LLM-recalled facts, no auth, no retries, sensitive logs. Know what to fix first.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Meridian AI does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a:t>
            </a:r>
            <a:endParaRPr lang="en-US" sz="1000" dirty="0"/>
          </a:p>
        </p:txBody>
      </p:sp>
      <p:sp>
        <p:nvSpPr>
          <p:cNvPr id="6" name="Shape 3"/>
          <p:cNvSpPr/>
          <p:nvPr/>
        </p:nvSpPr>
        <p:spPr>
          <a:xfrm>
            <a:off x="548640"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Ask your documents</a:t>
            </a:r>
            <a:endParaRPr lang="en-US" sz="1800" dirty="0"/>
          </a:p>
        </p:txBody>
      </p:sp>
      <p:sp>
        <p:nvSpPr>
          <p:cNvPr id="8" name="Text 5"/>
          <p:cNvSpPr txBox="1"/>
          <p:nvPr/>
        </p:nvSpPr>
        <p:spPr>
          <a:xfrm>
            <a:off x="731520"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Upload PDFs, ask in plain English.</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The model must answer only from retrieved passages, or say it does not know.</a:t>
            </a:r>
            <a:endParaRPr lang="en-US" sz="1800" dirty="0"/>
          </a:p>
        </p:txBody>
      </p:sp>
      <p:sp>
        <p:nvSpPr>
          <p:cNvPr id="9" name="Shape 6"/>
          <p:cNvSpPr/>
          <p:nvPr/>
        </p:nvSpPr>
        <p:spPr>
          <a:xfrm>
            <a:off x="6199632"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82512"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Check a purchase before paying</a:t>
            </a:r>
            <a:endParaRPr lang="en-US" sz="1800" dirty="0"/>
          </a:p>
        </p:txBody>
      </p:sp>
      <p:sp>
        <p:nvSpPr>
          <p:cNvPr id="11" name="Text 8"/>
          <p:cNvSpPr txBox="1"/>
          <p:nvPr/>
        </p:nvSpPr>
        <p:spPr>
          <a:xfrm>
            <a:off x="6382512"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Risk, Tax and Control agents each review the request.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 CFO step writes one memo: approved, conditional hold, or rejected.</a:t>
            </a:r>
            <a:endParaRPr lang="en-US" sz="1800" dirty="0"/>
          </a:p>
        </p:txBody>
      </p:sp>
      <p:sp>
        <p:nvSpPr>
          <p:cNvPr id="12" name="Shape 9"/>
          <p:cNvSpPr/>
          <p:nvPr/>
        </p:nvSpPr>
        <p:spPr>
          <a:xfrm>
            <a:off x="548640" y="4983480"/>
            <a:ext cx="11091672" cy="1097280"/>
          </a:xfrm>
          <a:prstGeom prst="roundRect">
            <a:avLst>
              <a:gd name="adj" fmla="val 6667"/>
            </a:avLst>
          </a:prstGeom>
          <a:solidFill>
            <a:srgbClr val="FFF3DC"/>
          </a:solidFill>
          <a:ln w="12700">
            <a:solidFill>
              <a:srgbClr val="F2A541"/>
            </a:solidFill>
            <a:prstDash val="solid"/>
          </a:ln>
        </p:spPr>
      </p:sp>
      <p:sp>
        <p:nvSpPr>
          <p:cNvPr id="13" name="Text 10"/>
          <p:cNvSpPr txBox="1"/>
          <p:nvPr/>
        </p:nvSpPr>
        <p:spPr>
          <a:xfrm>
            <a:off x="777240" y="5029200"/>
            <a:ext cx="10607040" cy="10058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Be clear about the limits.  </a:t>
            </a:r>
            <a:pPr indent="0" marL="0">
              <a:buNone/>
            </a:pPr>
            <a:r>
              <a:rPr lang="en-US" sz="1600" dirty="0">
                <a:solidFill>
                  <a:srgbClr val="14213D"/>
                </a:solidFill>
                <a:latin typeface="Calibri" pitchFamily="34" charset="0"/>
                <a:ea typeface="Calibri" pitchFamily="34" charset="-122"/>
                <a:cs typeface="Calibri" pitchFamily="34" charset="-120"/>
              </a:rPr>
              <a:t>Aldermoor Industries and all data are fictional. Audit checks are LLM recall, except the live FX rate. This is a demo of how to build such a system, not a compliance tool.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SYSTEM MAP</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Architecture: one direction of dependency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a:t>
            </a:r>
            <a:endParaRPr lang="en-US" sz="1000" dirty="0"/>
          </a:p>
        </p:txBody>
      </p:sp>
      <p:sp>
        <p:nvSpPr>
          <p:cNvPr id="6" name="Shape 3"/>
          <p:cNvSpPr/>
          <p:nvPr/>
        </p:nvSpPr>
        <p:spPr>
          <a:xfrm>
            <a:off x="548640" y="2743200"/>
            <a:ext cx="1828800" cy="1097280"/>
          </a:xfrm>
          <a:prstGeom prst="roundRect">
            <a:avLst>
              <a:gd name="adj" fmla="val 6667"/>
            </a:avLst>
          </a:prstGeom>
          <a:solidFill>
            <a:srgbClr val="14213D"/>
          </a:solidFill>
          <a:ln w="12700">
            <a:solidFill>
              <a:srgbClr val="14213D"/>
            </a:solidFill>
            <a:prstDash val="solid"/>
          </a:ln>
        </p:spPr>
      </p:sp>
      <p:sp>
        <p:nvSpPr>
          <p:cNvPr id="7" name="Text 4"/>
          <p:cNvSpPr txBox="1"/>
          <p:nvPr/>
        </p:nvSpPr>
        <p:spPr>
          <a:xfrm>
            <a:off x="621792" y="2743200"/>
            <a:ext cx="168249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React SPA · api.ts</a:t>
            </a:r>
            <a:endParaRPr lang="en-US" sz="1500" dirty="0"/>
          </a:p>
        </p:txBody>
      </p:sp>
      <p:sp>
        <p:nvSpPr>
          <p:cNvPr id="8" name="Shape 5"/>
          <p:cNvSpPr/>
          <p:nvPr/>
        </p:nvSpPr>
        <p:spPr>
          <a:xfrm>
            <a:off x="2926080" y="2743200"/>
            <a:ext cx="2011680" cy="1097280"/>
          </a:xfrm>
          <a:prstGeom prst="roundRect">
            <a:avLst>
              <a:gd name="adj" fmla="val 6667"/>
            </a:avLst>
          </a:prstGeom>
          <a:solidFill>
            <a:srgbClr val="14213D"/>
          </a:solidFill>
          <a:ln w="12700">
            <a:solidFill>
              <a:srgbClr val="14213D"/>
            </a:solidFill>
            <a:prstDash val="solid"/>
          </a:ln>
        </p:spPr>
      </p:sp>
      <p:sp>
        <p:nvSpPr>
          <p:cNvPr id="9" name="Text 6"/>
          <p:cNvSpPr txBox="1"/>
          <p:nvPr/>
        </p:nvSpPr>
        <p:spPr>
          <a:xfrm>
            <a:off x="2999232" y="2743200"/>
            <a:ext cx="186537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api/main · endpoints</a:t>
            </a:r>
            <a:endParaRPr lang="en-US" sz="1500" dirty="0"/>
          </a:p>
        </p:txBody>
      </p:sp>
      <p:sp>
        <p:nvSpPr>
          <p:cNvPr id="10" name="Shape 7"/>
          <p:cNvSpPr/>
          <p:nvPr/>
        </p:nvSpPr>
        <p:spPr>
          <a:xfrm>
            <a:off x="5486400" y="1737360"/>
            <a:ext cx="2377440" cy="1188720"/>
          </a:xfrm>
          <a:prstGeom prst="roundRect">
            <a:avLst>
              <a:gd name="adj" fmla="val 6154"/>
            </a:avLst>
          </a:prstGeom>
          <a:solidFill>
            <a:srgbClr val="1F8A83"/>
          </a:solidFill>
          <a:ln w="12700">
            <a:solidFill>
              <a:srgbClr val="1F8A83"/>
            </a:solidFill>
            <a:prstDash val="solid"/>
          </a:ln>
        </p:spPr>
      </p:sp>
      <p:sp>
        <p:nvSpPr>
          <p:cNvPr id="11" name="Text 8"/>
          <p:cNvSpPr txBox="1"/>
          <p:nvPr/>
        </p:nvSpPr>
        <p:spPr>
          <a:xfrm>
            <a:off x="5559552" y="173736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ingestion · retrieval · vector store</a:t>
            </a:r>
            <a:endParaRPr lang="en-US" sz="1500" dirty="0"/>
          </a:p>
        </p:txBody>
      </p:sp>
      <p:sp>
        <p:nvSpPr>
          <p:cNvPr id="12" name="Shape 9"/>
          <p:cNvSpPr/>
          <p:nvPr/>
        </p:nvSpPr>
        <p:spPr>
          <a:xfrm>
            <a:off x="5486400" y="3749040"/>
            <a:ext cx="237744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559552" y="374904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supervisor · tools · prompts</a:t>
            </a:r>
            <a:endParaRPr lang="en-US" sz="1500" dirty="0"/>
          </a:p>
        </p:txBody>
      </p:sp>
      <p:sp>
        <p:nvSpPr>
          <p:cNvPr id="14" name="Shape 11"/>
          <p:cNvSpPr/>
          <p:nvPr/>
        </p:nvSpPr>
        <p:spPr>
          <a:xfrm>
            <a:off x="2377440" y="3291840"/>
            <a:ext cx="548640" cy="0"/>
          </a:xfrm>
          <a:prstGeom prst="line">
            <a:avLst/>
          </a:prstGeom>
          <a:noFill/>
          <a:ln w="25400">
            <a:solidFill>
              <a:srgbClr val="5B6478"/>
            </a:solidFill>
            <a:prstDash val="solid"/>
            <a:tailEnd type="triangle"/>
          </a:ln>
        </p:spPr>
      </p:sp>
      <p:sp>
        <p:nvSpPr>
          <p:cNvPr id="15" name="Shape 12"/>
          <p:cNvSpPr/>
          <p:nvPr/>
        </p:nvSpPr>
        <p:spPr>
          <a:xfrm flipV="1">
            <a:off x="4937760" y="2468880"/>
            <a:ext cx="548640" cy="640080"/>
          </a:xfrm>
          <a:prstGeom prst="line">
            <a:avLst/>
          </a:prstGeom>
          <a:noFill/>
          <a:ln w="25400">
            <a:solidFill>
              <a:srgbClr val="5B6478"/>
            </a:solidFill>
            <a:prstDash val="solid"/>
            <a:tailEnd type="triangle"/>
          </a:ln>
        </p:spPr>
      </p:sp>
      <p:sp>
        <p:nvSpPr>
          <p:cNvPr id="16" name="Shape 13"/>
          <p:cNvSpPr/>
          <p:nvPr/>
        </p:nvSpPr>
        <p:spPr>
          <a:xfrm>
            <a:off x="4937760" y="3474720"/>
            <a:ext cx="548640" cy="822960"/>
          </a:xfrm>
          <a:prstGeom prst="line">
            <a:avLst/>
          </a:prstGeom>
          <a:noFill/>
          <a:ln w="25400">
            <a:solidFill>
              <a:srgbClr val="5B6478"/>
            </a:solidFill>
            <a:prstDash val="solid"/>
            <a:tailEnd type="triangle"/>
          </a:ln>
        </p:spPr>
      </p:sp>
      <p:sp>
        <p:nvSpPr>
          <p:cNvPr id="17" name="Shape 14"/>
          <p:cNvSpPr/>
          <p:nvPr/>
        </p:nvSpPr>
        <p:spPr>
          <a:xfrm>
            <a:off x="8595360" y="1280160"/>
            <a:ext cx="3017520" cy="777240"/>
          </a:xfrm>
          <a:prstGeom prst="roundRect">
            <a:avLst>
              <a:gd name="adj" fmla="val 9412"/>
            </a:avLst>
          </a:prstGeom>
          <a:solidFill>
            <a:srgbClr val="F2A541"/>
          </a:solidFill>
          <a:ln w="12700">
            <a:solidFill>
              <a:srgbClr val="F2A541"/>
            </a:solidFill>
            <a:prstDash val="solid"/>
          </a:ln>
        </p:spPr>
      </p:sp>
      <p:sp>
        <p:nvSpPr>
          <p:cNvPr id="18" name="Text 15"/>
          <p:cNvSpPr txBox="1"/>
          <p:nvPr/>
        </p:nvSpPr>
        <p:spPr>
          <a:xfrm>
            <a:off x="8668512" y="128016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chat model · API key</a:t>
            </a:r>
            <a:endParaRPr lang="en-US" sz="1500" dirty="0"/>
          </a:p>
        </p:txBody>
      </p:sp>
      <p:sp>
        <p:nvSpPr>
          <p:cNvPr id="19" name="Shape 16"/>
          <p:cNvSpPr/>
          <p:nvPr/>
        </p:nvSpPr>
        <p:spPr>
          <a:xfrm>
            <a:off x="8595360" y="2286000"/>
            <a:ext cx="3017520" cy="777240"/>
          </a:xfrm>
          <a:prstGeom prst="roundRect">
            <a:avLst>
              <a:gd name="adj" fmla="val 9412"/>
            </a:avLst>
          </a:prstGeom>
          <a:solidFill>
            <a:srgbClr val="F2A541"/>
          </a:solidFill>
          <a:ln w="12700">
            <a:solidFill>
              <a:srgbClr val="F2A541"/>
            </a:solidFill>
            <a:prstDash val="solid"/>
          </a:ln>
        </p:spPr>
      </p:sp>
      <p:sp>
        <p:nvSpPr>
          <p:cNvPr id="20" name="Text 17"/>
          <p:cNvSpPr txBox="1"/>
          <p:nvPr/>
        </p:nvSpPr>
        <p:spPr>
          <a:xfrm>
            <a:off x="8668512" y="228600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Vertex AI 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embeddings · 768 dims</a:t>
            </a:r>
            <a:endParaRPr lang="en-US" sz="1500" dirty="0"/>
          </a:p>
        </p:txBody>
      </p:sp>
      <p:sp>
        <p:nvSpPr>
          <p:cNvPr id="21" name="Shape 18"/>
          <p:cNvSpPr/>
          <p:nvPr/>
        </p:nvSpPr>
        <p:spPr>
          <a:xfrm>
            <a:off x="8595360" y="3291840"/>
            <a:ext cx="3017520" cy="777240"/>
          </a:xfrm>
          <a:prstGeom prst="roundRect">
            <a:avLst>
              <a:gd name="adj" fmla="val 9412"/>
            </a:avLst>
          </a:prstGeom>
          <a:solidFill>
            <a:srgbClr val="F2A541"/>
          </a:solidFill>
          <a:ln w="12700">
            <a:solidFill>
              <a:srgbClr val="F2A541"/>
            </a:solidFill>
            <a:prstDash val="solid"/>
          </a:ln>
        </p:spPr>
      </p:sp>
      <p:sp>
        <p:nvSpPr>
          <p:cNvPr id="22" name="Text 19"/>
          <p:cNvSpPr txBox="1"/>
          <p:nvPr/>
        </p:nvSpPr>
        <p:spPr>
          <a:xfrm>
            <a:off x="8668512" y="329184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 copies · logs</a:t>
            </a:r>
            <a:endParaRPr lang="en-US" sz="1500" dirty="0"/>
          </a:p>
        </p:txBody>
      </p:sp>
      <p:sp>
        <p:nvSpPr>
          <p:cNvPr id="23" name="Shape 20"/>
          <p:cNvSpPr/>
          <p:nvPr/>
        </p:nvSpPr>
        <p:spPr>
          <a:xfrm>
            <a:off x="8595360" y="4297680"/>
            <a:ext cx="3017520" cy="777240"/>
          </a:xfrm>
          <a:prstGeom prst="roundRect">
            <a:avLst>
              <a:gd name="adj" fmla="val 9412"/>
            </a:avLst>
          </a:prstGeom>
          <a:solidFill>
            <a:srgbClr val="F2A541"/>
          </a:solidFill>
          <a:ln w="12700">
            <a:solidFill>
              <a:srgbClr val="F2A541"/>
            </a:solidFill>
            <a:prstDash val="solid"/>
          </a:ln>
        </p:spPr>
      </p:sp>
      <p:sp>
        <p:nvSpPr>
          <p:cNvPr id="24" name="Text 21"/>
          <p:cNvSpPr txBox="1"/>
          <p:nvPr/>
        </p:nvSpPr>
        <p:spPr>
          <a:xfrm>
            <a:off x="8668512" y="429768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Frankfurter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live FX rates</a:t>
            </a:r>
            <a:endParaRPr lang="en-US" sz="1500" dirty="0"/>
          </a:p>
        </p:txBody>
      </p:sp>
      <p:sp>
        <p:nvSpPr>
          <p:cNvPr id="25" name="Shape 22"/>
          <p:cNvSpPr/>
          <p:nvPr/>
        </p:nvSpPr>
        <p:spPr>
          <a:xfrm flipV="1">
            <a:off x="7863840" y="1691640"/>
            <a:ext cx="731520" cy="502920"/>
          </a:xfrm>
          <a:prstGeom prst="line">
            <a:avLst/>
          </a:prstGeom>
          <a:noFill/>
          <a:ln w="25400">
            <a:solidFill>
              <a:srgbClr val="5B6478"/>
            </a:solidFill>
            <a:prstDash val="solid"/>
            <a:tailEnd type="triangle"/>
          </a:ln>
        </p:spPr>
      </p:sp>
      <p:sp>
        <p:nvSpPr>
          <p:cNvPr id="26" name="Shape 23"/>
          <p:cNvSpPr/>
          <p:nvPr/>
        </p:nvSpPr>
        <p:spPr>
          <a:xfrm>
            <a:off x="7863840" y="2377440"/>
            <a:ext cx="731520" cy="274320"/>
          </a:xfrm>
          <a:prstGeom prst="line">
            <a:avLst/>
          </a:prstGeom>
          <a:noFill/>
          <a:ln w="25400">
            <a:solidFill>
              <a:srgbClr val="5B6478"/>
            </a:solidFill>
            <a:prstDash val="solid"/>
            <a:tailEnd type="triangle"/>
          </a:ln>
        </p:spPr>
      </p:sp>
      <p:sp>
        <p:nvSpPr>
          <p:cNvPr id="27" name="Shape 24"/>
          <p:cNvSpPr/>
          <p:nvPr/>
        </p:nvSpPr>
        <p:spPr>
          <a:xfrm flipV="1">
            <a:off x="7863840" y="1783080"/>
            <a:ext cx="731520" cy="2331720"/>
          </a:xfrm>
          <a:prstGeom prst="line">
            <a:avLst/>
          </a:prstGeom>
          <a:noFill/>
          <a:ln w="25400">
            <a:solidFill>
              <a:srgbClr val="5B6478"/>
            </a:solidFill>
            <a:prstDash val="solid"/>
            <a:tailEnd type="triangle"/>
          </a:ln>
        </p:spPr>
      </p:sp>
      <p:sp>
        <p:nvSpPr>
          <p:cNvPr id="28" name="Shape 25"/>
          <p:cNvSpPr/>
          <p:nvPr/>
        </p:nvSpPr>
        <p:spPr>
          <a:xfrm>
            <a:off x="7863840" y="4389120"/>
            <a:ext cx="731520" cy="274320"/>
          </a:xfrm>
          <a:prstGeom prst="line">
            <a:avLst/>
          </a:prstGeom>
          <a:noFill/>
          <a:ln w="25400">
            <a:solidFill>
              <a:srgbClr val="5B6478"/>
            </a:solidFill>
            <a:prstDash val="solid"/>
            <a:tailEnd type="triangle"/>
          </a:ln>
        </p:spPr>
      </p:sp>
      <p:sp>
        <p:nvSpPr>
          <p:cNvPr id="29" name="Text 26"/>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Rule: api → rag / agent → config, logger. Nothing imports upward.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STACK</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Technology stack</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Backend</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3.12, FastAPI, Pydantic, uvicorn</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AI orchestration</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LangChain 1.x, create_agent (LangGraph inside), LangChain classic chains</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Models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Gemini chat (API key), Vertex AI text-embedding-005 (768-d)</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Vector store</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Vertex AI Vector Search, STREAM_UPDATE index</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Frontend</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React 18, Vite, TypeScript, Tailwind, shadcn/ui</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Ship and test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Docker, Cloud Run, GitHub Actions, pytest, Vitest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RAG in one picture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6</a:t>
            </a:r>
            <a:endParaRPr lang="en-US" sz="1000" dirty="0"/>
          </a:p>
        </p:txBody>
      </p:sp>
      <p:sp>
        <p:nvSpPr>
          <p:cNvPr id="6" name="Text 3"/>
          <p:cNvSpPr txBox="1"/>
          <p:nvPr/>
        </p:nvSpPr>
        <p:spPr>
          <a:xfrm>
            <a:off x="548640" y="155448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INGEST (once per document)</a:t>
            </a:r>
            <a:endParaRPr lang="en-US" sz="1300" dirty="0"/>
          </a:p>
        </p:txBody>
      </p:sp>
      <p:sp>
        <p:nvSpPr>
          <p:cNvPr id="7" name="Shape 4"/>
          <p:cNvSpPr/>
          <p:nvPr/>
        </p:nvSpPr>
        <p:spPr>
          <a:xfrm>
            <a:off x="548640" y="1920240"/>
            <a:ext cx="1828800" cy="914400"/>
          </a:xfrm>
          <a:prstGeom prst="roundRect">
            <a:avLst>
              <a:gd name="adj" fmla="val 8000"/>
            </a:avLst>
          </a:prstGeom>
          <a:solidFill>
            <a:srgbClr val="14213D"/>
          </a:solidFill>
          <a:ln w="12700">
            <a:solidFill>
              <a:srgbClr val="14213D"/>
            </a:solidFill>
            <a:prstDash val="solid"/>
          </a:ln>
        </p:spPr>
      </p:sp>
      <p:sp>
        <p:nvSpPr>
          <p:cNvPr id="8" name="Text 5"/>
          <p:cNvSpPr txBox="1"/>
          <p:nvPr/>
        </p:nvSpPr>
        <p:spPr>
          <a:xfrm>
            <a:off x="621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PDF</a:t>
            </a:r>
            <a:endParaRPr lang="en-US" sz="1500" dirty="0"/>
          </a:p>
        </p:txBody>
      </p:sp>
      <p:sp>
        <p:nvSpPr>
          <p:cNvPr id="9" name="Shape 6"/>
          <p:cNvSpPr/>
          <p:nvPr/>
        </p:nvSpPr>
        <p:spPr>
          <a:xfrm>
            <a:off x="2377440" y="2377440"/>
            <a:ext cx="457200" cy="0"/>
          </a:xfrm>
          <a:prstGeom prst="line">
            <a:avLst/>
          </a:prstGeom>
          <a:noFill/>
          <a:ln w="25400">
            <a:solidFill>
              <a:srgbClr val="5B6478"/>
            </a:solidFill>
            <a:prstDash val="solid"/>
            <a:tailEnd type="triangle"/>
          </a:ln>
        </p:spPr>
      </p:sp>
      <p:sp>
        <p:nvSpPr>
          <p:cNvPr id="10" name="Shape 7"/>
          <p:cNvSpPr/>
          <p:nvPr/>
        </p:nvSpPr>
        <p:spPr>
          <a:xfrm>
            <a:off x="2834640" y="1920240"/>
            <a:ext cx="1828800" cy="914400"/>
          </a:xfrm>
          <a:prstGeom prst="roundRect">
            <a:avLst>
              <a:gd name="adj" fmla="val 8000"/>
            </a:avLst>
          </a:prstGeom>
          <a:solidFill>
            <a:srgbClr val="14213D"/>
          </a:solidFill>
          <a:ln w="12700">
            <a:solidFill>
              <a:srgbClr val="14213D"/>
            </a:solidFill>
            <a:prstDash val="solid"/>
          </a:ln>
        </p:spPr>
      </p:sp>
      <p:sp>
        <p:nvSpPr>
          <p:cNvPr id="11" name="Text 8"/>
          <p:cNvSpPr txBox="1"/>
          <p:nvPr/>
        </p:nvSpPr>
        <p:spPr>
          <a:xfrm>
            <a:off x="2907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Pages</a:t>
            </a:r>
            <a:endParaRPr lang="en-US" sz="1500" dirty="0"/>
          </a:p>
        </p:txBody>
      </p:sp>
      <p:sp>
        <p:nvSpPr>
          <p:cNvPr id="12" name="Shape 9"/>
          <p:cNvSpPr/>
          <p:nvPr/>
        </p:nvSpPr>
        <p:spPr>
          <a:xfrm>
            <a:off x="4663440" y="2377440"/>
            <a:ext cx="457200" cy="0"/>
          </a:xfrm>
          <a:prstGeom prst="line">
            <a:avLst/>
          </a:prstGeom>
          <a:noFill/>
          <a:ln w="25400">
            <a:solidFill>
              <a:srgbClr val="5B6478"/>
            </a:solidFill>
            <a:prstDash val="solid"/>
            <a:tailEnd type="triangle"/>
          </a:ln>
        </p:spPr>
      </p:sp>
      <p:sp>
        <p:nvSpPr>
          <p:cNvPr id="13" name="Shape 10"/>
          <p:cNvSpPr/>
          <p:nvPr/>
        </p:nvSpPr>
        <p:spPr>
          <a:xfrm>
            <a:off x="5120640" y="1920240"/>
            <a:ext cx="1828800" cy="914400"/>
          </a:xfrm>
          <a:prstGeom prst="roundRect">
            <a:avLst>
              <a:gd name="adj" fmla="val 8000"/>
            </a:avLst>
          </a:prstGeom>
          <a:solidFill>
            <a:srgbClr val="14213D"/>
          </a:solidFill>
          <a:ln w="12700">
            <a:solidFill>
              <a:srgbClr val="14213D"/>
            </a:solidFill>
            <a:prstDash val="solid"/>
          </a:ln>
        </p:spPr>
      </p:sp>
      <p:sp>
        <p:nvSpPr>
          <p:cNvPr id="14" name="Text 11"/>
          <p:cNvSpPr txBox="1"/>
          <p:nvPr/>
        </p:nvSpPr>
        <p:spPr>
          <a:xfrm>
            <a:off x="5193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Chunks</a:t>
            </a:r>
            <a:endParaRPr lang="en-US" sz="1500" dirty="0"/>
          </a:p>
        </p:txBody>
      </p:sp>
      <p:sp>
        <p:nvSpPr>
          <p:cNvPr id="15" name="Shape 12"/>
          <p:cNvSpPr/>
          <p:nvPr/>
        </p:nvSpPr>
        <p:spPr>
          <a:xfrm>
            <a:off x="6949440" y="2377440"/>
            <a:ext cx="457200" cy="0"/>
          </a:xfrm>
          <a:prstGeom prst="line">
            <a:avLst/>
          </a:prstGeom>
          <a:noFill/>
          <a:ln w="25400">
            <a:solidFill>
              <a:srgbClr val="5B6478"/>
            </a:solidFill>
            <a:prstDash val="solid"/>
            <a:tailEnd type="triangle"/>
          </a:ln>
        </p:spPr>
      </p:sp>
      <p:sp>
        <p:nvSpPr>
          <p:cNvPr id="16" name="Shape 13"/>
          <p:cNvSpPr/>
          <p:nvPr/>
        </p:nvSpPr>
        <p:spPr>
          <a:xfrm>
            <a:off x="7406640" y="1920240"/>
            <a:ext cx="1828800" cy="914400"/>
          </a:xfrm>
          <a:prstGeom prst="roundRect">
            <a:avLst>
              <a:gd name="adj" fmla="val 8000"/>
            </a:avLst>
          </a:prstGeom>
          <a:solidFill>
            <a:srgbClr val="14213D"/>
          </a:solidFill>
          <a:ln w="12700">
            <a:solidFill>
              <a:srgbClr val="14213D"/>
            </a:solidFill>
            <a:prstDash val="solid"/>
          </a:ln>
        </p:spPr>
      </p:sp>
      <p:sp>
        <p:nvSpPr>
          <p:cNvPr id="17" name="Text 14"/>
          <p:cNvSpPr txBox="1"/>
          <p:nvPr/>
        </p:nvSpPr>
        <p:spPr>
          <a:xfrm>
            <a:off x="7479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Embeddings</a:t>
            </a:r>
            <a:endParaRPr lang="en-US" sz="1500" dirty="0"/>
          </a:p>
        </p:txBody>
      </p:sp>
      <p:sp>
        <p:nvSpPr>
          <p:cNvPr id="18" name="Shape 15"/>
          <p:cNvSpPr/>
          <p:nvPr/>
        </p:nvSpPr>
        <p:spPr>
          <a:xfrm>
            <a:off x="9235440" y="2377440"/>
            <a:ext cx="457200" cy="0"/>
          </a:xfrm>
          <a:prstGeom prst="line">
            <a:avLst/>
          </a:prstGeom>
          <a:noFill/>
          <a:ln w="25400">
            <a:solidFill>
              <a:srgbClr val="5B6478"/>
            </a:solidFill>
            <a:prstDash val="solid"/>
            <a:tailEnd type="triangle"/>
          </a:ln>
        </p:spPr>
      </p:sp>
      <p:sp>
        <p:nvSpPr>
          <p:cNvPr id="19" name="Shape 16"/>
          <p:cNvSpPr/>
          <p:nvPr/>
        </p:nvSpPr>
        <p:spPr>
          <a:xfrm>
            <a:off x="9692640" y="1920240"/>
            <a:ext cx="18288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9765792" y="1920240"/>
            <a:ext cx="16824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index</a:t>
            </a:r>
            <a:endParaRPr lang="en-US" sz="1500" dirty="0"/>
          </a:p>
        </p:txBody>
      </p:sp>
      <p:sp>
        <p:nvSpPr>
          <p:cNvPr id="21" name="Text 18"/>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ASK (every question)</a:t>
            </a:r>
            <a:endParaRPr lang="en-US" sz="1300" dirty="0"/>
          </a:p>
        </p:txBody>
      </p:sp>
      <p:sp>
        <p:nvSpPr>
          <p:cNvPr id="22" name="Shape 19"/>
          <p:cNvSpPr/>
          <p:nvPr/>
        </p:nvSpPr>
        <p:spPr>
          <a:xfrm>
            <a:off x="548640" y="3931920"/>
            <a:ext cx="1828800" cy="914400"/>
          </a:xfrm>
          <a:prstGeom prst="roundRect">
            <a:avLst>
              <a:gd name="adj" fmla="val 8000"/>
            </a:avLst>
          </a:prstGeom>
          <a:solidFill>
            <a:srgbClr val="1F8A83"/>
          </a:solidFill>
          <a:ln w="12700">
            <a:solidFill>
              <a:srgbClr val="1F8A83"/>
            </a:solidFill>
            <a:prstDash val="solid"/>
          </a:ln>
        </p:spPr>
      </p:sp>
      <p:sp>
        <p:nvSpPr>
          <p:cNvPr id="23" name="Text 20"/>
          <p:cNvSpPr txBox="1"/>
          <p:nvPr/>
        </p:nvSpPr>
        <p:spPr>
          <a:xfrm>
            <a:off x="621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24" name="Shape 21"/>
          <p:cNvSpPr/>
          <p:nvPr/>
        </p:nvSpPr>
        <p:spPr>
          <a:xfrm>
            <a:off x="2377440" y="4389120"/>
            <a:ext cx="457200" cy="0"/>
          </a:xfrm>
          <a:prstGeom prst="line">
            <a:avLst/>
          </a:prstGeom>
          <a:noFill/>
          <a:ln w="25400">
            <a:solidFill>
              <a:srgbClr val="5B6478"/>
            </a:solidFill>
            <a:prstDash val="solid"/>
            <a:tailEnd type="triangle"/>
          </a:ln>
        </p:spPr>
      </p:sp>
      <p:sp>
        <p:nvSpPr>
          <p:cNvPr id="25" name="Shape 22"/>
          <p:cNvSpPr/>
          <p:nvPr/>
        </p:nvSpPr>
        <p:spPr>
          <a:xfrm>
            <a:off x="2834640" y="3931920"/>
            <a:ext cx="1828800" cy="914400"/>
          </a:xfrm>
          <a:prstGeom prst="roundRect">
            <a:avLst>
              <a:gd name="adj" fmla="val 8000"/>
            </a:avLst>
          </a:prstGeom>
          <a:solidFill>
            <a:srgbClr val="1F8A83"/>
          </a:solidFill>
          <a:ln w="12700">
            <a:solidFill>
              <a:srgbClr val="1F8A83"/>
            </a:solidFill>
            <a:prstDash val="solid"/>
          </a:ln>
        </p:spPr>
      </p:sp>
      <p:sp>
        <p:nvSpPr>
          <p:cNvPr id="26" name="Text 23"/>
          <p:cNvSpPr txBox="1"/>
          <p:nvPr/>
        </p:nvSpPr>
        <p:spPr>
          <a:xfrm>
            <a:off x="2907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Retriever</a:t>
            </a:r>
            <a:endParaRPr lang="en-US" sz="1500" dirty="0"/>
          </a:p>
        </p:txBody>
      </p:sp>
      <p:sp>
        <p:nvSpPr>
          <p:cNvPr id="27" name="Shape 24"/>
          <p:cNvSpPr/>
          <p:nvPr/>
        </p:nvSpPr>
        <p:spPr>
          <a:xfrm>
            <a:off x="4663440" y="4389120"/>
            <a:ext cx="457200" cy="0"/>
          </a:xfrm>
          <a:prstGeom prst="line">
            <a:avLst/>
          </a:prstGeom>
          <a:noFill/>
          <a:ln w="25400">
            <a:solidFill>
              <a:srgbClr val="5B6478"/>
            </a:solidFill>
            <a:prstDash val="solid"/>
            <a:tailEnd type="triangle"/>
          </a:ln>
        </p:spPr>
      </p:sp>
      <p:sp>
        <p:nvSpPr>
          <p:cNvPr id="28" name="Shape 25"/>
          <p:cNvSpPr/>
          <p:nvPr/>
        </p:nvSpPr>
        <p:spPr>
          <a:xfrm>
            <a:off x="5120640" y="3931920"/>
            <a:ext cx="1828800" cy="914400"/>
          </a:xfrm>
          <a:prstGeom prst="roundRect">
            <a:avLst>
              <a:gd name="adj" fmla="val 8000"/>
            </a:avLst>
          </a:prstGeom>
          <a:solidFill>
            <a:srgbClr val="1F8A83"/>
          </a:solidFill>
          <a:ln w="12700">
            <a:solidFill>
              <a:srgbClr val="1F8A83"/>
            </a:solidFill>
            <a:prstDash val="solid"/>
          </a:ln>
        </p:spPr>
      </p:sp>
      <p:sp>
        <p:nvSpPr>
          <p:cNvPr id="29" name="Text 26"/>
          <p:cNvSpPr txBox="1"/>
          <p:nvPr/>
        </p:nvSpPr>
        <p:spPr>
          <a:xfrm>
            <a:off x="5193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Prompt + chunks</a:t>
            </a:r>
            <a:endParaRPr lang="en-US" sz="1500" dirty="0"/>
          </a:p>
        </p:txBody>
      </p:sp>
      <p:sp>
        <p:nvSpPr>
          <p:cNvPr id="30" name="Shape 27"/>
          <p:cNvSpPr/>
          <p:nvPr/>
        </p:nvSpPr>
        <p:spPr>
          <a:xfrm>
            <a:off x="6949440" y="4389120"/>
            <a:ext cx="457200" cy="0"/>
          </a:xfrm>
          <a:prstGeom prst="line">
            <a:avLst/>
          </a:prstGeom>
          <a:noFill/>
          <a:ln w="25400">
            <a:solidFill>
              <a:srgbClr val="5B6478"/>
            </a:solidFill>
            <a:prstDash val="solid"/>
            <a:tailEnd type="triangle"/>
          </a:ln>
        </p:spPr>
      </p:sp>
      <p:sp>
        <p:nvSpPr>
          <p:cNvPr id="31" name="Shape 28"/>
          <p:cNvSpPr/>
          <p:nvPr/>
        </p:nvSpPr>
        <p:spPr>
          <a:xfrm>
            <a:off x="7406640" y="3931920"/>
            <a:ext cx="1828800" cy="914400"/>
          </a:xfrm>
          <a:prstGeom prst="roundRect">
            <a:avLst>
              <a:gd name="adj" fmla="val 8000"/>
            </a:avLst>
          </a:prstGeom>
          <a:solidFill>
            <a:srgbClr val="1F8A83"/>
          </a:solidFill>
          <a:ln w="12700">
            <a:solidFill>
              <a:srgbClr val="1F8A83"/>
            </a:solidFill>
            <a:prstDash val="solid"/>
          </a:ln>
        </p:spPr>
      </p:sp>
      <p:sp>
        <p:nvSpPr>
          <p:cNvPr id="32" name="Text 29"/>
          <p:cNvSpPr txBox="1"/>
          <p:nvPr/>
        </p:nvSpPr>
        <p:spPr>
          <a:xfrm>
            <a:off x="7479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Gemini</a:t>
            </a:r>
            <a:endParaRPr lang="en-US" sz="1500" dirty="0"/>
          </a:p>
        </p:txBody>
      </p:sp>
      <p:sp>
        <p:nvSpPr>
          <p:cNvPr id="33" name="Shape 30"/>
          <p:cNvSpPr/>
          <p:nvPr/>
        </p:nvSpPr>
        <p:spPr>
          <a:xfrm>
            <a:off x="9235440" y="4389120"/>
            <a:ext cx="457200" cy="0"/>
          </a:xfrm>
          <a:prstGeom prst="line">
            <a:avLst/>
          </a:prstGeom>
          <a:noFill/>
          <a:ln w="25400">
            <a:solidFill>
              <a:srgbClr val="5B6478"/>
            </a:solidFill>
            <a:prstDash val="solid"/>
            <a:tailEnd type="triangle"/>
          </a:ln>
        </p:spPr>
      </p:sp>
      <p:sp>
        <p:nvSpPr>
          <p:cNvPr id="34" name="Shape 31"/>
          <p:cNvSpPr/>
          <p:nvPr/>
        </p:nvSpPr>
        <p:spPr>
          <a:xfrm>
            <a:off x="9692640" y="3931920"/>
            <a:ext cx="1828800" cy="914400"/>
          </a:xfrm>
          <a:prstGeom prst="roundRect">
            <a:avLst>
              <a:gd name="adj" fmla="val 8000"/>
            </a:avLst>
          </a:prstGeom>
          <a:solidFill>
            <a:srgbClr val="2E7D4F"/>
          </a:solidFill>
          <a:ln w="12700">
            <a:solidFill>
              <a:srgbClr val="2E7D4F"/>
            </a:solidFill>
            <a:prstDash val="solid"/>
          </a:ln>
        </p:spPr>
      </p:sp>
      <p:sp>
        <p:nvSpPr>
          <p:cNvPr id="35" name="Text 32"/>
          <p:cNvSpPr txBox="1"/>
          <p:nvPr/>
        </p:nvSpPr>
        <p:spPr>
          <a:xfrm>
            <a:off x="9765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Answer</a:t>
            </a:r>
            <a:endParaRPr lang="en-US" sz="1500" dirty="0"/>
          </a:p>
        </p:txBody>
      </p:sp>
      <p:sp>
        <p:nvSpPr>
          <p:cNvPr id="36" name="Text 33"/>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800" i="1" dirty="0">
                <a:solidFill>
                  <a:srgbClr val="14213D"/>
                </a:solidFill>
                <a:latin typeface="Calibri" pitchFamily="34" charset="0"/>
                <a:ea typeface="Calibri" pitchFamily="34" charset="-122"/>
                <a:cs typeface="Calibri" pitchFamily="34" charset="-120"/>
              </a:rPr>
              <a:t>The model answers from retrieved text, not from memory. If the text is not there, it must say so.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Ingestion: PDF to chunks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7</a:t>
            </a:r>
            <a:endParaRPr lang="en-US" sz="1000" dirty="0"/>
          </a:p>
        </p:txBody>
      </p:sp>
      <p:sp>
        <p:nvSpPr>
          <p:cNvPr id="6" name="Shape 3"/>
          <p:cNvSpPr/>
          <p:nvPr/>
        </p:nvSpPr>
        <p:spPr>
          <a:xfrm>
            <a:off x="548640" y="1645920"/>
            <a:ext cx="6035040" cy="4297680"/>
          </a:xfrm>
          <a:prstGeom prst="roundRect">
            <a:avLst>
              <a:gd name="adj" fmla="val 1277"/>
            </a:avLst>
          </a:prstGeom>
          <a:solidFill>
            <a:srgbClr val="14213D"/>
          </a:solidFill>
          <a:ln w="12700">
            <a:solidFill>
              <a:srgbClr val="14213D"/>
            </a:solidFill>
            <a:prstDash val="solid"/>
          </a:ln>
        </p:spPr>
      </p:sp>
      <p:sp>
        <p:nvSpPr>
          <p:cNvPr id="7" name="Text 4"/>
          <p:cNvSpPr txBox="1"/>
          <p:nvPr/>
        </p:nvSpPr>
        <p:spPr>
          <a:xfrm>
            <a:off x="777240" y="1783080"/>
            <a:ext cx="5577840" cy="4023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CHUNK_SIZE = 1000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CHUNK_OVERLAP = 100</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ingest_pdf(local_path, source):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pages = PyPDFLoader(local_path).load()</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for page in 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page.metadata["source"] = source</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 split_into_chunks(pages)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get_vector_store().add_documents(chunks)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{"pages": len(pages),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len(chunks)}</a:t>
            </a:r>
            <a:endParaRPr lang="en-US" sz="1400" dirty="0"/>
          </a:p>
        </p:txBody>
      </p:sp>
      <p:sp>
        <p:nvSpPr>
          <p:cNvPr id="8" name="Shape 5"/>
          <p:cNvSpPr/>
          <p:nvPr/>
        </p:nvSpPr>
        <p:spPr>
          <a:xfrm>
            <a:off x="6858000" y="1645920"/>
            <a:ext cx="478231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040880" y="1783080"/>
            <a:ext cx="441655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Why overlap?</a:t>
            </a:r>
            <a:endParaRPr lang="en-US" sz="1800" dirty="0"/>
          </a:p>
        </p:txBody>
      </p:sp>
      <p:sp>
        <p:nvSpPr>
          <p:cNvPr id="10" name="Text 7"/>
          <p:cNvSpPr txBox="1"/>
          <p:nvPr/>
        </p:nvSpPr>
        <p:spPr>
          <a:xfrm>
            <a:off x="7040880" y="2240280"/>
            <a:ext cx="441655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fact cut at a chunk edge still appears whole in the neighbour.</a:t>
            </a:r>
            <a:endParaRPr lang="en-US" sz="1700" dirty="0"/>
          </a:p>
        </p:txBody>
      </p:sp>
      <p:sp>
        <p:nvSpPr>
          <p:cNvPr id="11" name="Shape 8"/>
          <p:cNvSpPr/>
          <p:nvPr/>
        </p:nvSpPr>
        <p:spPr>
          <a:xfrm>
            <a:off x="6858000" y="320040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040880" y="333756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Scanned PDF?</a:t>
            </a:r>
            <a:endParaRPr lang="en-US" sz="1800" dirty="0"/>
          </a:p>
        </p:txBody>
      </p:sp>
      <p:sp>
        <p:nvSpPr>
          <p:cNvPr id="13" name="Text 10"/>
          <p:cNvSpPr txBox="1"/>
          <p:nvPr/>
        </p:nvSpPr>
        <p:spPr>
          <a:xfrm>
            <a:off x="7040880" y="379476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text, zero chunks, reported as skipped.</a:t>
            </a:r>
            <a:endParaRPr lang="en-US" sz="1700" dirty="0"/>
          </a:p>
        </p:txBody>
      </p:sp>
      <p:sp>
        <p:nvSpPr>
          <p:cNvPr id="14" name="Shape 11"/>
          <p:cNvSpPr/>
          <p:nvPr/>
        </p:nvSpPr>
        <p:spPr>
          <a:xfrm>
            <a:off x="6858000" y="466344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040880" y="480060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Re-running bulk ingest?</a:t>
            </a:r>
            <a:endParaRPr lang="en-US" sz="1800" dirty="0"/>
          </a:p>
        </p:txBody>
      </p:sp>
      <p:sp>
        <p:nvSpPr>
          <p:cNvPr id="16" name="Text 13"/>
          <p:cNvSpPr txBox="1"/>
          <p:nvPr/>
        </p:nvSpPr>
        <p:spPr>
          <a:xfrm>
            <a:off x="7040880" y="525780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dedupe: files get indexed twice.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Embeddings and Vector Search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8</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768</a:t>
            </a:r>
            <a:endParaRPr lang="en-US" sz="5400" dirty="0"/>
          </a:p>
        </p:txBody>
      </p:sp>
      <p:sp>
        <p:nvSpPr>
          <p:cNvPr id="8" name="Text 5"/>
          <p:cNvSpPr txBox="1"/>
          <p:nvPr/>
        </p:nvSpPr>
        <p:spPr>
          <a:xfrm>
            <a:off x="73152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dimensions per vector, set by the index and text-embedding-005</a:t>
            </a:r>
            <a:endParaRPr lang="en-US" sz="1500" dirty="0"/>
          </a:p>
        </p:txBody>
      </p:sp>
      <p:sp>
        <p:nvSpPr>
          <p:cNvPr id="9" name="Shape 6"/>
          <p:cNvSpPr/>
          <p:nvPr/>
        </p:nvSpPr>
        <p:spPr>
          <a:xfrm>
            <a:off x="4297680" y="1645920"/>
            <a:ext cx="3593592" cy="2011680"/>
          </a:xfrm>
          <a:prstGeom prst="roundRect">
            <a:avLst>
              <a:gd name="adj" fmla="val 3636"/>
            </a:avLst>
          </a:prstGeom>
          <a:solidFill>
            <a:srgbClr val="FFFFFF"/>
          </a:solidFill>
          <a:ln w="12700">
            <a:solidFill>
              <a:srgbClr val="E3E8F2"/>
            </a:solidFill>
            <a:prstDash val="solid"/>
          </a:ln>
        </p:spPr>
      </p:sp>
      <p:sp>
        <p:nvSpPr>
          <p:cNvPr id="10" name="Text 7"/>
          <p:cNvSpPr txBox="1"/>
          <p:nvPr/>
        </p:nvSpPr>
        <p:spPr>
          <a:xfrm>
            <a:off x="448056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1</a:t>
            </a:r>
            <a:endParaRPr lang="en-US" sz="5400" dirty="0"/>
          </a:p>
        </p:txBody>
      </p:sp>
      <p:sp>
        <p:nvSpPr>
          <p:cNvPr id="11" name="Text 8"/>
          <p:cNvSpPr txBox="1"/>
          <p:nvPr/>
        </p:nvSpPr>
        <p:spPr>
          <a:xfrm>
            <a:off x="448056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embedding model for BOTH indexing and querying</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3DC"/>
          </a:solidFill>
          <a:ln w="12700">
            <a:solidFill>
              <a:srgbClr val="F2A541"/>
            </a:solidFill>
            <a:prstDash val="solid"/>
          </a:ln>
        </p:spPr>
      </p:sp>
      <p:sp>
        <p:nvSpPr>
          <p:cNvPr id="13" name="Text 10"/>
          <p:cNvSpPr txBox="1"/>
          <p:nvPr/>
        </p:nvSpPr>
        <p:spPr>
          <a:xfrm>
            <a:off x="8229600" y="1737360"/>
            <a:ext cx="3200400" cy="914400"/>
          </a:xfrm>
          <a:prstGeom prst="rect">
            <a:avLst/>
          </a:prstGeom>
          <a:noFill/>
          <a:ln/>
        </p:spPr>
        <p:txBody>
          <a:bodyPr wrap="square" lIns="0" tIns="0" rIns="0" bIns="0" rtlCol="0" anchor="ctr"/>
          <a:lstStyle/>
          <a:p>
            <a:pPr indent="0" marL="0">
              <a:buNone/>
            </a:pPr>
            <a:r>
              <a:rPr lang="en-US" sz="5400" b="1" dirty="0">
                <a:solidFill>
                  <a:srgbClr val="C8553D"/>
                </a:solidFill>
                <a:latin typeface="Cambria" pitchFamily="34" charset="0"/>
                <a:ea typeface="Cambria" pitchFamily="34" charset="-122"/>
                <a:cs typeface="Cambria" pitchFamily="34" charset="-120"/>
              </a:rPr>
              <a:t>$/hr</a:t>
            </a:r>
            <a:endParaRPr lang="en-US" sz="5400" dirty="0"/>
          </a:p>
        </p:txBody>
      </p:sp>
      <p:sp>
        <p:nvSpPr>
          <p:cNvPr id="14" name="Text 11"/>
          <p:cNvSpPr txBox="1"/>
          <p:nvPr/>
        </p:nvSpPr>
        <p:spPr>
          <a:xfrm>
            <a:off x="822960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index endpoint is billed hourly, even when idle</a:t>
            </a:r>
            <a:endParaRPr lang="en-US" sz="1500" dirty="0"/>
          </a:p>
        </p:txBody>
      </p:sp>
      <p:sp>
        <p:nvSpPr>
          <p:cNvPr id="15" name="Shape 12"/>
          <p:cNvSpPr/>
          <p:nvPr/>
        </p:nvSpPr>
        <p:spPr>
          <a:xfrm>
            <a:off x="548640" y="3931920"/>
            <a:ext cx="11091672" cy="2011680"/>
          </a:xfrm>
          <a:prstGeom prst="roundRect">
            <a:avLst>
              <a:gd name="adj" fmla="val 2727"/>
            </a:avLst>
          </a:prstGeom>
          <a:solidFill>
            <a:srgbClr val="14213D"/>
          </a:solidFill>
          <a:ln w="12700">
            <a:solidFill>
              <a:srgbClr val="14213D"/>
            </a:solidFill>
            <a:prstDash val="solid"/>
          </a:ln>
        </p:spPr>
      </p:sp>
      <p:sp>
        <p:nvSpPr>
          <p:cNvPr id="16" name="Text 13"/>
          <p:cNvSpPr txBox="1"/>
          <p:nvPr/>
        </p:nvSpPr>
        <p:spPr>
          <a:xfrm>
            <a:off x="777240" y="4069080"/>
            <a:ext cx="10634472" cy="1737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@lru_cache(maxsize=1)</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get_vector_store():          # connects on first use, so /api/health works before GCP is set up</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VectorSearchVectorStore.from_components(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embedding=get_embeddings(), index_id=..., endpoint_id=..., stream_update=True)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ways to retrieve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9</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similarity</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Top 3 chunks nearest in meaning.</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Fastest and cheapest.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Default.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wording matches the documents.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multiquery</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Gemini rewrites the question several ways, searches each, merges results.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More LLM calls.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users phrase things differently from the source.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contextual</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Fetch 10 chunks, then Gemini trims each to the relevant part.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Slowest, least noise.</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for long, rambling documents.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Grounded answering: the prompt is the guardrail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10</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SYSTEM_PROMPT =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"You are a helpful assistant for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"question-answering tasks.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"Use the following pieces of retrieved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"context to answer the question.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you don't know the answer based 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"the context, say that you don't know.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"Keep the answer concise and accurate."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"\n\nContext: {context}"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2E7D4F"/>
                </a:solidFill>
                <a:latin typeface="Cambria" pitchFamily="34" charset="0"/>
                <a:ea typeface="Cambria" pitchFamily="34" charset="-122"/>
                <a:cs typeface="Cambria" pitchFamily="34" charset="-120"/>
              </a:rPr>
              <a:t>Why it works</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Tells the model to use only the context and admit gaps.</a:t>
            </a:r>
            <a:endParaRPr lang="en-US" sz="1700" dirty="0"/>
          </a:p>
        </p:txBody>
      </p:sp>
      <p:sp>
        <p:nvSpPr>
          <p:cNvPr id="11" name="Shape 8"/>
          <p:cNvSpPr/>
          <p:nvPr/>
        </p:nvSpPr>
        <p:spPr>
          <a:xfrm>
            <a:off x="7498080" y="320040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 sources</a:t>
            </a:r>
            <a:endParaRPr lang="en-US" sz="1800" dirty="0"/>
          </a:p>
        </p:txBody>
      </p:sp>
      <p:sp>
        <p:nvSpPr>
          <p:cNvPr id="13" name="Text 10"/>
          <p:cNvSpPr txBox="1"/>
          <p:nvPr/>
        </p:nvSpPr>
        <p:spPr>
          <a:xfrm>
            <a:off x="7680960" y="379476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Only the answer text is returned.</a:t>
            </a:r>
            <a:endParaRPr lang="en-US" sz="1700" dirty="0"/>
          </a:p>
        </p:txBody>
      </p:sp>
      <p:sp>
        <p:nvSpPr>
          <p:cNvPr id="14" name="Shape 11"/>
          <p:cNvSpPr/>
          <p:nvPr/>
        </p:nvSpPr>
        <p:spPr>
          <a:xfrm>
            <a:off x="7498080" y="466344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0060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not a guarantee</a:t>
            </a:r>
            <a:endParaRPr lang="en-US" sz="1800" dirty="0"/>
          </a:p>
        </p:txBody>
      </p:sp>
      <p:sp>
        <p:nvSpPr>
          <p:cNvPr id="16" name="Text 13"/>
          <p:cNvSpPr txBox="1"/>
          <p:nvPr/>
        </p:nvSpPr>
        <p:spPr>
          <a:xfrm>
            <a:off x="7680960" y="525780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prompt asks; it does not enforce.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an agent?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11</a:t>
            </a:r>
            <a:endParaRPr lang="en-US" sz="1000" dirty="0"/>
          </a:p>
        </p:txBody>
      </p:sp>
      <p:sp>
        <p:nvSpPr>
          <p:cNvPr id="6" name="Shape 3"/>
          <p:cNvSpPr/>
          <p:nvPr/>
        </p:nvSpPr>
        <p:spPr>
          <a:xfrm>
            <a:off x="548640" y="2011680"/>
            <a:ext cx="2377440" cy="1280160"/>
          </a:xfrm>
          <a:prstGeom prst="roundRect">
            <a:avLst>
              <a:gd name="adj" fmla="val 5714"/>
            </a:avLst>
          </a:prstGeom>
          <a:solidFill>
            <a:srgbClr val="14213D"/>
          </a:solidFill>
          <a:ln w="12700">
            <a:solidFill>
              <a:srgbClr val="14213D"/>
            </a:solidFill>
            <a:prstDash val="solid"/>
          </a:ln>
        </p:spPr>
      </p:sp>
      <p:sp>
        <p:nvSpPr>
          <p:cNvPr id="7" name="Text 4"/>
          <p:cNvSpPr txBox="1"/>
          <p:nvPr/>
        </p:nvSpPr>
        <p:spPr>
          <a:xfrm>
            <a:off x="62179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LLM</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Gemini</a:t>
            </a:r>
            <a:endParaRPr lang="en-US" sz="1500" dirty="0"/>
          </a:p>
        </p:txBody>
      </p:sp>
      <p:sp>
        <p:nvSpPr>
          <p:cNvPr id="8" name="Text 5"/>
          <p:cNvSpPr txBox="1"/>
          <p:nvPr/>
        </p:nvSpPr>
        <p:spPr>
          <a:xfrm>
            <a:off x="297180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9" name="Shape 6"/>
          <p:cNvSpPr/>
          <p:nvPr/>
        </p:nvSpPr>
        <p:spPr>
          <a:xfrm>
            <a:off x="3566160" y="2011680"/>
            <a:ext cx="2377440" cy="1280160"/>
          </a:xfrm>
          <a:prstGeom prst="roundRect">
            <a:avLst>
              <a:gd name="adj" fmla="val 5714"/>
            </a:avLst>
          </a:prstGeom>
          <a:solidFill>
            <a:srgbClr val="1F8A83"/>
          </a:solidFill>
          <a:ln w="12700">
            <a:solidFill>
              <a:srgbClr val="1F8A83"/>
            </a:solidFill>
            <a:prstDash val="solid"/>
          </a:ln>
        </p:spPr>
      </p:sp>
      <p:sp>
        <p:nvSpPr>
          <p:cNvPr id="10" name="Text 7"/>
          <p:cNvSpPr txBox="1"/>
          <p:nvPr/>
        </p:nvSpPr>
        <p:spPr>
          <a:xfrm>
            <a:off x="363931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Tools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@tool Python functions</a:t>
            </a:r>
            <a:endParaRPr lang="en-US" sz="1500" dirty="0"/>
          </a:p>
        </p:txBody>
      </p:sp>
      <p:sp>
        <p:nvSpPr>
          <p:cNvPr id="11" name="Text 8"/>
          <p:cNvSpPr txBox="1"/>
          <p:nvPr/>
        </p:nvSpPr>
        <p:spPr>
          <a:xfrm>
            <a:off x="598932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2" name="Shape 9"/>
          <p:cNvSpPr/>
          <p:nvPr/>
        </p:nvSpPr>
        <p:spPr>
          <a:xfrm>
            <a:off x="6583680" y="2011680"/>
            <a:ext cx="2377440" cy="1280160"/>
          </a:xfrm>
          <a:prstGeom prst="roundRect">
            <a:avLst>
              <a:gd name="adj" fmla="val 5714"/>
            </a:avLst>
          </a:prstGeom>
          <a:solidFill>
            <a:srgbClr val="F2A541"/>
          </a:solidFill>
          <a:ln w="12700">
            <a:solidFill>
              <a:srgbClr val="F2A541"/>
            </a:solidFill>
            <a:prstDash val="solid"/>
          </a:ln>
        </p:spPr>
      </p:sp>
      <p:sp>
        <p:nvSpPr>
          <p:cNvPr id="13" name="Text 10"/>
          <p:cNvSpPr txBox="1"/>
          <p:nvPr/>
        </p:nvSpPr>
        <p:spPr>
          <a:xfrm>
            <a:off x="6656832" y="2011680"/>
            <a:ext cx="2231136" cy="12801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System prompt</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role + rules + format</a:t>
            </a:r>
            <a:endParaRPr lang="en-US" sz="1500" dirty="0"/>
          </a:p>
        </p:txBody>
      </p:sp>
      <p:sp>
        <p:nvSpPr>
          <p:cNvPr id="14" name="Text 11"/>
          <p:cNvSpPr txBox="1"/>
          <p:nvPr/>
        </p:nvSpPr>
        <p:spPr>
          <a:xfrm>
            <a:off x="900684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5" name="Shape 12"/>
          <p:cNvSpPr/>
          <p:nvPr/>
        </p:nvSpPr>
        <p:spPr>
          <a:xfrm>
            <a:off x="9601200" y="2011680"/>
            <a:ext cx="2039112" cy="1280160"/>
          </a:xfrm>
          <a:prstGeom prst="roundRect">
            <a:avLst>
              <a:gd name="adj" fmla="val 5714"/>
            </a:avLst>
          </a:prstGeom>
          <a:solidFill>
            <a:srgbClr val="2E7D4F"/>
          </a:solidFill>
          <a:ln w="12700">
            <a:solidFill>
              <a:srgbClr val="2E7D4F"/>
            </a:solidFill>
            <a:prstDash val="solid"/>
          </a:ln>
        </p:spPr>
      </p:sp>
      <p:sp>
        <p:nvSpPr>
          <p:cNvPr id="16" name="Text 13"/>
          <p:cNvSpPr txBox="1"/>
          <p:nvPr/>
        </p:nvSpPr>
        <p:spPr>
          <a:xfrm>
            <a:off x="9674352" y="2011680"/>
            <a:ext cx="1892808"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create_agent(...)</a:t>
            </a:r>
            <a:endParaRPr lang="en-US" sz="1500" dirty="0"/>
          </a:p>
        </p:txBody>
      </p:sp>
      <p:sp>
        <p:nvSpPr>
          <p:cNvPr id="17" name="Shape 14"/>
          <p:cNvSpPr/>
          <p:nvPr/>
        </p:nvSpPr>
        <p:spPr>
          <a:xfrm>
            <a:off x="548640" y="3749040"/>
            <a:ext cx="1109167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Text 15"/>
          <p:cNvSpPr txBox="1"/>
          <p:nvPr/>
        </p:nvSpPr>
        <p:spPr>
          <a:xfrm>
            <a:off x="731520" y="3886200"/>
            <a:ext cx="107259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The four-part prompt recipe in prompts.py</a:t>
            </a:r>
            <a:endParaRPr lang="en-US" sz="1800" dirty="0"/>
          </a:p>
        </p:txBody>
      </p:sp>
      <p:sp>
        <p:nvSpPr>
          <p:cNvPr id="19" name="Text 16"/>
          <p:cNvSpPr txBox="1"/>
          <p:nvPr/>
        </p:nvSpPr>
        <p:spPr>
          <a:xfrm>
            <a:off x="731520" y="4343400"/>
            <a:ext cx="10725912" cy="146304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1  ROLE: who the agent is      2  RESPONSIBILITIES: what it owns</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3  DECISION FRAMEWORK: which tool first, how to read results      4  OUTPUT FORMAT: an exact structure the next step can rely 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purchase audit flow</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12</a:t>
            </a:r>
            <a:endParaRPr lang="en-US" sz="1000" dirty="0"/>
          </a:p>
        </p:txBody>
      </p:sp>
      <p:sp>
        <p:nvSpPr>
          <p:cNvPr id="6" name="Shape 3"/>
          <p:cNvSpPr/>
          <p:nvPr/>
        </p:nvSpPr>
        <p:spPr>
          <a:xfrm>
            <a:off x="548640" y="2103120"/>
            <a:ext cx="1828800" cy="1188720"/>
          </a:xfrm>
          <a:prstGeom prst="roundRect">
            <a:avLst>
              <a:gd name="adj" fmla="val 6154"/>
            </a:avLst>
          </a:prstGeom>
          <a:solidFill>
            <a:srgbClr val="14213D"/>
          </a:solidFill>
          <a:ln w="12700">
            <a:solidFill>
              <a:srgbClr val="14213D"/>
            </a:solidFill>
            <a:prstDash val="solid"/>
          </a:ln>
        </p:spPr>
      </p:sp>
      <p:sp>
        <p:nvSpPr>
          <p:cNvPr id="7" name="Text 4"/>
          <p:cNvSpPr txBox="1"/>
          <p:nvPr/>
        </p:nvSpPr>
        <p:spPr>
          <a:xfrm>
            <a:off x="621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Purchase request</a:t>
            </a:r>
            <a:endParaRPr lang="en-US" sz="1500" dirty="0"/>
          </a:p>
        </p:txBody>
      </p:sp>
      <p:sp>
        <p:nvSpPr>
          <p:cNvPr id="8" name="Shape 5"/>
          <p:cNvSpPr/>
          <p:nvPr/>
        </p:nvSpPr>
        <p:spPr>
          <a:xfrm>
            <a:off x="2377440" y="2697480"/>
            <a:ext cx="457200" cy="0"/>
          </a:xfrm>
          <a:prstGeom prst="line">
            <a:avLst/>
          </a:prstGeom>
          <a:noFill/>
          <a:ln w="25400">
            <a:solidFill>
              <a:srgbClr val="5B6478"/>
            </a:solidFill>
            <a:prstDash val="solid"/>
            <a:tailEnd type="triangle"/>
          </a:ln>
        </p:spPr>
      </p:sp>
      <p:sp>
        <p:nvSpPr>
          <p:cNvPr id="9" name="Shape 6"/>
          <p:cNvSpPr/>
          <p:nvPr/>
        </p:nvSpPr>
        <p:spPr>
          <a:xfrm>
            <a:off x="2834640" y="2103120"/>
            <a:ext cx="1828800" cy="1188720"/>
          </a:xfrm>
          <a:prstGeom prst="roundRect">
            <a:avLst>
              <a:gd name="adj" fmla="val 6154"/>
            </a:avLst>
          </a:prstGeom>
          <a:solidFill>
            <a:srgbClr val="1F8A83"/>
          </a:solidFill>
          <a:ln w="12700">
            <a:solidFill>
              <a:srgbClr val="1F8A83"/>
            </a:solidFill>
            <a:prstDash val="solid"/>
          </a:ln>
        </p:spPr>
      </p:sp>
      <p:sp>
        <p:nvSpPr>
          <p:cNvPr id="10" name="Text 7"/>
          <p:cNvSpPr txBox="1"/>
          <p:nvPr/>
        </p:nvSpPr>
        <p:spPr>
          <a:xfrm>
            <a:off x="2907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Risk &amp; Compliance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1</a:t>
            </a:r>
            <a:endParaRPr lang="en-US" sz="1500" dirty="0"/>
          </a:p>
        </p:txBody>
      </p:sp>
      <p:sp>
        <p:nvSpPr>
          <p:cNvPr id="11" name="Shape 8"/>
          <p:cNvSpPr/>
          <p:nvPr/>
        </p:nvSpPr>
        <p:spPr>
          <a:xfrm>
            <a:off x="4663440" y="2697480"/>
            <a:ext cx="457200" cy="0"/>
          </a:xfrm>
          <a:prstGeom prst="line">
            <a:avLst/>
          </a:prstGeom>
          <a:noFill/>
          <a:ln w="25400">
            <a:solidFill>
              <a:srgbClr val="5B6478"/>
            </a:solidFill>
            <a:prstDash val="solid"/>
            <a:tailEnd type="triangle"/>
          </a:ln>
        </p:spPr>
      </p:sp>
      <p:sp>
        <p:nvSpPr>
          <p:cNvPr id="12" name="Shape 9"/>
          <p:cNvSpPr/>
          <p:nvPr/>
        </p:nvSpPr>
        <p:spPr>
          <a:xfrm>
            <a:off x="5120640" y="2103120"/>
            <a:ext cx="182880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193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Tax &amp; Treasury</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2</a:t>
            </a:r>
            <a:endParaRPr lang="en-US" sz="1500" dirty="0"/>
          </a:p>
        </p:txBody>
      </p:sp>
      <p:sp>
        <p:nvSpPr>
          <p:cNvPr id="14" name="Shape 11"/>
          <p:cNvSpPr/>
          <p:nvPr/>
        </p:nvSpPr>
        <p:spPr>
          <a:xfrm>
            <a:off x="6949440" y="2697480"/>
            <a:ext cx="457200" cy="0"/>
          </a:xfrm>
          <a:prstGeom prst="line">
            <a:avLst/>
          </a:prstGeom>
          <a:noFill/>
          <a:ln w="25400">
            <a:solidFill>
              <a:srgbClr val="5B6478"/>
            </a:solidFill>
            <a:prstDash val="solid"/>
            <a:tailEnd type="triangle"/>
          </a:ln>
        </p:spPr>
      </p:sp>
      <p:sp>
        <p:nvSpPr>
          <p:cNvPr id="15" name="Shape 12"/>
          <p:cNvSpPr/>
          <p:nvPr/>
        </p:nvSpPr>
        <p:spPr>
          <a:xfrm>
            <a:off x="7406640" y="2103120"/>
            <a:ext cx="1828800" cy="1188720"/>
          </a:xfrm>
          <a:prstGeom prst="roundRect">
            <a:avLst>
              <a:gd name="adj" fmla="val 6154"/>
            </a:avLst>
          </a:prstGeom>
          <a:solidFill>
            <a:srgbClr val="1F8A83"/>
          </a:solidFill>
          <a:ln w="12700">
            <a:solidFill>
              <a:srgbClr val="1F8A83"/>
            </a:solidFill>
            <a:prstDash val="solid"/>
          </a:ln>
        </p:spPr>
      </p:sp>
      <p:sp>
        <p:nvSpPr>
          <p:cNvPr id="16" name="Text 13"/>
          <p:cNvSpPr txBox="1"/>
          <p:nvPr/>
        </p:nvSpPr>
        <p:spPr>
          <a:xfrm>
            <a:off x="7479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Financial Control</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3</a:t>
            </a:r>
            <a:endParaRPr lang="en-US" sz="1500" dirty="0"/>
          </a:p>
        </p:txBody>
      </p:sp>
      <p:sp>
        <p:nvSpPr>
          <p:cNvPr id="17" name="Shape 14"/>
          <p:cNvSpPr/>
          <p:nvPr/>
        </p:nvSpPr>
        <p:spPr>
          <a:xfrm>
            <a:off x="9235440" y="2697480"/>
            <a:ext cx="457200" cy="0"/>
          </a:xfrm>
          <a:prstGeom prst="line">
            <a:avLst/>
          </a:prstGeom>
          <a:noFill/>
          <a:ln w="25400">
            <a:solidFill>
              <a:srgbClr val="5B6478"/>
            </a:solidFill>
            <a:prstDash val="solid"/>
            <a:tailEnd type="triangle"/>
          </a:ln>
        </p:spPr>
      </p:sp>
      <p:sp>
        <p:nvSpPr>
          <p:cNvPr id="18" name="Shape 15"/>
          <p:cNvSpPr/>
          <p:nvPr/>
        </p:nvSpPr>
        <p:spPr>
          <a:xfrm>
            <a:off x="9692640" y="2103120"/>
            <a:ext cx="1828800" cy="1188720"/>
          </a:xfrm>
          <a:prstGeom prst="roundRect">
            <a:avLst>
              <a:gd name="adj" fmla="val 6154"/>
            </a:avLst>
          </a:prstGeom>
          <a:solidFill>
            <a:srgbClr val="2E7D4F"/>
          </a:solidFill>
          <a:ln w="12700">
            <a:solidFill>
              <a:srgbClr val="2E7D4F"/>
            </a:solidFill>
            <a:prstDash val="solid"/>
          </a:ln>
        </p:spPr>
      </p:sp>
      <p:sp>
        <p:nvSpPr>
          <p:cNvPr id="19" name="Text 16"/>
          <p:cNvSpPr txBox="1"/>
          <p:nvPr/>
        </p:nvSpPr>
        <p:spPr>
          <a:xfrm>
            <a:off x="9765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CFO memo</a:t>
            </a:r>
            <a:endParaRPr lang="en-US" sz="1500" dirty="0"/>
          </a:p>
        </p:txBody>
      </p:sp>
      <p:sp>
        <p:nvSpPr>
          <p:cNvPr id="20" name="Shape 17"/>
          <p:cNvSpPr/>
          <p:nvPr/>
        </p:nvSpPr>
        <p:spPr>
          <a:xfrm>
            <a:off x="548640"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1" name="Text 18"/>
          <p:cNvSpPr txBox="1"/>
          <p:nvPr/>
        </p:nvSpPr>
        <p:spPr>
          <a:xfrm>
            <a:off x="731520"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Sequential, not parallel</a:t>
            </a:r>
            <a:endParaRPr lang="en-US" sz="1800" dirty="0"/>
          </a:p>
        </p:txBody>
      </p:sp>
      <p:sp>
        <p:nvSpPr>
          <p:cNvPr id="22" name="Text 19"/>
          <p:cNvSpPr txBox="1"/>
          <p:nvPr/>
        </p:nvSpPr>
        <p:spPr>
          <a:xfrm>
            <a:off x="731520"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runs after the previous one. The three are independent, so parallel runs would cut the wait.</a:t>
            </a:r>
            <a:endParaRPr lang="en-US" sz="1700" dirty="0"/>
          </a:p>
        </p:txBody>
      </p:sp>
      <p:sp>
        <p:nvSpPr>
          <p:cNvPr id="23" name="Shape 20"/>
          <p:cNvSpPr/>
          <p:nvPr/>
        </p:nvSpPr>
        <p:spPr>
          <a:xfrm>
            <a:off x="6199632"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6382512"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About 11+ model calls</a:t>
            </a:r>
            <a:endParaRPr lang="en-US" sz="1800" dirty="0"/>
          </a:p>
        </p:txBody>
      </p:sp>
      <p:sp>
        <p:nvSpPr>
          <p:cNvPr id="25" name="Text 22"/>
          <p:cNvSpPr txBox="1"/>
          <p:nvPr/>
        </p:nvSpPr>
        <p:spPr>
          <a:xfrm>
            <a:off x="6382512"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Agent reasoning, tool-internal calls and the CFO call add up (README estimate, not measured).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five tools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754880"/>
                <a:gridCol w="1828800"/>
                <a:gridCol w="450799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 source</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check_sanctions_list</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get_vendor_credit_score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calculate_cross_border_tax</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validate_fx_hedge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Live Frankfurter API, LLM fallback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categorize_expense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Control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Docstrings are sent to the model as tool descriptions. Wording changes behavior.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CFO step: rules in the prompt, not in code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14</a:t>
            </a:r>
            <a:endParaRPr lang="en-US" sz="1000" dirty="0"/>
          </a:p>
        </p:txBody>
      </p:sp>
      <p:sp>
        <p:nvSpPr>
          <p:cNvPr id="6" name="Shape 3"/>
          <p:cNvSpPr/>
          <p:nvPr/>
        </p:nvSpPr>
        <p:spPr>
          <a:xfrm>
            <a:off x="548640" y="1645920"/>
            <a:ext cx="3593592" cy="3108960"/>
          </a:xfrm>
          <a:prstGeom prst="roundRect">
            <a:avLst>
              <a:gd name="adj" fmla="val 2353"/>
            </a:avLst>
          </a:prstGeom>
          <a:solidFill>
            <a:srgbClr val="FFFFFF"/>
          </a:solidFill>
          <a:ln w="12700">
            <a:solidFill>
              <a:srgbClr val="C8553D"/>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400" b="1" dirty="0">
                <a:solidFill>
                  <a:srgbClr val="C8553D"/>
                </a:solidFill>
                <a:latin typeface="Cambria" pitchFamily="34" charset="0"/>
                <a:ea typeface="Cambria" pitchFamily="34" charset="-122"/>
                <a:cs typeface="Cambria" pitchFamily="34" charset="-120"/>
              </a:rPr>
              <a:t>RED ALERT</a:t>
            </a:r>
            <a:endParaRPr lang="en-US" sz="2400" dirty="0"/>
          </a:p>
        </p:txBody>
      </p:sp>
      <p:sp>
        <p:nvSpPr>
          <p:cNvPr id="8" name="Text 5"/>
          <p:cNvSpPr txBox="1"/>
          <p:nvPr/>
        </p:nvSpPr>
        <p:spPr>
          <a:xfrm>
            <a:off x="73152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it.</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REJECTED.</a:t>
            </a:r>
            <a:endParaRPr lang="en-US" sz="1700" dirty="0"/>
          </a:p>
        </p:txBody>
      </p:sp>
      <p:sp>
        <p:nvSpPr>
          <p:cNvPr id="9" name="Shape 6"/>
          <p:cNvSpPr/>
          <p:nvPr/>
        </p:nvSpPr>
        <p:spPr>
          <a:xfrm>
            <a:off x="4297680" y="1645920"/>
            <a:ext cx="3593592" cy="3108960"/>
          </a:xfrm>
          <a:prstGeom prst="roundRect">
            <a:avLst>
              <a:gd name="adj" fmla="val 2353"/>
            </a:avLst>
          </a:prstGeom>
          <a:solidFill>
            <a:srgbClr val="FFFFFF"/>
          </a:solidFill>
          <a:ln w="12700">
            <a:solidFill>
              <a:srgbClr val="F2A541"/>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400" b="1" dirty="0">
                <a:solidFill>
                  <a:srgbClr val="B7791F"/>
                </a:solidFill>
                <a:latin typeface="Cambria" pitchFamily="34" charset="0"/>
                <a:ea typeface="Cambria" pitchFamily="34" charset="-122"/>
                <a:cs typeface="Cambria" pitchFamily="34" charset="-120"/>
              </a:rPr>
              <a:t>FX ALERT or HOLD</a:t>
            </a:r>
            <a:endParaRPr lang="en-US" sz="2400" dirty="0"/>
          </a:p>
        </p:txBody>
      </p:sp>
      <p:sp>
        <p:nvSpPr>
          <p:cNvPr id="11" name="Text 8"/>
          <p:cNvSpPr txBox="1"/>
          <p:nvPr/>
        </p:nvSpPr>
        <p:spPr>
          <a:xfrm>
            <a:off x="448056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either.</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CONDITIONAL HOLD with conditions listed.</a:t>
            </a:r>
            <a:endParaRPr lang="en-US" sz="1700" dirty="0"/>
          </a:p>
        </p:txBody>
      </p:sp>
      <p:sp>
        <p:nvSpPr>
          <p:cNvPr id="12" name="Shape 9"/>
          <p:cNvSpPr/>
          <p:nvPr/>
        </p:nvSpPr>
        <p:spPr>
          <a:xfrm>
            <a:off x="8046720" y="1645920"/>
            <a:ext cx="3593592" cy="3108960"/>
          </a:xfrm>
          <a:prstGeom prst="roundRect">
            <a:avLst>
              <a:gd name="adj" fmla="val 2353"/>
            </a:avLst>
          </a:prstGeom>
          <a:solidFill>
            <a:srgbClr val="FFFFFF"/>
          </a:solidFill>
          <a:ln w="12700">
            <a:solidFill>
              <a:srgbClr val="2E7D4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400" b="1" dirty="0">
                <a:solidFill>
                  <a:srgbClr val="2E7D4F"/>
                </a:solidFill>
                <a:latin typeface="Cambria" pitchFamily="34" charset="0"/>
                <a:ea typeface="Cambria" pitchFamily="34" charset="-122"/>
                <a:cs typeface="Cambria" pitchFamily="34" charset="-120"/>
              </a:rPr>
              <a:t>All APPROVED</a:t>
            </a:r>
            <a:endParaRPr lang="en-US" sz="2400" dirty="0"/>
          </a:p>
        </p:txBody>
      </p:sp>
      <p:sp>
        <p:nvSpPr>
          <p:cNvPr id="14" name="Text 11"/>
          <p:cNvSpPr txBox="1"/>
          <p:nvPr/>
        </p:nvSpPr>
        <p:spPr>
          <a:xfrm>
            <a:off x="822960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report approved or successful.</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APPROVED TO PAY.</a:t>
            </a:r>
            <a:endParaRPr lang="en-US" sz="1700" dirty="0"/>
          </a:p>
        </p:txBody>
      </p:sp>
      <p:sp>
        <p:nvSpPr>
          <p:cNvPr id="15" name="Shape 12"/>
          <p:cNvSpPr/>
          <p:nvPr/>
        </p:nvSpPr>
        <p:spPr>
          <a:xfrm>
            <a:off x="548640" y="5029200"/>
            <a:ext cx="11091672" cy="960120"/>
          </a:xfrm>
          <a:prstGeom prst="roundRect">
            <a:avLst>
              <a:gd name="adj" fmla="val 7619"/>
            </a:avLst>
          </a:prstGeom>
          <a:solidFill>
            <a:srgbClr val="FFF3DC"/>
          </a:solidFill>
          <a:ln w="12700">
            <a:solidFill>
              <a:srgbClr val="F2A541"/>
            </a:solidFill>
            <a:prstDash val="solid"/>
          </a:ln>
        </p:spPr>
      </p:sp>
      <p:sp>
        <p:nvSpPr>
          <p:cNvPr id="16" name="Text 13"/>
          <p:cNvSpPr txBox="1"/>
          <p:nvPr/>
        </p:nvSpPr>
        <p:spPr>
          <a:xfrm>
            <a:off x="777240" y="5074920"/>
            <a:ext cx="1060704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Discuss: </a:t>
            </a:r>
            <a:pPr indent="0" marL="0">
              <a:buNone/>
            </a:pPr>
            <a:r>
              <a:rPr lang="en-US" sz="1700" dirty="0">
                <a:solidFill>
                  <a:srgbClr val="14213D"/>
                </a:solidFill>
                <a:latin typeface="Calibri" pitchFamily="34" charset="0"/>
                <a:ea typeface="Calibri" pitchFamily="34" charset="-122"/>
                <a:cs typeface="Calibri" pitchFamily="34" charset="-120"/>
              </a:rPr>
              <a:t>these strings are matched by the CFO model, not by code. Where should a hard business rule live?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548640"/>
            <a:ext cx="10515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Code walkthrough</a:t>
            </a:r>
            <a:endParaRPr lang="en-US" sz="4200" dirty="0"/>
          </a:p>
        </p:txBody>
      </p:sp>
      <p:sp>
        <p:nvSpPr>
          <p:cNvPr id="3" name="Text 1"/>
          <p:cNvSpPr txBox="1"/>
          <p:nvPr/>
        </p:nvSpPr>
        <p:spPr>
          <a:xfrm>
            <a:off x="731520" y="1371600"/>
            <a:ext cx="1051560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Follow one request through the real code, file by file</a:t>
            </a:r>
            <a:endParaRPr lang="en-US" sz="2000" dirty="0"/>
          </a:p>
        </p:txBody>
      </p:sp>
      <p:sp>
        <p:nvSpPr>
          <p:cNvPr id="4" name="Shape 2"/>
          <p:cNvSpPr/>
          <p:nvPr/>
        </p:nvSpPr>
        <p:spPr>
          <a:xfrm>
            <a:off x="731520" y="2194560"/>
            <a:ext cx="420624" cy="420624"/>
          </a:xfrm>
          <a:prstGeom prst="ellipse">
            <a:avLst/>
          </a:prstGeom>
          <a:solidFill>
            <a:srgbClr val="F2A541"/>
          </a:solidFill>
          <a:ln w="12700">
            <a:solidFill>
              <a:srgbClr val="F2A541"/>
            </a:solidFill>
            <a:prstDash val="solid"/>
          </a:ln>
        </p:spPr>
      </p:sp>
      <p:sp>
        <p:nvSpPr>
          <p:cNvPr id="5" name="Text 3"/>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132588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frontend/src/lib/api.ts</a:t>
            </a:r>
            <a:endParaRPr lang="en-US" sz="1400" dirty="0"/>
          </a:p>
        </p:txBody>
      </p:sp>
      <p:sp>
        <p:nvSpPr>
          <p:cNvPr id="7" name="Shape 5"/>
          <p:cNvSpPr/>
          <p:nvPr/>
        </p:nvSpPr>
        <p:spPr>
          <a:xfrm>
            <a:off x="731520" y="2761488"/>
            <a:ext cx="420624" cy="420624"/>
          </a:xfrm>
          <a:prstGeom prst="ellipse">
            <a:avLst/>
          </a:prstGeom>
          <a:solidFill>
            <a:srgbClr val="F2A541"/>
          </a:solidFill>
          <a:ln w="12700">
            <a:solidFill>
              <a:srgbClr val="F2A541"/>
            </a:solidFill>
            <a:prstDash val="solid"/>
          </a:ln>
        </p:spPr>
      </p:sp>
      <p:sp>
        <p:nvSpPr>
          <p:cNvPr id="8" name="Text 6"/>
          <p:cNvSpPr txBox="1"/>
          <p:nvPr/>
        </p:nvSpPr>
        <p:spPr>
          <a:xfrm>
            <a:off x="73152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17</a:t>
            </a:r>
            <a:endParaRPr lang="en-US" sz="1200" dirty="0"/>
          </a:p>
        </p:txBody>
      </p:sp>
      <p:sp>
        <p:nvSpPr>
          <p:cNvPr id="9" name="Text 7"/>
          <p:cNvSpPr txBox="1"/>
          <p:nvPr/>
        </p:nvSpPr>
        <p:spPr>
          <a:xfrm>
            <a:off x="132588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backend/config/settings.py</a:t>
            </a:r>
            <a:endParaRPr lang="en-US" sz="1400" dirty="0"/>
          </a:p>
        </p:txBody>
      </p:sp>
      <p:sp>
        <p:nvSpPr>
          <p:cNvPr id="10" name="Shape 8"/>
          <p:cNvSpPr/>
          <p:nvPr/>
        </p:nvSpPr>
        <p:spPr>
          <a:xfrm>
            <a:off x="731520" y="3328416"/>
            <a:ext cx="420624" cy="420624"/>
          </a:xfrm>
          <a:prstGeom prst="ellipse">
            <a:avLst/>
          </a:prstGeom>
          <a:solidFill>
            <a:srgbClr val="F2A541"/>
          </a:solidFill>
          <a:ln w="12700">
            <a:solidFill>
              <a:srgbClr val="F2A541"/>
            </a:solidFill>
            <a:prstDash val="solid"/>
          </a:ln>
        </p:spPr>
      </p:sp>
      <p:sp>
        <p:nvSpPr>
          <p:cNvPr id="11" name="Text 9"/>
          <p:cNvSpPr txBox="1"/>
          <p:nvPr/>
        </p:nvSpPr>
        <p:spPr>
          <a:xfrm>
            <a:off x="73152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18</a:t>
            </a:r>
            <a:endParaRPr lang="en-US" sz="1200" dirty="0"/>
          </a:p>
        </p:txBody>
      </p:sp>
      <p:sp>
        <p:nvSpPr>
          <p:cNvPr id="12" name="Text 10"/>
          <p:cNvSpPr txBox="1"/>
          <p:nvPr/>
        </p:nvSpPr>
        <p:spPr>
          <a:xfrm>
            <a:off x="132588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backend/api/main.py</a:t>
            </a:r>
            <a:endParaRPr lang="en-US" sz="1400" dirty="0"/>
          </a:p>
        </p:txBody>
      </p:sp>
      <p:sp>
        <p:nvSpPr>
          <p:cNvPr id="13" name="Shape 11"/>
          <p:cNvSpPr/>
          <p:nvPr/>
        </p:nvSpPr>
        <p:spPr>
          <a:xfrm>
            <a:off x="731520" y="3895344"/>
            <a:ext cx="420624" cy="420624"/>
          </a:xfrm>
          <a:prstGeom prst="ellipse">
            <a:avLst/>
          </a:prstGeom>
          <a:solidFill>
            <a:srgbClr val="F2A541"/>
          </a:solidFill>
          <a:ln w="12700">
            <a:solidFill>
              <a:srgbClr val="F2A541"/>
            </a:solidFill>
            <a:prstDash val="solid"/>
          </a:ln>
        </p:spPr>
      </p:sp>
      <p:sp>
        <p:nvSpPr>
          <p:cNvPr id="14" name="Text 12"/>
          <p:cNvSpPr txBox="1"/>
          <p:nvPr/>
        </p:nvSpPr>
        <p:spPr>
          <a:xfrm>
            <a:off x="73152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19</a:t>
            </a:r>
            <a:endParaRPr lang="en-US" sz="1200" dirty="0"/>
          </a:p>
        </p:txBody>
      </p:sp>
      <p:sp>
        <p:nvSpPr>
          <p:cNvPr id="15" name="Text 13"/>
          <p:cNvSpPr txBox="1"/>
          <p:nvPr/>
        </p:nvSpPr>
        <p:spPr>
          <a:xfrm>
            <a:off x="132588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(ask, audit)</a:t>
            </a:r>
            <a:endParaRPr lang="en-US" sz="1400" dirty="0"/>
          </a:p>
        </p:txBody>
      </p:sp>
      <p:sp>
        <p:nvSpPr>
          <p:cNvPr id="16" name="Shape 14"/>
          <p:cNvSpPr/>
          <p:nvPr/>
        </p:nvSpPr>
        <p:spPr>
          <a:xfrm>
            <a:off x="731520" y="4462272"/>
            <a:ext cx="420624" cy="420624"/>
          </a:xfrm>
          <a:prstGeom prst="ellipse">
            <a:avLst/>
          </a:prstGeom>
          <a:solidFill>
            <a:srgbClr val="F2A541"/>
          </a:solidFill>
          <a:ln w="12700">
            <a:solidFill>
              <a:srgbClr val="F2A541"/>
            </a:solidFill>
            <a:prstDash val="solid"/>
          </a:ln>
        </p:spPr>
      </p:sp>
      <p:sp>
        <p:nvSpPr>
          <p:cNvPr id="17" name="Text 15"/>
          <p:cNvSpPr txBox="1"/>
          <p:nvPr/>
        </p:nvSpPr>
        <p:spPr>
          <a:xfrm>
            <a:off x="73152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20</a:t>
            </a:r>
            <a:endParaRPr lang="en-US" sz="1200" dirty="0"/>
          </a:p>
        </p:txBody>
      </p:sp>
      <p:sp>
        <p:nvSpPr>
          <p:cNvPr id="18" name="Text 16"/>
          <p:cNvSpPr txBox="1"/>
          <p:nvPr/>
        </p:nvSpPr>
        <p:spPr>
          <a:xfrm>
            <a:off x="132588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(upload)</a:t>
            </a:r>
            <a:endParaRPr lang="en-US" sz="1400" dirty="0"/>
          </a:p>
        </p:txBody>
      </p:sp>
      <p:sp>
        <p:nvSpPr>
          <p:cNvPr id="19" name="Shape 17"/>
          <p:cNvSpPr/>
          <p:nvPr/>
        </p:nvSpPr>
        <p:spPr>
          <a:xfrm>
            <a:off x="731520" y="5029200"/>
            <a:ext cx="420624" cy="420624"/>
          </a:xfrm>
          <a:prstGeom prst="ellipse">
            <a:avLst/>
          </a:prstGeom>
          <a:solidFill>
            <a:srgbClr val="F2A541"/>
          </a:solidFill>
          <a:ln w="12700">
            <a:solidFill>
              <a:srgbClr val="F2A541"/>
            </a:solidFill>
            <a:prstDash val="solid"/>
          </a:ln>
        </p:spPr>
      </p:sp>
      <p:sp>
        <p:nvSpPr>
          <p:cNvPr id="20" name="Text 18"/>
          <p:cNvSpPr txBox="1"/>
          <p:nvPr/>
        </p:nvSpPr>
        <p:spPr>
          <a:xfrm>
            <a:off x="73152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21</a:t>
            </a:r>
            <a:endParaRPr lang="en-US" sz="1200" dirty="0"/>
          </a:p>
        </p:txBody>
      </p:sp>
      <p:sp>
        <p:nvSpPr>
          <p:cNvPr id="21" name="Text 19"/>
          <p:cNvSpPr txBox="1"/>
          <p:nvPr/>
        </p:nvSpPr>
        <p:spPr>
          <a:xfrm>
            <a:off x="132588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backend/rag/llm.py</a:t>
            </a:r>
            <a:endParaRPr lang="en-US" sz="1400" dirty="0"/>
          </a:p>
        </p:txBody>
      </p:sp>
      <p:sp>
        <p:nvSpPr>
          <p:cNvPr id="22" name="Shape 20"/>
          <p:cNvSpPr/>
          <p:nvPr/>
        </p:nvSpPr>
        <p:spPr>
          <a:xfrm>
            <a:off x="731520" y="5596128"/>
            <a:ext cx="420624" cy="420624"/>
          </a:xfrm>
          <a:prstGeom prst="ellipse">
            <a:avLst/>
          </a:prstGeom>
          <a:solidFill>
            <a:srgbClr val="F2A541"/>
          </a:solidFill>
          <a:ln w="12700">
            <a:solidFill>
              <a:srgbClr val="F2A541"/>
            </a:solidFill>
            <a:prstDash val="solid"/>
          </a:ln>
        </p:spPr>
      </p:sp>
      <p:sp>
        <p:nvSpPr>
          <p:cNvPr id="23" name="Text 21"/>
          <p:cNvSpPr txBox="1"/>
          <p:nvPr/>
        </p:nvSpPr>
        <p:spPr>
          <a:xfrm>
            <a:off x="73152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22</a:t>
            </a:r>
            <a:endParaRPr lang="en-US" sz="1200" dirty="0"/>
          </a:p>
        </p:txBody>
      </p:sp>
      <p:sp>
        <p:nvSpPr>
          <p:cNvPr id="24" name="Text 22"/>
          <p:cNvSpPr txBox="1"/>
          <p:nvPr/>
        </p:nvSpPr>
        <p:spPr>
          <a:xfrm>
            <a:off x="132588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backend/rag/retrieval.py</a:t>
            </a:r>
            <a:endParaRPr lang="en-US" sz="1400" dirty="0"/>
          </a:p>
        </p:txBody>
      </p:sp>
      <p:sp>
        <p:nvSpPr>
          <p:cNvPr id="25" name="Shape 23"/>
          <p:cNvSpPr/>
          <p:nvPr/>
        </p:nvSpPr>
        <p:spPr>
          <a:xfrm>
            <a:off x="6309360" y="2194560"/>
            <a:ext cx="420624" cy="420624"/>
          </a:xfrm>
          <a:prstGeom prst="ellipse">
            <a:avLst/>
          </a:prstGeom>
          <a:solidFill>
            <a:srgbClr val="F2A541"/>
          </a:solidFill>
          <a:ln w="12700">
            <a:solidFill>
              <a:srgbClr val="F2A541"/>
            </a:solidFill>
            <a:prstDash val="solid"/>
          </a:ln>
        </p:spPr>
      </p:sp>
      <p:sp>
        <p:nvSpPr>
          <p:cNvPr id="26" name="Text 24"/>
          <p:cNvSpPr txBox="1"/>
          <p:nvPr/>
        </p:nvSpPr>
        <p:spPr>
          <a:xfrm>
            <a:off x="630936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23</a:t>
            </a:r>
            <a:endParaRPr lang="en-US" sz="1200" dirty="0"/>
          </a:p>
        </p:txBody>
      </p:sp>
      <p:sp>
        <p:nvSpPr>
          <p:cNvPr id="27" name="Text 25"/>
          <p:cNvSpPr txBox="1"/>
          <p:nvPr/>
        </p:nvSpPr>
        <p:spPr>
          <a:xfrm>
            <a:off x="690372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backend/agent/prompts.py</a:t>
            </a:r>
            <a:endParaRPr lang="en-US" sz="1400" dirty="0"/>
          </a:p>
        </p:txBody>
      </p:sp>
      <p:sp>
        <p:nvSpPr>
          <p:cNvPr id="28" name="Shape 26"/>
          <p:cNvSpPr/>
          <p:nvPr/>
        </p:nvSpPr>
        <p:spPr>
          <a:xfrm>
            <a:off x="6309360" y="2761488"/>
            <a:ext cx="420624" cy="420624"/>
          </a:xfrm>
          <a:prstGeom prst="ellipse">
            <a:avLst/>
          </a:prstGeom>
          <a:solidFill>
            <a:srgbClr val="F2A541"/>
          </a:solidFill>
          <a:ln w="12700">
            <a:solidFill>
              <a:srgbClr val="F2A541"/>
            </a:solidFill>
            <a:prstDash val="solid"/>
          </a:ln>
        </p:spPr>
      </p:sp>
      <p:sp>
        <p:nvSpPr>
          <p:cNvPr id="29" name="Text 27"/>
          <p:cNvSpPr txBox="1"/>
          <p:nvPr/>
        </p:nvSpPr>
        <p:spPr>
          <a:xfrm>
            <a:off x="630936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24</a:t>
            </a:r>
            <a:endParaRPr lang="en-US" sz="1200" dirty="0"/>
          </a:p>
        </p:txBody>
      </p:sp>
      <p:sp>
        <p:nvSpPr>
          <p:cNvPr id="30" name="Text 28"/>
          <p:cNvSpPr txBox="1"/>
          <p:nvPr/>
        </p:nvSpPr>
        <p:spPr>
          <a:xfrm>
            <a:off x="690372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(anatomy)</a:t>
            </a:r>
            <a:endParaRPr lang="en-US" sz="1400" dirty="0"/>
          </a:p>
        </p:txBody>
      </p:sp>
      <p:sp>
        <p:nvSpPr>
          <p:cNvPr id="31" name="Shape 29"/>
          <p:cNvSpPr/>
          <p:nvPr/>
        </p:nvSpPr>
        <p:spPr>
          <a:xfrm>
            <a:off x="6309360" y="3328416"/>
            <a:ext cx="420624" cy="420624"/>
          </a:xfrm>
          <a:prstGeom prst="ellipse">
            <a:avLst/>
          </a:prstGeom>
          <a:solidFill>
            <a:srgbClr val="F2A541"/>
          </a:solidFill>
          <a:ln w="12700">
            <a:solidFill>
              <a:srgbClr val="F2A541"/>
            </a:solidFill>
            <a:prstDash val="solid"/>
          </a:ln>
        </p:spPr>
      </p:sp>
      <p:sp>
        <p:nvSpPr>
          <p:cNvPr id="32" name="Text 30"/>
          <p:cNvSpPr txBox="1"/>
          <p:nvPr/>
        </p:nvSpPr>
        <p:spPr>
          <a:xfrm>
            <a:off x="630936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25</a:t>
            </a:r>
            <a:endParaRPr lang="en-US" sz="1200" dirty="0"/>
          </a:p>
        </p:txBody>
      </p:sp>
      <p:sp>
        <p:nvSpPr>
          <p:cNvPr id="33" name="Text 31"/>
          <p:cNvSpPr txBox="1"/>
          <p:nvPr/>
        </p:nvSpPr>
        <p:spPr>
          <a:xfrm>
            <a:off x="690372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(FX check)</a:t>
            </a:r>
            <a:endParaRPr lang="en-US" sz="1400" dirty="0"/>
          </a:p>
        </p:txBody>
      </p:sp>
      <p:sp>
        <p:nvSpPr>
          <p:cNvPr id="34" name="Shape 32"/>
          <p:cNvSpPr/>
          <p:nvPr/>
        </p:nvSpPr>
        <p:spPr>
          <a:xfrm>
            <a:off x="6309360" y="3895344"/>
            <a:ext cx="420624" cy="420624"/>
          </a:xfrm>
          <a:prstGeom prst="ellipse">
            <a:avLst/>
          </a:prstGeom>
          <a:solidFill>
            <a:srgbClr val="F2A541"/>
          </a:solidFill>
          <a:ln w="12700">
            <a:solidFill>
              <a:srgbClr val="F2A541"/>
            </a:solidFill>
            <a:prstDash val="solid"/>
          </a:ln>
        </p:spPr>
      </p:sp>
      <p:sp>
        <p:nvSpPr>
          <p:cNvPr id="35" name="Text 33"/>
          <p:cNvSpPr txBox="1"/>
          <p:nvPr/>
        </p:nvSpPr>
        <p:spPr>
          <a:xfrm>
            <a:off x="630936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26</a:t>
            </a:r>
            <a:endParaRPr lang="en-US" sz="1200" dirty="0"/>
          </a:p>
        </p:txBody>
      </p:sp>
      <p:sp>
        <p:nvSpPr>
          <p:cNvPr id="36" name="Text 34"/>
          <p:cNvSpPr txBox="1"/>
          <p:nvPr/>
        </p:nvSpPr>
        <p:spPr>
          <a:xfrm>
            <a:off x="690372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backend/agent/agents.py</a:t>
            </a:r>
            <a:endParaRPr lang="en-US" sz="1400" dirty="0"/>
          </a:p>
        </p:txBody>
      </p:sp>
      <p:sp>
        <p:nvSpPr>
          <p:cNvPr id="37" name="Shape 35"/>
          <p:cNvSpPr/>
          <p:nvPr/>
        </p:nvSpPr>
        <p:spPr>
          <a:xfrm>
            <a:off x="6309360" y="4462272"/>
            <a:ext cx="420624" cy="420624"/>
          </a:xfrm>
          <a:prstGeom prst="ellipse">
            <a:avLst/>
          </a:prstGeom>
          <a:solidFill>
            <a:srgbClr val="F2A541"/>
          </a:solidFill>
          <a:ln w="12700">
            <a:solidFill>
              <a:srgbClr val="F2A541"/>
            </a:solidFill>
            <a:prstDash val="solid"/>
          </a:ln>
        </p:spPr>
      </p:sp>
      <p:sp>
        <p:nvSpPr>
          <p:cNvPr id="38" name="Text 36"/>
          <p:cNvSpPr txBox="1"/>
          <p:nvPr/>
        </p:nvSpPr>
        <p:spPr>
          <a:xfrm>
            <a:off x="630936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27</a:t>
            </a:r>
            <a:endParaRPr lang="en-US" sz="1200" dirty="0"/>
          </a:p>
        </p:txBody>
      </p:sp>
      <p:sp>
        <p:nvSpPr>
          <p:cNvPr id="39" name="Text 37"/>
          <p:cNvSpPr txBox="1"/>
          <p:nvPr/>
        </p:nvSpPr>
        <p:spPr>
          <a:xfrm>
            <a:off x="690372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backend/logger/custom_logger.py</a:t>
            </a:r>
            <a:endParaRPr lang="en-US" sz="1400" dirty="0"/>
          </a:p>
        </p:txBody>
      </p:sp>
      <p:sp>
        <p:nvSpPr>
          <p:cNvPr id="40" name="Shape 38"/>
          <p:cNvSpPr/>
          <p:nvPr/>
        </p:nvSpPr>
        <p:spPr>
          <a:xfrm>
            <a:off x="6309360" y="5029200"/>
            <a:ext cx="420624" cy="420624"/>
          </a:xfrm>
          <a:prstGeom prst="ellipse">
            <a:avLst/>
          </a:prstGeom>
          <a:solidFill>
            <a:srgbClr val="F2A541"/>
          </a:solidFill>
          <a:ln w="12700">
            <a:solidFill>
              <a:srgbClr val="F2A541"/>
            </a:solidFill>
            <a:prstDash val="solid"/>
          </a:ln>
        </p:spPr>
      </p:sp>
      <p:sp>
        <p:nvSpPr>
          <p:cNvPr id="41" name="Text 39"/>
          <p:cNvSpPr txBox="1"/>
          <p:nvPr/>
        </p:nvSpPr>
        <p:spPr>
          <a:xfrm>
            <a:off x="630936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28</a:t>
            </a:r>
            <a:endParaRPr lang="en-US" sz="1200" dirty="0"/>
          </a:p>
        </p:txBody>
      </p:sp>
      <p:sp>
        <p:nvSpPr>
          <p:cNvPr id="42" name="Text 40"/>
          <p:cNvSpPr txBox="1"/>
          <p:nvPr/>
        </p:nvSpPr>
        <p:spPr>
          <a:xfrm>
            <a:off x="690372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backend/tests/</a:t>
            </a:r>
            <a:endParaRPr lang="en-US" sz="1400" dirty="0"/>
          </a:p>
        </p:txBody>
      </p:sp>
      <p:sp>
        <p:nvSpPr>
          <p:cNvPr id="43" name="Shape 41"/>
          <p:cNvSpPr/>
          <p:nvPr/>
        </p:nvSpPr>
        <p:spPr>
          <a:xfrm>
            <a:off x="6309360" y="5596128"/>
            <a:ext cx="420624" cy="420624"/>
          </a:xfrm>
          <a:prstGeom prst="ellipse">
            <a:avLst/>
          </a:prstGeom>
          <a:solidFill>
            <a:srgbClr val="F2A541"/>
          </a:solidFill>
          <a:ln w="12700">
            <a:solidFill>
              <a:srgbClr val="F2A541"/>
            </a:solidFill>
            <a:prstDash val="solid"/>
          </a:ln>
        </p:spPr>
      </p:sp>
      <p:sp>
        <p:nvSpPr>
          <p:cNvPr id="44" name="Text 42"/>
          <p:cNvSpPr txBox="1"/>
          <p:nvPr/>
        </p:nvSpPr>
        <p:spPr>
          <a:xfrm>
            <a:off x="630936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29</a:t>
            </a:r>
            <a:endParaRPr lang="en-US" sz="1200" dirty="0"/>
          </a:p>
        </p:txBody>
      </p:sp>
      <p:sp>
        <p:nvSpPr>
          <p:cNvPr id="45" name="Text 43"/>
          <p:cNvSpPr txBox="1"/>
          <p:nvPr/>
        </p:nvSpPr>
        <p:spPr>
          <a:xfrm>
            <a:off x="690372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Recap: one request, end to end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 the browser talks to one file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16</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frontend/src/lib/api.ts  ·  lines 5-14 and 36-42</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const BASE_URL = import.meta.env.VITE_API_URL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(import.meta.env.DEV ? "http://localhost:8080" :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function request&lt;T&gt;(path: string, options =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res = await fetch(`${BASE_URL}${path}`, options);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(!res.ok)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body = await res.json().catch(() =&gt;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throw new Error(body.detail || `HTTP ${res.status}`);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res.json();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export async function askQuestion(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string, retrieverType = "similarity")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request&lt;{ answer: string }&gt;("/api/rag/ask",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method: "POST",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headers: { "Content-Type": "application/json"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body: JSON.stringify({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retriever_type: retrieverType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BASE_URL is empty in production (same origin as the API) and localhost:8080 in dev, unless VITE_API_URL overrides 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any non-2xx reply it throws an Error carrying the server's detail text. The screens simply show err.message.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on fetch: a slow audit keeps waiting. The Audit tab's progress ticks are fake timers.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key retriever_type is snake_case so it matches the Pydantic field on the server.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2: one settings object, read at import time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backend/config/settings.py  ·  lines 13-54</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Settings(BaseSettings):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GCP_PROJECT: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validation_alias="GCP_PROJECT_ID")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llm_model_name: str = Field("gemini-3.8-flash",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llm_temperature: float = Field(0.0,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embedding_model_name: str = Field("text-embedding-005",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validation_alias="VERTEX_EMBEDDING_MODEL_NAME")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model_config = SettingsConfigDict(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env_file=".env",</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env_file_encoding="utf-8",</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extra="ignore")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created once, when this module is first imported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settings = Settings()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validation_alias is the environment variable name. It can differ from the attribute: GCP_PROJECT_ID is read into settings.GCP_PROJECT.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Defaults are empty strings and nothing is validated at startup, so a missing key only fails later, on first use.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.env is a relative path: it is found only if you start the app from the repo root. extra="ignore" skips unknown variables.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Everything imports this one shared settings object. The default model name is not verified to exist, so override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3: wiring the server</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backend/api/main.py  ·  lines 28-73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@asynccontextmanager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lifespan(app: FastAPI):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yield                      # the app runs here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_LOGGER_INSTANCE.flush_to_gcs()   # on shutdown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 = FastAPI(title=settings.app_name, lifespan=lifespan)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app.add_middleware(CORSMiddleware,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allow_origins=["*"], allow_credentials=True,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allow_methods=["*"], allow_headers=["*"])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app.include_router(health_router)   # then 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app.include_router(agent_router)    # agent and rag</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if os.path.exists(frontend_dist):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@app.get("/{catchall:path}", include_in_schema=False)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def serve_frontend(catchall: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catchall.startswith("api/"):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HTTPException(404, "Not found")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file_path = os.path.realpath(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os.path.join(frontend_dist, catchall))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file_path.startswith(frontend_dist + os.sep)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os.path.isfile(file_path):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FileResponse(index_html)</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lifespan: nothing runs at startup; at shutdown the log file is uploaded to Cloud Storage (Cloud Run's disk disappears).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CORS allows every origin, method and header with credentials. The source comment says: tighten in production.</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API routers are registered BEFORE the catch-all, so /api/... reaches the API and everything else reaches the React app.</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realpath plus startswith(frontend_dist) blocks ../ path traversal. Unknown /api/ paths return 404, not the web page.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4: thin routes, one error pattern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19</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schemas.py  ·  lines 97-119</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AuditRequest(BaseModel):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request_text: str</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class QueryRequest(BaseModel):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retriever_type: str = "similarity"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@agent_router.post("/audit", response_model=AuditResponse)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run_audit(payload: AuditRequest):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get_supervisor().run_audit(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payload.request_text)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AuditResponse(**result)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log.error("Audit failed", error=str(e))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HTTPException(status_code=500,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detail=str(e))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@rag_router.post("/ask", response_model=QueryResponse)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rag_query(payload: QueryRequest):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same try/except around ask_question(...)</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Pydantic models validate the JSON body. A missing field gives HTTP 422 automatically, with no code of ours.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route does three things only: validate, call real logic (supervisor or ask_question), shape the reply.</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One error pattern everywhere: log, then HTTP 500 with detail=str(e). The raw exception text goes back to the caller.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get_supervisor() is lru_cached: agents are built on the first audit request, not at startup.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5: upload, copy, index</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20</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lines 122-176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@rag_router.post("/upload")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upload_documents(files: list[UploadFile] = File(...)):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tmp_dir = tempfile.mkdtemp()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for upload in files: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not upload.filename.lower().endswith(".pdf"):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results.append({"status": "skipped",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continue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 os.path.join(tmp_dir,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os.path.basename(upload.filename))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with open(local_path, "wb") as 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f.write(await upload.read())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                      # best-effort copy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bucket.blob(gcs_path).upload_from_filename(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content_type="application/pdf")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gcs_err: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log.warning("Could not save to GCS",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summary = await run_in_threadpool(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ingest_pdf, local_path, f"upload://{upload.filename}")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0 chunks -&gt; "skipped" (scanned 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finally: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shutil.rmtree(tmp_dir, ignore_errors=True)</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Only the file NAME ending is checked, not the content. The whole file is read into memory and there is no size limit.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os.path.basename strips folder parts from the client's filename, a small guard against path tricks.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failed copy to Cloud Storage is only a warning, so a file can be indexed while its original is not saved.</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ingest_pdf blocks, so run_in_threadpool keeps the server responsive. finally always deletes the temp folder.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6: one cached model client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21</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backend/rag/llm.py  ·  lines 11-35</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@lru_cache(maxsize=1)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get_llm() -&gt;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model=settings.llm_model_name,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google_api_key=settings.GOOGLE_API_KEY,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temperature=settings.llm_temperature,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extract_text(content)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Gemini may return [{'type': 'text', 'text':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isinstance(content, list):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"\n".join(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block.get("text", "") for block in 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isinstance(block, 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block.get("type") ==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content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@lru_cache(maxsize=1) makes this a lazy singleton: created on the first call, then reused by RAG, tools and the CFO step.</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Model name, API key and temperature all come from settings. Temperature 0 gives the most repeatable answers.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or retry options are passed, so library defaults apply (not checked in this repo).</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extract_text normalises Gemini replies: a list of content blocks is reduced to its text blocks and joined.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7: the RAG chain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22</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backend/rag/retrieval.py  ·  lines 26-67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build_retriever(retriever_type="similarity"):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 store = get_llm(), get_vector_store()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"contextual":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ContextualCompressionRetriever(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base_compressor=LLMChainExtractor.from_llm(llm),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"multiquery":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MultiQueryRetriever.from_llm(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3}), 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store.as_retriever(search_kwargs={"k": 3})</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ask_question(query, 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ChatPromptTemplate.from_messages(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[("system", SYSTEM_PROMPT), ("human", "{input}")])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qa = create_stuff_documents_chain(get_llm(), 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rag = create_retrieval_chain(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build_retriever(retriever_type), qa)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rag.invoke({"input":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response["answer"]</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Three strategies behind one function. An unknown type logs a warning and falls back to plain similarity (k=3).</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1 (create_stuff_documents_chain) stuffs the chunks into the prompt and calls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2 (create_retrieval_chain) runs the retriever first, then chain 1. One invoke does both steps.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Prompt and chains are rebuilt on every request; only the LLM and vector store are cached. response also holds the source chunks, but only the answer is returned.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8: anatomy of an agent prompt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23</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backend/agent/prompts.py  ·  RISK_AGENT_PROMPT (shortened)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RISK_AGENT_PROMPT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You are a Senior Risk &amp; Compliance Officer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Aldermoor Industries, a fictional German manufacturer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RESPONSIBILITIES: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Screen every vendor against global sanctions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Assess vendor financial health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DECISION FRAMEWORK: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1. Run `check_sanctions_list` first - a hard blocker.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 RED ALERT means immediate rejection.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2. Run `get_vendor_credit_score` next.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Score &gt;= 75 -&gt; LOW RISK ... &lt; 50 -&gt; HIGH RISK</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OUTPUT FORMAT - always respond in this exact structure: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SANCTIONS CHECK: [CLEARED / RED ALERT - reason]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CREDIT SCORE: [score] -&gt; [LOW / MODERATE / HIGH] RISK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OVERALL RISK VERDICT: [APPROVED / CONDITIONAL / REJECTED]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Be precise and decisive. Do not hedge.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ROLE: who the agent is. Giving a persona and company context steers vocabulary and judgement.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RESPONSIBILITIES: what it owns, so it stays inside its lane.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DECISION FRAMEWORK: which tool first and how to read results. This is only an instruction; code does not enforce the order.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OUTPUT FORMAT: an exact template. The CFO step and the UI rely on strings like RED ALERT appearing in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9: anatomy of a tool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24</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13-58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_ask_llm(prompt: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get_llm().invoke(prompt)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extract_text(response.content)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f"LLM_ERROR: {str(e)}"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check_sanctions_list(vendor_name: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"""Checks if a vendor is on global restricted/sanctioned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entities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f"""You are a compliance screening system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Vendor to screen: "{vendor_name}"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Respond starting with "RED ALERT:" or "CLEARED:"."""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_ask_llm(prompt)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result.startswith("LLM_ERROR"):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("SYSTEM WARNING: Sanctions check unavailable"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 - {result}. Manual review required.")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result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_ask_llm never raises. It returns an LLM_ERROR string, so one failed call does not crash the whole audit.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@tool turns the function into something the agent can call. Its name, arguments and DOCSTRING are sent to the model.</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is a prompt, not a database lookup: the model answers from training knowledge. Nothing is checked against a real sanctions list.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failure the tool degrades to a SYSTEM WARNING asking for manual review instead of pretending to clear the vendor.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10: the one tool with live data</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25</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179-223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validate_fx_hedge(currency_pair: str, rate_used: float):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parts = currency_pair.upper().replace("/", "_").split("_")</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 quote = parts[0], parts[1]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None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1: live rate from Frankfurter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url = ("https://api.frankfurter.dev/v1/latest"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f"?base={base}&amp;symbols={quote}")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 = requests.get(url, timeout=10)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resp.status_code == 200: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resp.json()["rates"].get(quote)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2: ask Gemini for the 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market_rate is None: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float(_ask_llm(prompt).strip())</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variance = abs(rate_used - market_rate) / market_rate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variance &gt; 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ALERT: ... EXCEEDS 5% limit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SUCCESS: ... within 5% hedge band."</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It parses pairs like EUR_JPY, EUR/JPY or EUR-JPY into base and quote currencies.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Live Frankfurter call with a 10 second timeout. Any exception is swallowed and falls through to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Variance = |rate used - market| / market. Example (illustrative): quote 163.5 vs market 160.0 is 2.19%, SUCCESS; 175 vs 160 is 9.38%, ALERT.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Known flaws: the label says "live market" even when Gemini supplied the rate, and a zero market rate would divide by zero.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11: the supervisor runs the agents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26</a:t>
            </a:r>
            <a:endParaRPr lang="en-US" sz="1000" dirty="0"/>
          </a:p>
        </p:txBody>
      </p:sp>
      <p:sp>
        <p:nvSpPr>
          <p:cNvPr id="6" name="Shape 3"/>
          <p:cNvSpPr/>
          <p:nvPr/>
        </p:nvSpPr>
        <p:spPr>
          <a:xfrm>
            <a:off x="548640" y="1645920"/>
            <a:ext cx="704088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583680" cy="411480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class ProcurementSupervisor:</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__init__(self):</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self.risk_agent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[check_sanctions_list,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get_vendor_credit_score], RISK_AGENT_PROMPT)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self.tax_agent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[calculate_cross_border_tax,</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validate_fx_hedge], TAX_AGENT_PROMPT)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self.control_agent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[categorize_expense], CONTROL_AGENT_PROMPT)</a:t>
            </a:r>
            <a:endParaRPr lang="en-US" sz="1300" dirty="0"/>
          </a:p>
          <a:p>
            <a:pPr indent="0" marL="0">
              <a:buNone/>
            </a:pP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run_audit(self,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risk = self._invoke_agent(self.risk_agent,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tax = self._invoke_agent(self.tax_agent,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ctrl = self._invoke_agent(self.control_agent,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return {..., "cfo_memo": cfo_memo}</a:t>
            </a:r>
            <a:endParaRPr lang="en-US" sz="1300" dirty="0"/>
          </a:p>
        </p:txBody>
      </p:sp>
      <p:sp>
        <p:nvSpPr>
          <p:cNvPr id="8" name="Shape 5"/>
          <p:cNvSpPr/>
          <p:nvPr/>
        </p:nvSpPr>
        <p:spPr>
          <a:xfrm>
            <a:off x="7863840" y="164592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8046720" y="178308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Focused toolsets</a:t>
            </a:r>
            <a:endParaRPr lang="en-US" sz="1800" dirty="0"/>
          </a:p>
        </p:txBody>
      </p:sp>
      <p:sp>
        <p:nvSpPr>
          <p:cNvPr id="10" name="Text 7"/>
          <p:cNvSpPr txBox="1"/>
          <p:nvPr/>
        </p:nvSpPr>
        <p:spPr>
          <a:xfrm>
            <a:off x="8046720" y="224028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only gets the tools it needs.</a:t>
            </a:r>
            <a:endParaRPr lang="en-US" sz="1700" dirty="0"/>
          </a:p>
        </p:txBody>
      </p:sp>
      <p:sp>
        <p:nvSpPr>
          <p:cNvPr id="11" name="Shape 8"/>
          <p:cNvSpPr/>
          <p:nvPr/>
        </p:nvSpPr>
        <p:spPr>
          <a:xfrm>
            <a:off x="7863840" y="320040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8046720" y="333756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Errors bubble up</a:t>
            </a:r>
            <a:endParaRPr lang="en-US" sz="1800" dirty="0"/>
          </a:p>
        </p:txBody>
      </p:sp>
      <p:sp>
        <p:nvSpPr>
          <p:cNvPr id="13" name="Text 10"/>
          <p:cNvSpPr txBox="1"/>
          <p:nvPr/>
        </p:nvSpPr>
        <p:spPr>
          <a:xfrm>
            <a:off x="8046720" y="379476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The route turns them into HTTP 500.</a:t>
            </a:r>
            <a:endParaRPr lang="en-US" sz="1700" dirty="0"/>
          </a:p>
        </p:txBody>
      </p:sp>
      <p:sp>
        <p:nvSpPr>
          <p:cNvPr id="14" name="Shape 11"/>
          <p:cNvSpPr/>
          <p:nvPr/>
        </p:nvSpPr>
        <p:spPr>
          <a:xfrm>
            <a:off x="7863840" y="4754880"/>
            <a:ext cx="377647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8046720" y="489204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Run without the UI</a:t>
            </a:r>
            <a:endParaRPr lang="en-US" sz="1800" dirty="0"/>
          </a:p>
        </p:txBody>
      </p:sp>
      <p:sp>
        <p:nvSpPr>
          <p:cNvPr id="16" name="Text 13"/>
          <p:cNvSpPr txBox="1"/>
          <p:nvPr/>
        </p:nvSpPr>
        <p:spPr>
          <a:xfrm>
            <a:off x="8046720" y="5349240"/>
            <a:ext cx="341071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-m agent.agents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12: structured logging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backend/logger/custom_logger.py  ·  lines 43-83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atexit.register(self.flush_to_gcs)   # upload logs on exit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structlog.configure(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processors=[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structlog.processors.TimeStamper(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fmt="iso", utc=True, key="timestamp"),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structlog.processors.add_log_level,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add_severity,                  # copy level -&gt; severity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structlog.processors.EventRenamer(to="event"),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structlog.processors.JSONRenderer(),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logger_factory=structlog.stdlib.LoggerFactory(),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cache_logger_on_first_use=True,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usage anywhere in the backend: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from logger import GLOBAL_LOGGER as log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log.info("Phase complete", phase="Tax &amp; Treasury")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one output line (illustrative):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{"timestamp": "...", "level": "info", "severity": "INFO",</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"event": "Phase complete", "phase": "Tax &amp; Treasury"}</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Processors run in order: timestamp, level, severity, rename message to event, render as JSON. One JSON object per line.</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severity is copied from level because Cloud Logging colours and filters on that field. Level is kept so nothing breaks.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Logs go to the console AND a timestamped file in ./logs. On exit the file is uploaded to the bucket under logs/.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 calls pass key=value pairs. Careful: this app logs full queries, answers and audit text, so treat logs as sensitive.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13: testing without the cloud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backend/tests/conftest.py + test_api.py</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conftest.py - fake config, no accounts needed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os.environ.setdefault("GOOGLE_API_KEY", "test-key")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os.environ.setdefault("GCP_PROJECT_ID", "test-project")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os.environ["GCS_BUCKET_NAME"] = ""   # skip log upload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test_api.py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test_ask_returns_answer(monkeypatch):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monkeypatch.setattr(endpoints, "ask_question",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lambda query, retriever_type: f"answer to: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 = client.post("/api/rag/ask",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json={"query": "hello", "retriever_type": "similarity"})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res.json() == {"answer": "answer to: hello"}</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test_chunking_splits_long_text_and_keeps_metadata():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page = Document(page_content="word " * 1000,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metadata={"source": "test.pdf"})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chunks = split_into_chunks([page])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len(chunks) &gt; 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all(len(c.page_content) &lt;= 1000 for c in chunks)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conftest.py sets fake environment values before the app imports, so no key, project or bucket is needed.</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monkeypatch swaps ask_question for a lambda INSIDE the endpoints module. The route runs for real; Gemini is never called.</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Chunking is tested directly with a fake page: more than one chunk, metadata kept, none longer than 1000 characters.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9 tests pass in about 20 seconds. They do NOT test Gemini, Vector Search, Cloud Storage or real ingestion.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Recap: one question, end to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548640"/>
                <a:gridCol w="2834640"/>
                <a:gridCol w="7708392"/>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lib/api.ts</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askQuestion sends POST /api/rag/ask with query and retriever_type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api/main.py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Router matches /api/rag/ask before the catch-all</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api/schemas.py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Pydantic validates the body into QueryRequest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rag_query calls ask_question inside try/except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rag/retrieval.py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build_retriever picks a strategy; chain is built and invoked</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rag/vector_store.py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Embeds the question and finds the nearest chunks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rag/llm.py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Gemini answers from the chunks in the system prompt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Wraps the answer in QueryResponse; errors become HTTP 500</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Engineering patterns worth copying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30</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Lazy + cached clients</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@lru_cache factories; health works before GCP is set up.</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Thin routes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Validate, call rag/ or agent/, return JSON.</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settings object</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config.settings, never os.environ in code.</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Structured logs</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JSON lines, flushed to Cloud Storage on shutdown.</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Tests with fakes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9 backend tests, no network or accounts needed.</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frontend client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backend call goes through api.ts.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HONEST 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not production-ready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31</a:t>
            </a:r>
            <a:endParaRPr lang="en-US" sz="1000" dirty="0"/>
          </a:p>
        </p:txBody>
      </p:sp>
      <p:sp>
        <p:nvSpPr>
          <p:cNvPr id="6" name="Shape 3"/>
          <p:cNvSpPr/>
          <p:nvPr/>
        </p:nvSpPr>
        <p:spPr>
          <a:xfrm>
            <a:off x="548640"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Security</a:t>
            </a:r>
            <a:endParaRPr lang="en-US" sz="1800" dirty="0"/>
          </a:p>
        </p:txBody>
      </p:sp>
      <p:sp>
        <p:nvSpPr>
          <p:cNvPr id="8" name="Text 5"/>
          <p:cNvSpPr txBox="1"/>
          <p:nvPr/>
        </p:nvSpPr>
        <p:spPr>
          <a:xfrm>
            <a:off x="731520"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auth, CORS allows everything, public Cloud Run, status route leaks ids.</a:t>
            </a:r>
            <a:endParaRPr lang="en-US" sz="1800" dirty="0"/>
          </a:p>
        </p:txBody>
      </p:sp>
      <p:sp>
        <p:nvSpPr>
          <p:cNvPr id="9" name="Shape 6"/>
          <p:cNvSpPr/>
          <p:nvPr/>
        </p:nvSpPr>
        <p:spPr>
          <a:xfrm>
            <a:off x="6190488"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73368"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Correctness</a:t>
            </a:r>
            <a:endParaRPr lang="en-US" sz="1800" dirty="0"/>
          </a:p>
        </p:txBody>
      </p:sp>
      <p:sp>
        <p:nvSpPr>
          <p:cNvPr id="11" name="Text 8"/>
          <p:cNvSpPr txBox="1"/>
          <p:nvPr/>
        </p:nvSpPr>
        <p:spPr>
          <a:xfrm>
            <a:off x="6373368"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Audit checks are LLM recall; silent 15% tax fallback.</a:t>
            </a:r>
            <a:endParaRPr lang="en-US" sz="1800" dirty="0"/>
          </a:p>
        </p:txBody>
      </p:sp>
      <p:sp>
        <p:nvSpPr>
          <p:cNvPr id="12" name="Shape 9"/>
          <p:cNvSpPr/>
          <p:nvPr/>
        </p:nvSpPr>
        <p:spPr>
          <a:xfrm>
            <a:off x="548640"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731520"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Reliability</a:t>
            </a:r>
            <a:endParaRPr lang="en-US" sz="1800" dirty="0"/>
          </a:p>
        </p:txBody>
      </p:sp>
      <p:sp>
        <p:nvSpPr>
          <p:cNvPr id="14" name="Text 11"/>
          <p:cNvSpPr txBox="1"/>
          <p:nvPr/>
        </p:nvSpPr>
        <p:spPr>
          <a:xfrm>
            <a:off x="731520"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retries, size limits, or startup validation; raw errors returned.</a:t>
            </a:r>
            <a:endParaRPr lang="en-US" sz="1800" dirty="0"/>
          </a:p>
        </p:txBody>
      </p:sp>
      <p:sp>
        <p:nvSpPr>
          <p:cNvPr id="15" name="Shape 12"/>
          <p:cNvSpPr/>
          <p:nvPr/>
        </p:nvSpPr>
        <p:spPr>
          <a:xfrm>
            <a:off x="6190488"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6373368"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Privacy and data</a:t>
            </a:r>
            <a:endParaRPr lang="en-US" sz="1800" dirty="0"/>
          </a:p>
        </p:txBody>
      </p:sp>
      <p:sp>
        <p:nvSpPr>
          <p:cNvPr id="17" name="Text 14"/>
          <p:cNvSpPr txBox="1"/>
          <p:nvPr/>
        </p:nvSpPr>
        <p:spPr>
          <a:xfrm>
            <a:off x="6373368"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Logs hold full queries; no database; no per-user separation.</a:t>
            </a:r>
            <a:endParaRPr lang="en-US" sz="1800" dirty="0"/>
          </a:p>
        </p:txBody>
      </p:sp>
      <p:sp>
        <p:nvSpPr>
          <p:cNvPr id="18" name="Text 15"/>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Exercise: rank the top three fixes and defend your order.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Run it yourself</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32</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 Tier 0 - free, no accounts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venv .venv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pip install -r requirements-dev.txt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pytest backend/tests -q</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frontend &amp;&amp; npm ci &amp;&amp; npm test</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Tier 1 - needs GOOGLE_API_KEY in .env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uvicorn api.main:app --app-dir backend --port 8080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open http://localhost:8080/docs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backend &amp;&amp; python -m agent.agents</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Tier 2 costs money</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Vector Search is billed hourly. Set budget alerts.</a:t>
            </a:r>
            <a:endParaRPr lang="en-US" sz="1700" dirty="0"/>
          </a:p>
        </p:txBody>
      </p:sp>
      <p:sp>
        <p:nvSpPr>
          <p:cNvPr id="11" name="Shape 8"/>
          <p:cNvSpPr/>
          <p:nvPr/>
        </p:nvSpPr>
        <p:spPr>
          <a:xfrm>
            <a:off x="7498080" y="320040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Protect secrets</a:t>
            </a:r>
            <a:endParaRPr lang="en-US" sz="1800" dirty="0"/>
          </a:p>
        </p:txBody>
      </p:sp>
      <p:sp>
        <p:nvSpPr>
          <p:cNvPr id="13" name="Text 10"/>
          <p:cNvSpPr txBox="1"/>
          <p:nvPr/>
        </p:nvSpPr>
        <p:spPr>
          <a:xfrm>
            <a:off x="7680960" y="379476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Never commit .env or show keys on screen.</a:t>
            </a:r>
            <a:endParaRPr lang="en-US" sz="1700" dirty="0"/>
          </a:p>
        </p:txBody>
      </p:sp>
      <p:sp>
        <p:nvSpPr>
          <p:cNvPr id="14" name="Shape 11"/>
          <p:cNvSpPr/>
          <p:nvPr/>
        </p:nvSpPr>
        <p:spPr>
          <a:xfrm>
            <a:off x="7498080" y="475488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92040"/>
            <a:ext cx="3776472" cy="411480"/>
          </a:xfrm>
          <a:prstGeom prst="rect">
            <a:avLst/>
          </a:prstGeom>
          <a:noFill/>
          <a:ln/>
        </p:spPr>
        <p:txBody>
          <a:bodyPr wrap="square" lIns="0" tIns="0" rIns="0" bIns="0" rtlCol="0" anchor="t"/>
          <a:lstStyle/>
          <a:p>
            <a:pPr indent="0" marL="0">
              <a:buNone/>
            </a:pPr>
            <a:r>
              <a:rPr lang="en-US" sz="1800" b="1" dirty="0">
                <a:solidFill>
                  <a:srgbClr val="B7791F"/>
                </a:solidFill>
                <a:latin typeface="Cambria" pitchFamily="34" charset="0"/>
                <a:ea typeface="Cambria" pitchFamily="34" charset="-122"/>
                <a:cs typeface="Cambria" pitchFamily="34" charset="-120"/>
              </a:rPr>
              <a:t>Set a real model name</a:t>
            </a:r>
            <a:endParaRPr lang="en-US" sz="1800" dirty="0"/>
          </a:p>
        </p:txBody>
      </p:sp>
      <p:sp>
        <p:nvSpPr>
          <p:cNvPr id="16" name="Text 13"/>
          <p:cNvSpPr txBox="1"/>
          <p:nvPr/>
        </p:nvSpPr>
        <p:spPr>
          <a:xfrm>
            <a:off x="7680960" y="534924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Default gemini-3.8-flash is not verified.</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Hands-on exercises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33</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2E7D4F"/>
                </a:solidFill>
                <a:latin typeface="Cambria" pitchFamily="34" charset="0"/>
                <a:ea typeface="Cambria" pitchFamily="34" charset="-122"/>
                <a:cs typeface="Cambria" pitchFamily="34" charset="-120"/>
              </a:rPr>
              <a:t>Beginner</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backend and frontend tests.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Rewrite the RAG prompt to demand a citation after each claim; compare answers.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B7791F"/>
                </a:solidFill>
                <a:latin typeface="Cambria" pitchFamily="34" charset="0"/>
                <a:ea typeface="Cambria" pitchFamily="34" charset="-122"/>
                <a:cs typeface="Cambria" pitchFamily="34" charset="-120"/>
              </a:rPr>
              <a:t>Intermediate</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Change CHUNK_SIZE to 400 and 2000; compare answers to the same questions.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Add a test for an unknown retriever_type.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Advanced</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Make the RED ALERT rule deterministic in Python.</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three agents in parallel.</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Return source and page with each answer.</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Check your understanding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34</a:t>
            </a:r>
            <a:endParaRPr lang="en-US" sz="1000" dirty="0"/>
          </a:p>
        </p:txBody>
      </p:sp>
      <p:sp>
        <p:nvSpPr>
          <p:cNvPr id="6" name="Text 3"/>
          <p:cNvSpPr txBox="1"/>
          <p:nvPr/>
        </p:nvSpPr>
        <p:spPr>
          <a:xfrm>
            <a:off x="548640" y="1645920"/>
            <a:ext cx="11064240" cy="438912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Why do we overlap chunks?</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What goes wrong if indexing and querying use different embedding models?</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Which retriever helps when users phrase things differently from the documents, and what does it cost?</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Which of the five tools uses a live data source?</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Why is the RED ALERT rule risky inside a prompt?</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Give two reasons this cannot be deployed publicly as-is.</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things to remember</a:t>
            </a:r>
            <a:endParaRPr lang="en-US" sz="3800" dirty="0"/>
          </a:p>
        </p:txBody>
      </p:sp>
      <p:sp>
        <p:nvSpPr>
          <p:cNvPr id="4" name="Shape 1"/>
          <p:cNvSpPr/>
          <p:nvPr/>
        </p:nvSpPr>
        <p:spPr>
          <a:xfrm>
            <a:off x="731520" y="1828800"/>
            <a:ext cx="10698480" cy="1143000"/>
          </a:xfrm>
          <a:prstGeom prst="roundRect">
            <a:avLst>
              <a:gd name="adj" fmla="val 6400"/>
            </a:avLst>
          </a:prstGeom>
          <a:solidFill>
            <a:srgbClr val="1E2F55"/>
          </a:solidFill>
          <a:ln w="12700">
            <a:solidFill>
              <a:srgbClr val="2C4175"/>
            </a:solidFill>
            <a:prstDash val="solid"/>
          </a:ln>
        </p:spPr>
      </p:sp>
      <p:sp>
        <p:nvSpPr>
          <p:cNvPr id="5" name="Text 2"/>
          <p:cNvSpPr txBox="1"/>
          <p:nvPr/>
        </p:nvSpPr>
        <p:spPr>
          <a:xfrm>
            <a:off x="1005840" y="18288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RAG</a:t>
            </a:r>
            <a:endParaRPr lang="en-US" sz="2800" dirty="0"/>
          </a:p>
        </p:txBody>
      </p:sp>
      <p:sp>
        <p:nvSpPr>
          <p:cNvPr id="6" name="Text 3"/>
          <p:cNvSpPr txBox="1"/>
          <p:nvPr/>
        </p:nvSpPr>
        <p:spPr>
          <a:xfrm>
            <a:off x="3474720" y="18288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Retrieve first, then answer only from what was retrieved.</a:t>
            </a:r>
            <a:endParaRPr lang="en-US" sz="2000" dirty="0"/>
          </a:p>
        </p:txBody>
      </p:sp>
      <p:sp>
        <p:nvSpPr>
          <p:cNvPr id="7" name="Shape 4"/>
          <p:cNvSpPr/>
          <p:nvPr/>
        </p:nvSpPr>
        <p:spPr>
          <a:xfrm>
            <a:off x="731520" y="3200400"/>
            <a:ext cx="10698480" cy="1143000"/>
          </a:xfrm>
          <a:prstGeom prst="roundRect">
            <a:avLst>
              <a:gd name="adj" fmla="val 6400"/>
            </a:avLst>
          </a:prstGeom>
          <a:solidFill>
            <a:srgbClr val="1E2F55"/>
          </a:solidFill>
          <a:ln w="12700">
            <a:solidFill>
              <a:srgbClr val="2C4175"/>
            </a:solidFill>
            <a:prstDash val="solid"/>
          </a:ln>
        </p:spPr>
      </p:sp>
      <p:sp>
        <p:nvSpPr>
          <p:cNvPr id="8" name="Text 5"/>
          <p:cNvSpPr txBox="1"/>
          <p:nvPr/>
        </p:nvSpPr>
        <p:spPr>
          <a:xfrm>
            <a:off x="1005840" y="32004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Agents</a:t>
            </a:r>
            <a:endParaRPr lang="en-US" sz="2800" dirty="0"/>
          </a:p>
        </p:txBody>
      </p:sp>
      <p:sp>
        <p:nvSpPr>
          <p:cNvPr id="9" name="Text 6"/>
          <p:cNvSpPr txBox="1"/>
          <p:nvPr/>
        </p:nvSpPr>
        <p:spPr>
          <a:xfrm>
            <a:off x="3474720" y="32004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LLM + tools + prompt. Narrow jobs, exact output formats.</a:t>
            </a:r>
            <a:endParaRPr lang="en-US" sz="2000" dirty="0"/>
          </a:p>
        </p:txBody>
      </p:sp>
      <p:sp>
        <p:nvSpPr>
          <p:cNvPr id="10" name="Shape 7"/>
          <p:cNvSpPr/>
          <p:nvPr/>
        </p:nvSpPr>
        <p:spPr>
          <a:xfrm>
            <a:off x="731520" y="4572000"/>
            <a:ext cx="10698480" cy="1143000"/>
          </a:xfrm>
          <a:prstGeom prst="roundRect">
            <a:avLst>
              <a:gd name="adj" fmla="val 6400"/>
            </a:avLst>
          </a:prstGeom>
          <a:solidFill>
            <a:srgbClr val="1E2F55"/>
          </a:solidFill>
          <a:ln w="12700">
            <a:solidFill>
              <a:srgbClr val="2C4175"/>
            </a:solidFill>
            <a:prstDash val="solid"/>
          </a:ln>
        </p:spPr>
      </p:sp>
      <p:sp>
        <p:nvSpPr>
          <p:cNvPr id="11" name="Text 8"/>
          <p:cNvSpPr txBox="1"/>
          <p:nvPr/>
        </p:nvSpPr>
        <p:spPr>
          <a:xfrm>
            <a:off x="1005840" y="45720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Honesty</a:t>
            </a:r>
            <a:endParaRPr lang="en-US" sz="2800" dirty="0"/>
          </a:p>
        </p:txBody>
      </p:sp>
      <p:sp>
        <p:nvSpPr>
          <p:cNvPr id="12" name="Text 9"/>
          <p:cNvSpPr txBox="1"/>
          <p:nvPr/>
        </p:nvSpPr>
        <p:spPr>
          <a:xfrm>
            <a:off x="3474720" y="45720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Enforce hard rules in code. Add auth, retries and tests before shipping.</a:t>
            </a:r>
            <a:endParaRPr lang="en-US" sz="2000" dirty="0"/>
          </a:p>
        </p:txBody>
      </p:sp>
      <p:sp>
        <p:nvSpPr>
          <p:cNvPr id="13" name="Text 10"/>
          <p:cNvSpPr txBox="1"/>
          <p:nvPr/>
        </p:nvSpPr>
        <p:spPr>
          <a:xfrm>
            <a:off x="731520" y="6035040"/>
            <a:ext cx="10515600" cy="365760"/>
          </a:xfrm>
          <a:prstGeom prst="rect">
            <a:avLst/>
          </a:prstGeom>
          <a:noFill/>
          <a:ln/>
        </p:spPr>
        <p:txBody>
          <a:bodyPr wrap="square" lIns="0" tIns="0" rIns="0" bIns="0" rtlCol="0" anchor="ctr"/>
          <a:lstStyle/>
          <a:p>
            <a:pPr indent="0" marL="0">
              <a:buNone/>
            </a:pPr>
            <a:r>
              <a:rPr lang="en-US" sz="1500" dirty="0">
                <a:solidFill>
                  <a:srgbClr val="A9B6D3"/>
                </a:solidFill>
                <a:latin typeface="Calibri" pitchFamily="34" charset="0"/>
                <a:ea typeface="Calibri" pitchFamily="34" charset="-122"/>
                <a:cs typeface="Calibri" pitchFamily="34" charset="-120"/>
              </a:rPr>
              <a:t>Next: README.md quick start, then pick one exercise from slide 33.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AI - Teaching Deck</dc:title>
  <dc:subject>PptxGenJS Presentation</dc:subject>
  <dc:creator>Mayank Chugh</dc:creator>
  <cp:lastModifiedBy>Mayank Chugh</cp:lastModifiedBy>
  <cp:revision>1</cp:revision>
  <dcterms:created xsi:type="dcterms:W3CDTF">2026-10-09T19:30:03Z</dcterms:created>
  <dcterms:modified xsi:type="dcterms:W3CDTF">2026-10-09T19:30:03Z</dcterms:modified>
</cp:coreProperties>
</file>